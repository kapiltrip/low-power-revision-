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1" r:id="rId1"/>
  </p:sldMasterIdLst>
  <p:notesMasterIdLst>
    <p:notesMasterId r:id="rId11"/>
  </p:notesMasterIdLst>
  <p:sldIdLst>
    <p:sldId id="256" r:id="rId2"/>
    <p:sldId id="282" r:id="rId3"/>
    <p:sldId id="391" r:id="rId4"/>
    <p:sldId id="283" r:id="rId5"/>
    <p:sldId id="385" r:id="rId6"/>
    <p:sldId id="387" r:id="rId7"/>
    <p:sldId id="386" r:id="rId8"/>
    <p:sldId id="388" r:id="rId9"/>
    <p:sldId id="39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neesh rajneesh" initials="rr" lastIdx="1" clrIdx="0">
    <p:extLst>
      <p:ext uri="{19B8F6BF-5375-455C-9EA6-DF929625EA0E}">
        <p15:presenceInfo xmlns:p15="http://schemas.microsoft.com/office/powerpoint/2012/main" userId="c4fa929643a7a2c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305" autoAdjust="0"/>
  </p:normalViewPr>
  <p:slideViewPr>
    <p:cSldViewPr snapToGrid="0">
      <p:cViewPr varScale="1">
        <p:scale>
          <a:sx n="58" d="100"/>
          <a:sy n="58" d="100"/>
        </p:scale>
        <p:origin x="154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C3E900-CDD6-400F-B8EB-080BAD321EB8}" type="datetimeFigureOut">
              <a:rPr lang="en-IN" smtClean="0"/>
              <a:t>22-04-2026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AF1C19-2E8E-40E1-B714-EEC44F16D428}" type="slidenum">
              <a:rPr lang="en-IN" smtClean="0"/>
              <a:t>‹#›</a:t>
            </a:fld>
            <a:endParaRPr lang="en-IN"/>
          </a:p>
        </p:txBody>
      </p:sp>
    </p:spTree>
    <p:extLst>
      <p:ext uri="{BB962C8B-B14F-4D97-AF65-F5344CB8AC3E}">
        <p14:creationId xmlns:p14="http://schemas.microsoft.com/office/powerpoint/2010/main" val="259613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1</a:t>
            </a:fld>
            <a:endParaRPr lang="en-IN"/>
          </a:p>
        </p:txBody>
      </p:sp>
    </p:spTree>
    <p:extLst>
      <p:ext uri="{BB962C8B-B14F-4D97-AF65-F5344CB8AC3E}">
        <p14:creationId xmlns:p14="http://schemas.microsoft.com/office/powerpoint/2010/main" val="2338556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Before start discussion on SRAM let me tell about Memory hierarchy of a modern computer system. The memory hierarchy ranges from high-performance, small sized but expensive on-chip memories to slower, large sized but affordable off-chip memories such as optical or magnetic memories, DRAM. The processor tries to keep repeatedly used data and instructions closer to itself, i.e. in the faster on-chip memory, which is referred as “cache” memory, to meet the requirements of high performance systems. The on-chip cache memories are generally called L1, L2 and even L3. The different levels of cache memories are static random access memories (SRAMs) and they dominate the memory hierarchy in performance but they are often integrated in a lesser capacity due to area limitations and the high cost per bit. </a:t>
            </a:r>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3</a:t>
            </a:fld>
            <a:endParaRPr lang="en-IN"/>
          </a:p>
        </p:txBody>
      </p:sp>
    </p:spTree>
    <p:extLst>
      <p:ext uri="{BB962C8B-B14F-4D97-AF65-F5344CB8AC3E}">
        <p14:creationId xmlns:p14="http://schemas.microsoft.com/office/powerpoint/2010/main" val="1930432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Although many SRAM core cell designs exist with different number of transistors, the standard choice is the cell with six transistors, called the 6T SRAM cell. This section gives you a brief overview of the standard 6T SRAM bit-cell and its design issues. Figure 8 shows the core 6T SRAM cell consisting of two cross-coupled inverters and therefore the two memory nodes which keep the one-bit of information, either ‘1’ or ‘0’. The internal nodes S and SB of the 6T SRAM always contain complementary values. In CMOS technology, the cross-coupled inverter pair consists of two PMOS pull-up (PU) devices PL1 and PL2 and two NMOS pull-down (PD) devices PD1, PD2. Two additional NMOS access-transistors (pass-transistors) PG1 and PG2 are required to read and write the cell in a differential way. The pass transistors PG1, Pg2 serves as switch between complementary pair of storage nodes (S and SB) and bit-lines or data-lines (BL and BLB), which are controlled by the word-line (WL). The complementary BL and BLB are used to read or write the data on S and SB nodes. </a:t>
            </a:r>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4</a:t>
            </a:fld>
            <a:endParaRPr lang="en-IN"/>
          </a:p>
        </p:txBody>
      </p:sp>
    </p:spTree>
    <p:extLst>
      <p:ext uri="{BB962C8B-B14F-4D97-AF65-F5344CB8AC3E}">
        <p14:creationId xmlns:p14="http://schemas.microsoft.com/office/powerpoint/2010/main" val="430450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three standard operations, Hold, Read and Write, are performed in 6T SRAM cell in the following ways: Consider that the initial values of internal nodes S and SB are “0” and “1”, respectively. </a:t>
            </a:r>
          </a:p>
          <a:p>
            <a:pPr marL="228600" indent="-228600">
              <a:buAutoNum type="arabicPeriod"/>
            </a:pPr>
            <a:r>
              <a:rPr lang="en-US" sz="1200" b="0" i="0" u="none" strike="noStrike" kern="1200" baseline="0" dirty="0">
                <a:solidFill>
                  <a:schemeClr val="tx1"/>
                </a:solidFill>
                <a:latin typeface="+mn-lt"/>
                <a:ea typeface="+mn-ea"/>
                <a:cs typeface="+mn-cs"/>
              </a:rPr>
              <a:t>In hold operation we don’t need the data to be write or read from the nodes. So </a:t>
            </a:r>
            <a:r>
              <a:rPr lang="en-US" dirty="0">
                <a:latin typeface="Arial" panose="020B0604020202020204" pitchFamily="34" charset="0"/>
                <a:cs typeface="Arial" panose="020B0604020202020204" pitchFamily="34" charset="0"/>
              </a:rPr>
              <a:t>The access transistors are disabled i.e. WL=0.  the information remain stored as long as </a:t>
            </a:r>
            <a:r>
              <a:rPr lang="en-US" dirty="0" err="1">
                <a:latin typeface="Arial" panose="020B0604020202020204" pitchFamily="34" charset="0"/>
                <a:cs typeface="Arial" panose="020B0604020202020204" pitchFamily="34" charset="0"/>
              </a:rPr>
              <a:t>vDD</a:t>
            </a:r>
            <a:r>
              <a:rPr lang="en-US" dirty="0">
                <a:latin typeface="Arial" panose="020B0604020202020204" pitchFamily="34" charset="0"/>
                <a:cs typeface="Arial" panose="020B0604020202020204" pitchFamily="34" charset="0"/>
              </a:rPr>
              <a:t> is ON.</a:t>
            </a:r>
          </a:p>
          <a:p>
            <a:pPr marL="228600" indent="-228600">
              <a:buAutoNum type="arabicPeriod"/>
            </a:pPr>
            <a:r>
              <a:rPr lang="en-US" dirty="0">
                <a:latin typeface="Arial" panose="020B0604020202020204" pitchFamily="34" charset="0"/>
                <a:cs typeface="Arial" panose="020B0604020202020204" pitchFamily="34" charset="0"/>
              </a:rPr>
              <a:t>Next is Read Operation: Now nodes S and SB needed to be read So both BL and BLB are pre-charged to </a:t>
            </a:r>
            <a:r>
              <a:rPr lang="en-US" dirty="0" err="1">
                <a:latin typeface="Arial" panose="020B0604020202020204" pitchFamily="34" charset="0"/>
                <a:cs typeface="Arial" panose="020B0604020202020204" pitchFamily="34" charset="0"/>
              </a:rPr>
              <a:t>Vdd</a:t>
            </a:r>
            <a:r>
              <a:rPr lang="en-US" dirty="0">
                <a:latin typeface="Arial" panose="020B0604020202020204" pitchFamily="34" charset="0"/>
                <a:cs typeface="Arial" panose="020B0604020202020204" pitchFamily="34" charset="0"/>
              </a:rPr>
              <a:t>. After that PG1 and PG2 transistors are enabled using WL. In this way S node provide conducting path for </a:t>
            </a:r>
            <a:r>
              <a:rPr lang="en-US" dirty="0" err="1">
                <a:latin typeface="Arial" panose="020B0604020202020204" pitchFamily="34" charset="0"/>
                <a:cs typeface="Arial" panose="020B0604020202020204" pitchFamily="34" charset="0"/>
              </a:rPr>
              <a:t>bitline</a:t>
            </a:r>
            <a:r>
              <a:rPr lang="en-US" dirty="0">
                <a:latin typeface="Arial" panose="020B0604020202020204" pitchFamily="34" charset="0"/>
                <a:cs typeface="Arial" panose="020B0604020202020204" pitchFamily="34" charset="0"/>
              </a:rPr>
              <a:t> BL to ground and BL discharge. On the other hand, BLB do not discharge as PD2 remain OFF. </a:t>
            </a:r>
            <a:r>
              <a:rPr lang="en-US" sz="1200" b="0" i="0" u="none" strike="noStrike" kern="1200" baseline="0" dirty="0">
                <a:solidFill>
                  <a:schemeClr val="tx1"/>
                </a:solidFill>
                <a:latin typeface="+mn-lt"/>
                <a:ea typeface="+mn-ea"/>
                <a:cs typeface="+mn-cs"/>
              </a:rPr>
              <a:t>A sense amplifier detects the decreasing voltage on one of both bit-lines and treat discharging side as ’0’ memory node and non-discharging side as 1. The sense-amplifier serves to speed-up the read process, because the bit-line then does not need to be discharged completely down to 0 V. </a:t>
            </a:r>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5</a:t>
            </a:fld>
            <a:endParaRPr lang="en-IN"/>
          </a:p>
        </p:txBody>
      </p:sp>
    </p:spTree>
    <p:extLst>
      <p:ext uri="{BB962C8B-B14F-4D97-AF65-F5344CB8AC3E}">
        <p14:creationId xmlns:p14="http://schemas.microsoft.com/office/powerpoint/2010/main" val="3400701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 the read operation S node must not flip in order to have stable read operation. In other words, we can say that s node should not flip other inverter. This would be possible PD1 is made stronger than pass transistor. In this way S node immediately transfer the charge of BL line to ground.  PD1 stronger means width of PD1 should be higher than the width of PG1. </a:t>
            </a:r>
          </a:p>
          <a:p>
            <a:endParaRPr lang="en-IN" dirty="0"/>
          </a:p>
          <a:p>
            <a:r>
              <a:rPr lang="en-IN" dirty="0"/>
              <a:t>In the timing diagram you can observe read operation more closely. Initially BL and BLB both are </a:t>
            </a:r>
            <a:r>
              <a:rPr lang="en-IN" dirty="0" err="1"/>
              <a:t>precharged</a:t>
            </a:r>
            <a:r>
              <a:rPr lang="en-IN" dirty="0"/>
              <a:t>. As soon as WL is high BL start to discharge at the same time S node charge up  (this charging of S node should not flip the inverter2).</a:t>
            </a:r>
          </a:p>
        </p:txBody>
      </p:sp>
      <p:sp>
        <p:nvSpPr>
          <p:cNvPr id="4" name="Slide Number Placeholder 3"/>
          <p:cNvSpPr>
            <a:spLocks noGrp="1"/>
          </p:cNvSpPr>
          <p:nvPr>
            <p:ph type="sldNum" sz="quarter" idx="5"/>
          </p:nvPr>
        </p:nvSpPr>
        <p:spPr/>
        <p:txBody>
          <a:bodyPr/>
          <a:lstStyle/>
          <a:p>
            <a:fld id="{FCAF1C19-2E8E-40E1-B714-EEC44F16D428}" type="slidenum">
              <a:rPr lang="en-IN" smtClean="0"/>
              <a:t>6</a:t>
            </a:fld>
            <a:endParaRPr lang="en-IN"/>
          </a:p>
        </p:txBody>
      </p:sp>
    </p:spTree>
    <p:extLst>
      <p:ext uri="{BB962C8B-B14F-4D97-AF65-F5344CB8AC3E}">
        <p14:creationId xmlns:p14="http://schemas.microsoft.com/office/powerpoint/2010/main" val="3645500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Solid line in curve represents VTC of invert1 and dotted represents VTC of inverter 2. Minimum of box 1 and 2 decide the noise margin. E.g. here box is lower than 2 so 1 is the SNM for SRAM. </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If the inverters are identical, the DC transfer curves are mirrored across the line of </a:t>
            </a:r>
            <a:r>
              <a:rPr lang="en-US" sz="1200" b="0" i="1" u="none" strike="noStrike" kern="1200" baseline="0" dirty="0">
                <a:solidFill>
                  <a:schemeClr val="tx1"/>
                </a:solidFill>
                <a:latin typeface="+mn-lt"/>
                <a:ea typeface="+mn-ea"/>
                <a:cs typeface="+mn-cs"/>
              </a:rPr>
              <a:t>V</a:t>
            </a:r>
            <a:r>
              <a:rPr lang="en-US" sz="1200" b="0" i="0" u="none" strike="noStrike" kern="1200" baseline="0" dirty="0">
                <a:solidFill>
                  <a:schemeClr val="tx1"/>
                </a:solidFill>
                <a:latin typeface="+mn-lt"/>
                <a:ea typeface="+mn-ea"/>
                <a:cs typeface="+mn-cs"/>
              </a:rPr>
              <a:t>1 = </a:t>
            </a:r>
            <a:r>
              <a:rPr lang="en-US" sz="1200" b="0" i="1" u="none" strike="noStrike" kern="1200" baseline="0" dirty="0">
                <a:solidFill>
                  <a:schemeClr val="tx1"/>
                </a:solidFill>
                <a:latin typeface="+mn-lt"/>
                <a:ea typeface="+mn-ea"/>
                <a:cs typeface="+mn-cs"/>
              </a:rPr>
              <a:t>V</a:t>
            </a:r>
            <a:r>
              <a:rPr lang="en-US" sz="1200" b="0" i="0" u="none" strike="noStrike" kern="1200" baseline="0" dirty="0">
                <a:solidFill>
                  <a:schemeClr val="tx1"/>
                </a:solidFill>
                <a:latin typeface="+mn-lt"/>
                <a:ea typeface="+mn-ea"/>
                <a:cs typeface="+mn-cs"/>
              </a:rPr>
              <a:t>2. The butterfly plot shows two stable states (with one output low and the other high) and one metastable state (with </a:t>
            </a:r>
            <a:r>
              <a:rPr lang="en-US" sz="1200" b="0" i="1" u="none" strike="noStrike" kern="1200" baseline="0" dirty="0">
                <a:solidFill>
                  <a:schemeClr val="tx1"/>
                </a:solidFill>
                <a:latin typeface="+mn-lt"/>
                <a:ea typeface="+mn-ea"/>
                <a:cs typeface="+mn-cs"/>
              </a:rPr>
              <a:t>V</a:t>
            </a:r>
            <a:r>
              <a:rPr lang="en-US" sz="1200" b="0" i="0" u="none" strike="noStrike" kern="1200" baseline="0" dirty="0">
                <a:solidFill>
                  <a:schemeClr val="tx1"/>
                </a:solidFill>
                <a:latin typeface="+mn-lt"/>
                <a:ea typeface="+mn-ea"/>
                <a:cs typeface="+mn-cs"/>
              </a:rPr>
              <a:t>1 = </a:t>
            </a:r>
            <a:r>
              <a:rPr lang="en-US" sz="1200" b="0" i="1" u="none" strike="noStrike" kern="1200" baseline="0" dirty="0">
                <a:solidFill>
                  <a:schemeClr val="tx1"/>
                </a:solidFill>
                <a:latin typeface="+mn-lt"/>
                <a:ea typeface="+mn-ea"/>
                <a:cs typeface="+mn-cs"/>
              </a:rPr>
              <a:t>V</a:t>
            </a:r>
            <a:r>
              <a:rPr lang="en-US" sz="1200" b="0" i="0" u="none" strike="noStrike" kern="1200" baseline="0" dirty="0">
                <a:solidFill>
                  <a:schemeClr val="tx1"/>
                </a:solidFill>
                <a:latin typeface="+mn-lt"/>
                <a:ea typeface="+mn-ea"/>
                <a:cs typeface="+mn-cs"/>
              </a:rPr>
              <a:t>2). Two square has been fit into the two wings. Smaller square box gives us the SNM value. A positive value of noise shifts curve I left and curve II up. This can be seen in the figure. </a:t>
            </a:r>
          </a:p>
          <a:p>
            <a:r>
              <a:rPr lang="en-US" sz="1200" b="0" i="0" u="none" strike="noStrike" kern="1200" baseline="0" dirty="0">
                <a:solidFill>
                  <a:schemeClr val="tx1"/>
                </a:solidFill>
                <a:latin typeface="+mn-lt"/>
                <a:ea typeface="+mn-ea"/>
                <a:cs typeface="+mn-cs"/>
              </a:rPr>
              <a:t>Successful data retention during read and hold operations are determined by read SNM and read hold SNM, respectively. The write trip voltage parameter is used to measure how easily data can be flipped in storage nodes. These three SRAM performance metrics are extensively utilized for performance analysis and design of 1-bit SRAM cell.</a:t>
            </a:r>
            <a:endParaRPr lang="en-IN" dirty="0"/>
          </a:p>
          <a:p>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8</a:t>
            </a:fld>
            <a:endParaRPr lang="en-IN"/>
          </a:p>
        </p:txBody>
      </p:sp>
    </p:spTree>
    <p:extLst>
      <p:ext uri="{BB962C8B-B14F-4D97-AF65-F5344CB8AC3E}">
        <p14:creationId xmlns:p14="http://schemas.microsoft.com/office/powerpoint/2010/main" val="4059383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Figure shows how SRAM cell size has scaled over five process generations. The micrographs show the diffusion and polysilicon regions. Observe the transition from the traditional cell to </a:t>
            </a:r>
            <a:r>
              <a:rPr lang="en-IN" sz="1200" b="0" i="0" u="none" strike="noStrike" kern="1200" baseline="0" dirty="0">
                <a:solidFill>
                  <a:schemeClr val="tx1"/>
                </a:solidFill>
                <a:latin typeface="+mn-lt"/>
                <a:ea typeface="+mn-ea"/>
                <a:cs typeface="+mn-cs"/>
              </a:rPr>
              <a:t>the thin cell.</a:t>
            </a:r>
          </a:p>
          <a:p>
            <a:endParaRPr lang="en-IN"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cell size has scaled well despite the growing challenges of lithography and variability. SRAM is so important that design rules are scrutinized and bent where possible to minimize cell area in commercial processes. Here, The substrate and well contacts are shared among multiple cells to save area at the expense of regularity.</a:t>
            </a:r>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9</a:t>
            </a:fld>
            <a:endParaRPr lang="en-IN"/>
          </a:p>
        </p:txBody>
      </p:sp>
    </p:spTree>
    <p:extLst>
      <p:ext uri="{BB962C8B-B14F-4D97-AF65-F5344CB8AC3E}">
        <p14:creationId xmlns:p14="http://schemas.microsoft.com/office/powerpoint/2010/main" val="645266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EA1E-98C4-4A2E-AAC3-800E357DC9FE}"/>
              </a:ext>
            </a:extLst>
          </p:cNvPr>
          <p:cNvSpPr>
            <a:spLocks noGrp="1"/>
          </p:cNvSpPr>
          <p:nvPr>
            <p:ph type="ctrTitle"/>
          </p:nvPr>
        </p:nvSpPr>
        <p:spPr>
          <a:xfrm>
            <a:off x="1517904" y="1517904"/>
            <a:ext cx="9144000" cy="2798064"/>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A96B1FA-5AE6-4D57-B37B-4AA0216007F8}"/>
              </a:ext>
            </a:extLst>
          </p:cNvPr>
          <p:cNvSpPr>
            <a:spLocks noGrp="1"/>
          </p:cNvSpPr>
          <p:nvPr>
            <p:ph type="subTitle" idx="1"/>
          </p:nvPr>
        </p:nvSpPr>
        <p:spPr>
          <a:xfrm>
            <a:off x="1517904" y="4572000"/>
            <a:ext cx="9144000" cy="1527048"/>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Slide Number Placeholder 5">
            <a:extLst>
              <a:ext uri="{FF2B5EF4-FFF2-40B4-BE49-F238E27FC236}">
                <a16:creationId xmlns:a16="http://schemas.microsoft.com/office/drawing/2014/main" id="{C36EEE61-627A-4800-A6F9-DC76A128D2E1}"/>
              </a:ext>
            </a:extLst>
          </p:cNvPr>
          <p:cNvSpPr>
            <a:spLocks noGrp="1"/>
          </p:cNvSpPr>
          <p:nvPr>
            <p:ph type="sldNum" sz="quarter" idx="12"/>
          </p:nvPr>
        </p:nvSpPr>
        <p:spPr>
          <a:xfrm>
            <a:off x="10899648" y="6400800"/>
            <a:ext cx="530352" cy="365125"/>
          </a:xfrm>
        </p:spPr>
        <p:txBody>
          <a:bodyPr/>
          <a:lstStyle/>
          <a:p>
            <a:fld id="{CB1E4CB7-CB13-4810-BF18-BE31AFC64F93}" type="slidenum">
              <a:rPr lang="en-US" smtClean="0"/>
              <a:t>‹#›</a:t>
            </a:fld>
            <a:endParaRPr lang="en-US"/>
          </a:p>
        </p:txBody>
      </p:sp>
      <p:sp>
        <p:nvSpPr>
          <p:cNvPr id="11" name="Footer Placeholder 4">
            <a:extLst>
              <a:ext uri="{FF2B5EF4-FFF2-40B4-BE49-F238E27FC236}">
                <a16:creationId xmlns:a16="http://schemas.microsoft.com/office/drawing/2014/main" id="{C4B2833B-6EF5-488C-A525-493F57EE5487}"/>
              </a:ext>
            </a:extLst>
          </p:cNvPr>
          <p:cNvSpPr>
            <a:spLocks noGrp="1"/>
          </p:cNvSpPr>
          <p:nvPr>
            <p:ph type="ftr" sz="quarter" idx="11"/>
          </p:nvPr>
        </p:nvSpPr>
        <p:spPr>
          <a:xfrm>
            <a:off x="758951" y="6400800"/>
            <a:ext cx="10140697" cy="457200"/>
          </a:xfrm>
        </p:spPr>
        <p:txBody>
          <a:bodyPr/>
          <a:lstStyle/>
          <a:p>
            <a:r>
              <a:rPr lang="en-US" sz="1200" b="1">
                <a:latin typeface="Arial" panose="020B0604020202020204" pitchFamily="34" charset="0"/>
                <a:cs typeface="Arial" panose="020B0604020202020204" pitchFamily="34" charset="0"/>
              </a:rPr>
              <a:t>Rajneesh Sharma                                                         Memory Design and Testing (PVL331)</a:t>
            </a:r>
            <a:endParaRPr 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1951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5BB2-C09C-49B0-BAFA-DE1801CD3E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A47C21-944D-47FE-9519-A25518837115}"/>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6905C53-CF7C-4936-9E35-1BEBD683626E}"/>
              </a:ext>
            </a:extLst>
          </p:cNvPr>
          <p:cNvSpPr>
            <a:spLocks noGrp="1"/>
          </p:cNvSpPr>
          <p:nvPr>
            <p:ph type="sldNum" sz="quarter" idx="12"/>
          </p:nvPr>
        </p:nvSpPr>
        <p:spPr/>
        <p:txBody>
          <a:bodyPr/>
          <a:lstStyle/>
          <a:p>
            <a:fld id="{CB1E4CB7-CB13-4810-BF18-BE31AFC64F93}" type="slidenum">
              <a:rPr lang="en-US" smtClean="0"/>
              <a:t>‹#›</a:t>
            </a:fld>
            <a:endParaRPr lang="en-US"/>
          </a:p>
        </p:txBody>
      </p:sp>
      <p:sp>
        <p:nvSpPr>
          <p:cNvPr id="7" name="Footer Placeholder 4">
            <a:extLst>
              <a:ext uri="{FF2B5EF4-FFF2-40B4-BE49-F238E27FC236}">
                <a16:creationId xmlns:a16="http://schemas.microsoft.com/office/drawing/2014/main" id="{EA4A601F-F1CA-49DD-89C0-A7A6C9092D7E}"/>
              </a:ext>
            </a:extLst>
          </p:cNvPr>
          <p:cNvSpPr>
            <a:spLocks noGrp="1"/>
          </p:cNvSpPr>
          <p:nvPr>
            <p:ph type="ftr" sz="quarter" idx="11"/>
          </p:nvPr>
        </p:nvSpPr>
        <p:spPr>
          <a:xfrm>
            <a:off x="758951" y="6400800"/>
            <a:ext cx="10140697" cy="457200"/>
          </a:xfrm>
        </p:spPr>
        <p:txBody>
          <a:bodyPr/>
          <a:lstStyle/>
          <a:p>
            <a:r>
              <a:rPr lang="en-US" sz="1200" b="1">
                <a:latin typeface="Arial" panose="020B0604020202020204" pitchFamily="34" charset="0"/>
                <a:cs typeface="Arial" panose="020B0604020202020204" pitchFamily="34" charset="0"/>
              </a:rPr>
              <a:t>Rajneesh Sharma                                                         Memory Design and Testing (PVL331)</a:t>
            </a:r>
            <a:endParaRPr 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6903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46C78-A717-4E1F-A742-FD5AECA03B4B}"/>
              </a:ext>
            </a:extLst>
          </p:cNvPr>
          <p:cNvSpPr>
            <a:spLocks noGrp="1"/>
          </p:cNvSpPr>
          <p:nvPr>
            <p:ph type="title"/>
          </p:nvPr>
        </p:nvSpPr>
        <p:spPr>
          <a:xfrm>
            <a:off x="1517904" y="1517904"/>
            <a:ext cx="9144000"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DA1270D-CCAE-4437-A0C0-052D111DFC80}"/>
              </a:ext>
            </a:extLst>
          </p:cNvPr>
          <p:cNvSpPr>
            <a:spLocks noGrp="1"/>
          </p:cNvSpPr>
          <p:nvPr>
            <p:ph type="body" idx="1"/>
          </p:nvPr>
        </p:nvSpPr>
        <p:spPr>
          <a:xfrm>
            <a:off x="1517904" y="4572000"/>
            <a:ext cx="91440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737767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446AA-9418-4C3E-901B-8E2806122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997482-2CA6-4707-976E-6FD4B57BFE66}"/>
              </a:ext>
            </a:extLst>
          </p:cNvPr>
          <p:cNvSpPr>
            <a:spLocks noGrp="1"/>
          </p:cNvSpPr>
          <p:nvPr>
            <p:ph sz="half" idx="1"/>
          </p:nvPr>
        </p:nvSpPr>
        <p:spPr>
          <a:xfrm>
            <a:off x="1517904"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909652-DD12-479C-B639-9452CBA8C019}"/>
              </a:ext>
            </a:extLst>
          </p:cNvPr>
          <p:cNvSpPr>
            <a:spLocks noGrp="1"/>
          </p:cNvSpPr>
          <p:nvPr>
            <p:ph sz="half" idx="2"/>
          </p:nvPr>
        </p:nvSpPr>
        <p:spPr>
          <a:xfrm>
            <a:off x="6336792"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EC7A6-AFB1-4989-A0B4-B422D5B2C69C}"/>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F8D2117C-B497-4647-A66B-1887750FB538}"/>
              </a:ext>
            </a:extLst>
          </p:cNvPr>
          <p:cNvSpPr>
            <a:spLocks noGrp="1"/>
          </p:cNvSpPr>
          <p:nvPr>
            <p:ph type="ftr" sz="quarter" idx="11"/>
          </p:nvPr>
        </p:nvSpPr>
        <p:spPr/>
        <p:txBody>
          <a:bodyPr/>
          <a:lstStyle/>
          <a:p>
            <a:r>
              <a:rPr lang="en-US"/>
              <a:t>Rajneesh Sharma                                                         Memory Design and Testing (PVL331)</a:t>
            </a:r>
            <a:endParaRPr lang="en-US" dirty="0"/>
          </a:p>
        </p:txBody>
      </p:sp>
      <p:sp>
        <p:nvSpPr>
          <p:cNvPr id="7" name="Slide Number Placeholder 6">
            <a:extLst>
              <a:ext uri="{FF2B5EF4-FFF2-40B4-BE49-F238E27FC236}">
                <a16:creationId xmlns:a16="http://schemas.microsoft.com/office/drawing/2014/main" id="{79E8C7AF-5092-416B-B61C-F41D3C573E0C}"/>
              </a:ext>
            </a:extLst>
          </p:cNvPr>
          <p:cNvSpPr>
            <a:spLocks noGrp="1"/>
          </p:cNvSpPr>
          <p:nvPr>
            <p:ph type="sldNum" sz="quarter" idx="12"/>
          </p:nvPr>
        </p:nvSpPr>
        <p:spPr/>
        <p:txBody>
          <a:bodyPr/>
          <a:lstStyle/>
          <a:p>
            <a:fld id="{CB1E4CB7-CB13-4810-BF18-BE31AFC64F93}" type="slidenum">
              <a:rPr lang="en-US" smtClean="0"/>
              <a:t>‹#›</a:t>
            </a:fld>
            <a:endParaRPr lang="en-US" dirty="0"/>
          </a:p>
        </p:txBody>
      </p:sp>
    </p:spTree>
    <p:extLst>
      <p:ext uri="{BB962C8B-B14F-4D97-AF65-F5344CB8AC3E}">
        <p14:creationId xmlns:p14="http://schemas.microsoft.com/office/powerpoint/2010/main" val="4087415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90CDE0-3FEB-42A0-8BCC-7DADE7D4A621}"/>
              </a:ext>
            </a:extLst>
          </p:cNvPr>
          <p:cNvSpPr>
            <a:spLocks noGrp="1"/>
          </p:cNvSpPr>
          <p:nvPr>
            <p:ph type="body" idx="1"/>
          </p:nvPr>
        </p:nvSpPr>
        <p:spPr>
          <a:xfrm>
            <a:off x="1517905"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778B8B-E9A3-44BE-85A6-3E316659A9B4}"/>
              </a:ext>
            </a:extLst>
          </p:cNvPr>
          <p:cNvSpPr>
            <a:spLocks noGrp="1"/>
          </p:cNvSpPr>
          <p:nvPr>
            <p:ph sz="half" idx="2"/>
          </p:nvPr>
        </p:nvSpPr>
        <p:spPr>
          <a:xfrm>
            <a:off x="1517904"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0BF1BCA-A435-4779-A6FE-15207141F519}"/>
              </a:ext>
            </a:extLst>
          </p:cNvPr>
          <p:cNvSpPr>
            <a:spLocks noGrp="1"/>
          </p:cNvSpPr>
          <p:nvPr>
            <p:ph type="body" sz="quarter" idx="3"/>
          </p:nvPr>
        </p:nvSpPr>
        <p:spPr>
          <a:xfrm>
            <a:off x="6336792"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9B1923-9749-49E3-88FA-75C326E6719A}"/>
              </a:ext>
            </a:extLst>
          </p:cNvPr>
          <p:cNvSpPr>
            <a:spLocks noGrp="1"/>
          </p:cNvSpPr>
          <p:nvPr>
            <p:ph sz="quarter" idx="4"/>
          </p:nvPr>
        </p:nvSpPr>
        <p:spPr>
          <a:xfrm>
            <a:off x="6336792"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F3A70F0-5AFA-4C5A-812B-220C6A38DB6B}"/>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76AF721-83FE-4B57-B910-C395D23FDE31}"/>
              </a:ext>
            </a:extLst>
          </p:cNvPr>
          <p:cNvSpPr>
            <a:spLocks noGrp="1"/>
          </p:cNvSpPr>
          <p:nvPr>
            <p:ph type="ftr" sz="quarter" idx="11"/>
          </p:nvPr>
        </p:nvSpPr>
        <p:spPr/>
        <p:txBody>
          <a:bodyPr/>
          <a:lstStyle/>
          <a:p>
            <a:r>
              <a:rPr lang="en-US"/>
              <a:t>Rajneesh Sharma                                                         Memory Design and Testing (PVL331)</a:t>
            </a:r>
          </a:p>
        </p:txBody>
      </p:sp>
      <p:sp>
        <p:nvSpPr>
          <p:cNvPr id="9" name="Slide Number Placeholder 8">
            <a:extLst>
              <a:ext uri="{FF2B5EF4-FFF2-40B4-BE49-F238E27FC236}">
                <a16:creationId xmlns:a16="http://schemas.microsoft.com/office/drawing/2014/main" id="{556A5893-52F1-44A1-AE8E-CF094DB41CFA}"/>
              </a:ext>
            </a:extLst>
          </p:cNvPr>
          <p:cNvSpPr>
            <a:spLocks noGrp="1"/>
          </p:cNvSpPr>
          <p:nvPr>
            <p:ph type="sldNum" sz="quarter" idx="12"/>
          </p:nvPr>
        </p:nvSpPr>
        <p:spPr/>
        <p:txBody>
          <a:bodyPr/>
          <a:lstStyle/>
          <a:p>
            <a:fld id="{CB1E4CB7-CB13-4810-BF18-BE31AFC64F93}" type="slidenum">
              <a:rPr lang="en-US" smtClean="0"/>
              <a:t>‹#›</a:t>
            </a:fld>
            <a:endParaRPr lang="en-US"/>
          </a:p>
        </p:txBody>
      </p:sp>
      <p:sp>
        <p:nvSpPr>
          <p:cNvPr id="10" name="Title 9">
            <a:extLst>
              <a:ext uri="{FF2B5EF4-FFF2-40B4-BE49-F238E27FC236}">
                <a16:creationId xmlns:a16="http://schemas.microsoft.com/office/drawing/2014/main" id="{D9D22302-83E3-4E22-93DF-1E5D463B64C3}"/>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47394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85A6-A4E6-4160-BE43-8146A9894647}"/>
              </a:ext>
            </a:extLst>
          </p:cNvPr>
          <p:cNvSpPr>
            <a:spLocks noGrp="1"/>
          </p:cNvSpPr>
          <p:nvPr>
            <p:ph type="title"/>
          </p:nvPr>
        </p:nvSpPr>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0950BEA6-5E96-4AE9-8D7C-767B14698110}"/>
              </a:ext>
            </a:extLst>
          </p:cNvPr>
          <p:cNvSpPr>
            <a:spLocks noGrp="1"/>
          </p:cNvSpPr>
          <p:nvPr>
            <p:ph type="sldNum" sz="quarter" idx="12"/>
          </p:nvPr>
        </p:nvSpPr>
        <p:spPr>
          <a:xfrm>
            <a:off x="10899648" y="6400800"/>
            <a:ext cx="530352" cy="365125"/>
          </a:xfrm>
        </p:spPr>
        <p:txBody>
          <a:bodyPr/>
          <a:lstStyle/>
          <a:p>
            <a:fld id="{CB1E4CB7-CB13-4810-BF18-BE31AFC64F93}" type="slidenum">
              <a:rPr lang="en-US" smtClean="0"/>
              <a:t>‹#›</a:t>
            </a:fld>
            <a:endParaRPr lang="en-US"/>
          </a:p>
        </p:txBody>
      </p:sp>
      <p:sp>
        <p:nvSpPr>
          <p:cNvPr id="7" name="Footer Placeholder 4">
            <a:extLst>
              <a:ext uri="{FF2B5EF4-FFF2-40B4-BE49-F238E27FC236}">
                <a16:creationId xmlns:a16="http://schemas.microsoft.com/office/drawing/2014/main" id="{7F4CD5B1-D7F0-46EF-A288-E45E176AF265}"/>
              </a:ext>
            </a:extLst>
          </p:cNvPr>
          <p:cNvSpPr>
            <a:spLocks noGrp="1"/>
          </p:cNvSpPr>
          <p:nvPr>
            <p:ph type="ftr" sz="quarter" idx="11"/>
          </p:nvPr>
        </p:nvSpPr>
        <p:spPr>
          <a:xfrm>
            <a:off x="758951" y="6400800"/>
            <a:ext cx="10140697" cy="457200"/>
          </a:xfrm>
        </p:spPr>
        <p:txBody>
          <a:bodyPr/>
          <a:lstStyle/>
          <a:p>
            <a:r>
              <a:rPr lang="en-US" sz="1200" b="1">
                <a:latin typeface="Arial" panose="020B0604020202020204" pitchFamily="34" charset="0"/>
                <a:cs typeface="Arial" panose="020B0604020202020204" pitchFamily="34" charset="0"/>
              </a:rPr>
              <a:t>Rajneesh Sharma                                                         Memory Design and Testing (PVL331)</a:t>
            </a:r>
            <a:endParaRPr 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5983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p>
            <a:r>
              <a:rPr lang="en-US"/>
              <a:t>Rajneesh Sharma                                                         Memory Design and Testing (PVL331)</a:t>
            </a:r>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474316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F683-796D-458C-9B32-A385D604DBFC}"/>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FB1F0BD-641B-4148-BCB3-2704218C80B8}"/>
              </a:ext>
            </a:extLst>
          </p:cNvPr>
          <p:cNvSpPr>
            <a:spLocks noGrp="1"/>
          </p:cNvSpPr>
          <p:nvPr>
            <p:ph idx="1"/>
          </p:nvPr>
        </p:nvSpPr>
        <p:spPr>
          <a:xfrm>
            <a:off x="5330952" y="1517904"/>
            <a:ext cx="5330952" cy="45811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B28C843-B846-4456-9720-71B7D4FF4062}"/>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A3A03-31BD-4E7E-879A-A1C71849703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EA39078-7D38-4851-A363-B6BC179A50EE}"/>
              </a:ext>
            </a:extLst>
          </p:cNvPr>
          <p:cNvSpPr>
            <a:spLocks noGrp="1"/>
          </p:cNvSpPr>
          <p:nvPr>
            <p:ph type="ftr" sz="quarter" idx="11"/>
          </p:nvPr>
        </p:nvSpPr>
        <p:spPr/>
        <p:txBody>
          <a:bodyPr/>
          <a:lstStyle/>
          <a:p>
            <a:r>
              <a:rPr lang="en-US"/>
              <a:t>Rajneesh Sharma                                                         Memory Design and Testing (PVL331)</a:t>
            </a:r>
          </a:p>
        </p:txBody>
      </p:sp>
      <p:sp>
        <p:nvSpPr>
          <p:cNvPr id="7" name="Slide Number Placeholder 6">
            <a:extLst>
              <a:ext uri="{FF2B5EF4-FFF2-40B4-BE49-F238E27FC236}">
                <a16:creationId xmlns:a16="http://schemas.microsoft.com/office/drawing/2014/main" id="{4E1FF25E-A25D-47AA-94EB-580A74F01F1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682866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E83B4-9B31-4F73-9767-163636522F3A}"/>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C7CFC30-8163-47A0-A97F-3F2C3A3BE73A}"/>
              </a:ext>
            </a:extLst>
          </p:cNvPr>
          <p:cNvSpPr>
            <a:spLocks noGrp="1"/>
          </p:cNvSpPr>
          <p:nvPr>
            <p:ph type="pic" idx="1"/>
          </p:nvPr>
        </p:nvSpPr>
        <p:spPr>
          <a:xfrm>
            <a:off x="5349240" y="764032"/>
            <a:ext cx="6089904" cy="5330952"/>
          </a:xfrm>
          <a:solidFill>
            <a:schemeClr val="bg1">
              <a:lumMod val="9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AF1B390-0C23-466E-987C-26420A5F098D}"/>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C9CA7C-B9D0-4A72-8061-1E02AA15FE8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53EFC84-C9FE-4BFA-9B4E-4516A1362550}"/>
              </a:ext>
            </a:extLst>
          </p:cNvPr>
          <p:cNvSpPr>
            <a:spLocks noGrp="1"/>
          </p:cNvSpPr>
          <p:nvPr>
            <p:ph type="ftr" sz="quarter" idx="11"/>
          </p:nvPr>
        </p:nvSpPr>
        <p:spPr/>
        <p:txBody>
          <a:bodyPr/>
          <a:lstStyle/>
          <a:p>
            <a:r>
              <a:rPr lang="en-US"/>
              <a:t>Rajneesh Sharma                                                         Memory Design and Testing (PVL331)</a:t>
            </a:r>
          </a:p>
        </p:txBody>
      </p:sp>
      <p:sp>
        <p:nvSpPr>
          <p:cNvPr id="7" name="Slide Number Placeholder 6">
            <a:extLst>
              <a:ext uri="{FF2B5EF4-FFF2-40B4-BE49-F238E27FC236}">
                <a16:creationId xmlns:a16="http://schemas.microsoft.com/office/drawing/2014/main" id="{C801A469-3EFC-4F94-8482-378582E1C14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250510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9454-6F74-46A8-B299-4AF451BFB928}"/>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6F55CA9-A0BD-4609-9307-BAF987B262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25E4293-851E-4FA2-BFF2-B646A42369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9A907F5-F26D-4A91-8D70-AB54F8B43D3F}"/>
              </a:ext>
            </a:extLst>
          </p:cNvPr>
          <p:cNvSpPr>
            <a:spLocks noGrp="1"/>
          </p:cNvSpPr>
          <p:nvPr>
            <p:ph type="ftr" sz="quarter" idx="11"/>
          </p:nvPr>
        </p:nvSpPr>
        <p:spPr/>
        <p:txBody>
          <a:bodyPr/>
          <a:lstStyle/>
          <a:p>
            <a:r>
              <a:rPr lang="en-US"/>
              <a:t>Rajneesh Sharma                                                         Memory Design and Testing (PVL331)</a:t>
            </a:r>
          </a:p>
        </p:txBody>
      </p:sp>
      <p:sp>
        <p:nvSpPr>
          <p:cNvPr id="6" name="Slide Number Placeholder 5">
            <a:extLst>
              <a:ext uri="{FF2B5EF4-FFF2-40B4-BE49-F238E27FC236}">
                <a16:creationId xmlns:a16="http://schemas.microsoft.com/office/drawing/2014/main" id="{778ACBD8-D942-449E-A2B8-358CD1365C0A}"/>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022952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A50897-0C2E-420B-9A38-A8D5C1D72786}"/>
              </a:ext>
            </a:extLst>
          </p:cNvPr>
          <p:cNvSpPr>
            <a:spLocks noGrp="1"/>
          </p:cNvSpPr>
          <p:nvPr>
            <p:ph type="title" orient="vert"/>
          </p:nvPr>
        </p:nvSpPr>
        <p:spPr>
          <a:xfrm>
            <a:off x="8450317" y="1517904"/>
            <a:ext cx="2220731" cy="454678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EDB2173-32A5-4677-A08F-DAB8FD430D1A}"/>
              </a:ext>
            </a:extLst>
          </p:cNvPr>
          <p:cNvSpPr>
            <a:spLocks noGrp="1"/>
          </p:cNvSpPr>
          <p:nvPr>
            <p:ph type="body" orient="vert" idx="1"/>
          </p:nvPr>
        </p:nvSpPr>
        <p:spPr>
          <a:xfrm>
            <a:off x="1517904" y="1517904"/>
            <a:ext cx="6562553" cy="45467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3DB124D-B801-4A6A-9DAF-EBC1B98FE4F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DAF8DF-2544-45A5-B62B-BB7948FCCA45}"/>
              </a:ext>
            </a:extLst>
          </p:cNvPr>
          <p:cNvSpPr>
            <a:spLocks noGrp="1"/>
          </p:cNvSpPr>
          <p:nvPr>
            <p:ph type="ftr" sz="quarter" idx="11"/>
          </p:nvPr>
        </p:nvSpPr>
        <p:spPr/>
        <p:txBody>
          <a:bodyPr/>
          <a:lstStyle/>
          <a:p>
            <a:r>
              <a:rPr lang="en-US"/>
              <a:t>Rajneesh Sharma                                                         Memory Design and Testing (PVL331)</a:t>
            </a:r>
          </a:p>
        </p:txBody>
      </p:sp>
      <p:sp>
        <p:nvSpPr>
          <p:cNvPr id="6" name="Slide Number Placeholder 5">
            <a:extLst>
              <a:ext uri="{FF2B5EF4-FFF2-40B4-BE49-F238E27FC236}">
                <a16:creationId xmlns:a16="http://schemas.microsoft.com/office/drawing/2014/main" id="{04AC232D-131E-4BE6-8E2E-BAF5A30846D6}"/>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63810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B1D84C-7934-4E5B-B6E4-A1D6EC299551}"/>
              </a:ext>
            </a:extLst>
          </p:cNvPr>
          <p:cNvSpPr>
            <a:spLocks noGrp="1"/>
          </p:cNvSpPr>
          <p:nvPr>
            <p:ph type="title"/>
          </p:nvPr>
        </p:nvSpPr>
        <p:spPr>
          <a:xfrm>
            <a:off x="1517904" y="1517904"/>
            <a:ext cx="9144000" cy="13441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F6A990F-40AC-447A-964A-840C94A6471A}"/>
              </a:ext>
            </a:extLst>
          </p:cNvPr>
          <p:cNvSpPr>
            <a:spLocks noGrp="1"/>
          </p:cNvSpPr>
          <p:nvPr>
            <p:ph type="body" idx="1"/>
          </p:nvPr>
        </p:nvSpPr>
        <p:spPr>
          <a:xfrm>
            <a:off x="1517904" y="2971800"/>
            <a:ext cx="9144000" cy="31272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D832A1-FFBA-48B6-B2D0-E5414F12838B}"/>
              </a:ext>
            </a:extLst>
          </p:cNvPr>
          <p:cNvSpPr>
            <a:spLocks noGrp="1"/>
          </p:cNvSpPr>
          <p:nvPr>
            <p:ph type="dt" sz="half" idx="2"/>
          </p:nvPr>
        </p:nvSpPr>
        <p:spPr>
          <a:xfrm>
            <a:off x="8805672" y="6400800"/>
            <a:ext cx="1865376" cy="365125"/>
          </a:xfrm>
          <a:prstGeom prst="rect">
            <a:avLst/>
          </a:prstGeom>
        </p:spPr>
        <p:txBody>
          <a:bodyPr vert="horz" lIns="91440" tIns="45720" rIns="91440" bIns="45720" rtlCol="0" anchor="ctr"/>
          <a:lstStyle>
            <a:lvl1pPr algn="r">
              <a:defRPr sz="1000">
                <a:solidFill>
                  <a:schemeClr val="tx1"/>
                </a:solidFill>
              </a:defRPr>
            </a:lvl1pPr>
          </a:lstStyle>
          <a:p>
            <a:pPr algn="r"/>
            <a:endParaRPr lang="en-US" dirty="0"/>
          </a:p>
        </p:txBody>
      </p:sp>
      <p:sp>
        <p:nvSpPr>
          <p:cNvPr id="5" name="Footer Placeholder 4">
            <a:extLst>
              <a:ext uri="{FF2B5EF4-FFF2-40B4-BE49-F238E27FC236}">
                <a16:creationId xmlns:a16="http://schemas.microsoft.com/office/drawing/2014/main" id="{0F933EC1-4EE2-4453-841C-CFDFE708948E}"/>
              </a:ext>
            </a:extLst>
          </p:cNvPr>
          <p:cNvSpPr>
            <a:spLocks noGrp="1"/>
          </p:cNvSpPr>
          <p:nvPr>
            <p:ph type="ftr" sz="quarter" idx="3"/>
          </p:nvPr>
        </p:nvSpPr>
        <p:spPr>
          <a:xfrm>
            <a:off x="758952" y="6400800"/>
            <a:ext cx="6099048" cy="365125"/>
          </a:xfrm>
          <a:prstGeom prst="rect">
            <a:avLst/>
          </a:prstGeom>
        </p:spPr>
        <p:txBody>
          <a:bodyPr vert="horz" lIns="91440" tIns="45720" rIns="91440" bIns="45720" rtlCol="0" anchor="ctr"/>
          <a:lstStyle>
            <a:lvl1pPr algn="l">
              <a:defRPr sz="1000">
                <a:solidFill>
                  <a:schemeClr val="tx1"/>
                </a:solidFill>
              </a:defRPr>
            </a:lvl1pPr>
          </a:lstStyle>
          <a:p>
            <a:r>
              <a:rPr lang="en-US" sz="1000"/>
              <a:t>Rajneesh Sharma                                                         Memory Design and Testing (PVL331)</a:t>
            </a:r>
            <a:endParaRPr lang="en-US" sz="1000" dirty="0"/>
          </a:p>
        </p:txBody>
      </p:sp>
      <p:sp>
        <p:nvSpPr>
          <p:cNvPr id="6" name="Slide Number Placeholder 5">
            <a:extLst>
              <a:ext uri="{FF2B5EF4-FFF2-40B4-BE49-F238E27FC236}">
                <a16:creationId xmlns:a16="http://schemas.microsoft.com/office/drawing/2014/main" id="{C3CEBA78-E732-44EF-BA0B-FC42F7931311}"/>
              </a:ext>
            </a:extLst>
          </p:cNvPr>
          <p:cNvSpPr>
            <a:spLocks noGrp="1"/>
          </p:cNvSpPr>
          <p:nvPr>
            <p:ph type="sldNum" sz="quarter" idx="4"/>
          </p:nvPr>
        </p:nvSpPr>
        <p:spPr>
          <a:xfrm>
            <a:off x="10899648" y="6400800"/>
            <a:ext cx="530352" cy="365125"/>
          </a:xfrm>
          <a:prstGeom prst="rect">
            <a:avLst/>
          </a:prstGeom>
        </p:spPr>
        <p:txBody>
          <a:bodyPr vert="horz" lIns="91440" tIns="45720" rIns="91440" bIns="45720" rtlCol="0" anchor="ctr"/>
          <a:lstStyle>
            <a:lvl1pPr algn="r">
              <a:defRPr sz="1000" b="1">
                <a:solidFill>
                  <a:schemeClr val="tx1"/>
                </a:solidFill>
              </a:defRPr>
            </a:lvl1pPr>
          </a:lstStyle>
          <a:p>
            <a:fld id="{CB1E4CB7-CB13-4810-BF18-BE31AFC64F93}" type="slidenum">
              <a:rPr lang="en-US" smtClean="0"/>
              <a:pPr/>
              <a:t>‹#›</a:t>
            </a:fld>
            <a:endParaRPr lang="en-US" sz="1000" dirty="0"/>
          </a:p>
        </p:txBody>
      </p:sp>
      <p:sp>
        <p:nvSpPr>
          <p:cNvPr id="8" name="Freeform: Shape 7">
            <a:extLst>
              <a:ext uri="{FF2B5EF4-FFF2-40B4-BE49-F238E27FC236}">
                <a16:creationId xmlns:a16="http://schemas.microsoft.com/office/drawing/2014/main" id="{49306479-8C4D-4E4A-A330-DFC80A8A01BE}"/>
              </a:ext>
            </a:extLst>
          </p:cNvPr>
          <p:cNvSpPr/>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85205217"/>
      </p:ext>
    </p:extLst>
  </p:cSld>
  <p:clrMap bg1="lt1" tx1="dk1" bg2="lt2" tx2="dk2" accent1="accent1" accent2="accent2" accent3="accent3" accent4="accent4" accent5="accent5" accent6="accent6" hlink="hlink" folHlink="folHlink"/>
  <p:sldLayoutIdLst>
    <p:sldLayoutId id="2147483814" r:id="rId1"/>
    <p:sldLayoutId id="2147483813" r:id="rId2"/>
    <p:sldLayoutId id="214748381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Lst>
  <p:hf hdr="0" ftr="0" dt="0"/>
  <p:txStyles>
    <p:title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p:titleStyle>
    <p:body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w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45BA4C-9B54-4496-821F-9E0985CA984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734260-EF36-4EEA-8A9E-0C9A537523A8}"/>
              </a:ext>
            </a:extLst>
          </p:cNvPr>
          <p:cNvSpPr>
            <a:spLocks noGrp="1"/>
          </p:cNvSpPr>
          <p:nvPr>
            <p:ph type="ctrTitle"/>
          </p:nvPr>
        </p:nvSpPr>
        <p:spPr>
          <a:xfrm>
            <a:off x="762000" y="743804"/>
            <a:ext cx="4102609" cy="3793482"/>
          </a:xfrm>
        </p:spPr>
        <p:txBody>
          <a:bodyPr anchor="ctr">
            <a:normAutofit/>
          </a:bodyPr>
          <a:lstStyle/>
          <a:p>
            <a:pPr algn="l"/>
            <a:r>
              <a:rPr lang="en-IN" sz="5600"/>
              <a:t>Memory Design and Testing </a:t>
            </a:r>
            <a:br>
              <a:rPr lang="en-IN" sz="5600"/>
            </a:br>
            <a:r>
              <a:rPr lang="en-IN" sz="5600"/>
              <a:t>(PVL 331)</a:t>
            </a:r>
          </a:p>
        </p:txBody>
      </p:sp>
      <p:sp>
        <p:nvSpPr>
          <p:cNvPr id="3" name="Subtitle 2">
            <a:extLst>
              <a:ext uri="{FF2B5EF4-FFF2-40B4-BE49-F238E27FC236}">
                <a16:creationId xmlns:a16="http://schemas.microsoft.com/office/drawing/2014/main" id="{A50A5E8A-BE21-478D-9022-4FEA944E5502}"/>
              </a:ext>
            </a:extLst>
          </p:cNvPr>
          <p:cNvSpPr>
            <a:spLocks noGrp="1"/>
          </p:cNvSpPr>
          <p:nvPr>
            <p:ph type="subTitle" idx="1"/>
          </p:nvPr>
        </p:nvSpPr>
        <p:spPr>
          <a:xfrm>
            <a:off x="762000" y="4691564"/>
            <a:ext cx="4102609" cy="1422631"/>
          </a:xfrm>
        </p:spPr>
        <p:txBody>
          <a:bodyPr>
            <a:normAutofit/>
          </a:bodyPr>
          <a:lstStyle/>
          <a:p>
            <a:pPr algn="l">
              <a:lnSpc>
                <a:spcPct val="95000"/>
              </a:lnSpc>
            </a:pPr>
            <a:r>
              <a:rPr lang="en-IN" sz="1900" dirty="0" err="1"/>
              <a:t>Dr.</a:t>
            </a:r>
            <a:r>
              <a:rPr lang="en-IN" sz="1900" dirty="0"/>
              <a:t> Rajneesh Sharma </a:t>
            </a:r>
          </a:p>
          <a:p>
            <a:pPr algn="l">
              <a:lnSpc>
                <a:spcPct val="95000"/>
              </a:lnSpc>
            </a:pPr>
            <a:r>
              <a:rPr lang="en-IN" sz="1900" dirty="0"/>
              <a:t>Assistant Professor </a:t>
            </a:r>
          </a:p>
          <a:p>
            <a:pPr algn="l">
              <a:lnSpc>
                <a:spcPct val="95000"/>
              </a:lnSpc>
            </a:pPr>
            <a:r>
              <a:rPr lang="en-IN" sz="1900" dirty="0"/>
              <a:t>Thapar Institute of Engineering &amp; Technology, </a:t>
            </a:r>
            <a:r>
              <a:rPr lang="en-IN" sz="1900"/>
              <a:t>Patiala </a:t>
            </a:r>
            <a:endParaRPr lang="en-IN" sz="1900" dirty="0"/>
          </a:p>
        </p:txBody>
      </p:sp>
      <p:pic>
        <p:nvPicPr>
          <p:cNvPr id="4" name="Picture 3" descr="CPU with binary numbers and blueprint">
            <a:extLst>
              <a:ext uri="{FF2B5EF4-FFF2-40B4-BE49-F238E27FC236}">
                <a16:creationId xmlns:a16="http://schemas.microsoft.com/office/drawing/2014/main" id="{629F7A6B-9A43-49C2-9640-1ACC3E046B0A}"/>
              </a:ext>
            </a:extLst>
          </p:cNvPr>
          <p:cNvPicPr>
            <a:picLocks noChangeAspect="1"/>
          </p:cNvPicPr>
          <p:nvPr/>
        </p:nvPicPr>
        <p:blipFill rotWithShape="1">
          <a:blip r:embed="rId3"/>
          <a:srcRect l="24888" r="18987"/>
          <a:stretch/>
        </p:blipFill>
        <p:spPr>
          <a:xfrm>
            <a:off x="5349241" y="10"/>
            <a:ext cx="6842759" cy="6857990"/>
          </a:xfrm>
          <a:prstGeom prst="rect">
            <a:avLst/>
          </a:prstGeom>
        </p:spPr>
      </p:pic>
    </p:spTree>
    <p:extLst>
      <p:ext uri="{BB962C8B-B14F-4D97-AF65-F5344CB8AC3E}">
        <p14:creationId xmlns:p14="http://schemas.microsoft.com/office/powerpoint/2010/main" val="7490103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42EC30B-5C82-4894-8C0D-2E669DC2D10C}"/>
              </a:ext>
            </a:extLst>
          </p:cNvPr>
          <p:cNvSpPr>
            <a:spLocks noGrp="1"/>
          </p:cNvSpPr>
          <p:nvPr>
            <p:ph idx="1"/>
          </p:nvPr>
        </p:nvSpPr>
        <p:spPr>
          <a:xfrm>
            <a:off x="640080" y="1595120"/>
            <a:ext cx="9899904" cy="4598417"/>
          </a:xfrm>
        </p:spPr>
        <p:txBody>
          <a:bodyPr>
            <a:normAutofit/>
          </a:bodyPr>
          <a:lstStyle/>
          <a:p>
            <a:pPr algn="just">
              <a:lnSpc>
                <a:spcPct val="150000"/>
              </a:lnSpc>
              <a:buClr>
                <a:srgbClr val="002060"/>
              </a:buClr>
              <a:buSzPct val="175000"/>
              <a:buFont typeface="Arial" panose="020B0604020202020204" pitchFamily="34" charset="0"/>
              <a:buChar char="•"/>
            </a:pPr>
            <a:r>
              <a:rPr lang="en-IN" b="1" dirty="0">
                <a:solidFill>
                  <a:schemeClr val="bg2">
                    <a:lumMod val="75000"/>
                  </a:schemeClr>
                </a:solidFill>
                <a:latin typeface="Arial" panose="020B0604020202020204" pitchFamily="34" charset="0"/>
                <a:cs typeface="Arial" panose="020B0604020202020204" pitchFamily="34" charset="0"/>
              </a:rPr>
              <a:t>Basics of Semiconductor Memory</a:t>
            </a:r>
          </a:p>
          <a:p>
            <a:pPr algn="just">
              <a:lnSpc>
                <a:spcPct val="150000"/>
              </a:lnSpc>
              <a:buClr>
                <a:srgbClr val="002060"/>
              </a:buClr>
              <a:buSzPct val="175000"/>
              <a:buFont typeface="Arial" panose="020B0604020202020204" pitchFamily="34" charset="0"/>
              <a:buChar char="•"/>
            </a:pPr>
            <a:r>
              <a:rPr lang="en-IN" b="1" dirty="0">
                <a:solidFill>
                  <a:schemeClr val="bg2">
                    <a:lumMod val="75000"/>
                  </a:schemeClr>
                </a:solidFill>
                <a:latin typeface="Arial" panose="020B0604020202020204" pitchFamily="34" charset="0"/>
                <a:cs typeface="Arial" panose="020B0604020202020204" pitchFamily="34" charset="0"/>
              </a:rPr>
              <a:t>Internal Organization of Memory Chips</a:t>
            </a:r>
          </a:p>
          <a:p>
            <a:pPr algn="just">
              <a:lnSpc>
                <a:spcPct val="150000"/>
              </a:lnSpc>
              <a:buClr>
                <a:srgbClr val="002060"/>
              </a:buClr>
              <a:buSzPct val="175000"/>
              <a:buFont typeface="Arial" panose="020B0604020202020204" pitchFamily="34" charset="0"/>
              <a:buChar char="•"/>
            </a:pPr>
            <a:r>
              <a:rPr lang="en-IN" b="1" dirty="0">
                <a:latin typeface="Arial" panose="020B0604020202020204" pitchFamily="34" charset="0"/>
                <a:cs typeface="Arial" panose="020B0604020202020204" pitchFamily="34" charset="0"/>
              </a:rPr>
              <a:t>SRAM Cell</a:t>
            </a:r>
          </a:p>
          <a:p>
            <a:pPr algn="just">
              <a:lnSpc>
                <a:spcPct val="150000"/>
              </a:lnSpc>
              <a:buClr>
                <a:srgbClr val="002060"/>
              </a:buClr>
              <a:buSzPct val="175000"/>
              <a:buFont typeface="Arial" panose="020B0604020202020204" pitchFamily="34" charset="0"/>
              <a:buChar char="•"/>
            </a:pPr>
            <a:r>
              <a:rPr lang="en-IN" b="1" dirty="0">
                <a:solidFill>
                  <a:schemeClr val="bg2">
                    <a:lumMod val="75000"/>
                  </a:schemeClr>
                </a:solidFill>
                <a:latin typeface="Arial" panose="020B0604020202020204" pitchFamily="34" charset="0"/>
                <a:cs typeface="Arial" panose="020B0604020202020204" pitchFamily="34" charset="0"/>
              </a:rPr>
              <a:t>DRAM Cell </a:t>
            </a:r>
          </a:p>
          <a:p>
            <a:pPr algn="just">
              <a:lnSpc>
                <a:spcPct val="150000"/>
              </a:lnSpc>
              <a:buClr>
                <a:srgbClr val="002060"/>
              </a:buClr>
              <a:buSzPct val="175000"/>
              <a:buFont typeface="Arial" panose="020B0604020202020204" pitchFamily="34" charset="0"/>
              <a:buChar char="•"/>
            </a:pPr>
            <a:r>
              <a:rPr lang="en-IN" b="1" dirty="0">
                <a:solidFill>
                  <a:schemeClr val="bg2">
                    <a:lumMod val="75000"/>
                  </a:schemeClr>
                </a:solidFill>
                <a:latin typeface="Arial" panose="020B0604020202020204" pitchFamily="34" charset="0"/>
                <a:cs typeface="Arial" panose="020B0604020202020204" pitchFamily="34" charset="0"/>
              </a:rPr>
              <a:t>Ferroelectric Memory</a:t>
            </a:r>
          </a:p>
          <a:p>
            <a:pPr algn="just">
              <a:lnSpc>
                <a:spcPct val="150000"/>
              </a:lnSpc>
              <a:buClr>
                <a:srgbClr val="002060"/>
              </a:buClr>
              <a:buSzPct val="175000"/>
              <a:buFont typeface="Arial" panose="020B0604020202020204" pitchFamily="34" charset="0"/>
              <a:buChar char="•"/>
            </a:pPr>
            <a:r>
              <a:rPr lang="en-IN" b="1" dirty="0">
                <a:solidFill>
                  <a:schemeClr val="bg2">
                    <a:lumMod val="75000"/>
                  </a:schemeClr>
                </a:solidFill>
                <a:latin typeface="Arial" panose="020B0604020202020204" pitchFamily="34" charset="0"/>
                <a:cs typeface="Arial" panose="020B0604020202020204" pitchFamily="34" charset="0"/>
              </a:rPr>
              <a:t>Flash Memory Cell</a:t>
            </a:r>
          </a:p>
        </p:txBody>
      </p:sp>
      <p:sp>
        <p:nvSpPr>
          <p:cNvPr id="9" name="Title 1">
            <a:extLst>
              <a:ext uri="{FF2B5EF4-FFF2-40B4-BE49-F238E27FC236}">
                <a16:creationId xmlns:a16="http://schemas.microsoft.com/office/drawing/2014/main" id="{D558C41F-E585-4B9A-B46E-36B235D2B262}"/>
              </a:ext>
            </a:extLst>
          </p:cNvPr>
          <p:cNvSpPr txBox="1">
            <a:spLocks/>
          </p:cNvSpPr>
          <p:nvPr/>
        </p:nvSpPr>
        <p:spPr>
          <a:xfrm>
            <a:off x="111760" y="72454"/>
            <a:ext cx="7101840" cy="686500"/>
          </a:xfrm>
          <a:prstGeom prst="rect">
            <a:avLst/>
          </a:prstGeom>
        </p:spPr>
        <p:txBody>
          <a:bodyPr vert="horz" lIns="91440" tIns="45720" rIns="91440" bIns="45720" rtlCol="0" anchor="t">
            <a:noAutofit/>
          </a:bodyPr>
          <a:lst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a:lstStyle>
          <a:p>
            <a:pPr algn="just"/>
            <a:r>
              <a:rPr lang="en-IN" sz="3400" dirty="0">
                <a:cs typeface="Aharoni" panose="02010803020104030203" pitchFamily="2" charset="-79"/>
              </a:rPr>
              <a:t>Module 1</a:t>
            </a:r>
          </a:p>
        </p:txBody>
      </p:sp>
      <p:sp>
        <p:nvSpPr>
          <p:cNvPr id="7" name="Slide Number Placeholder 6">
            <a:extLst>
              <a:ext uri="{FF2B5EF4-FFF2-40B4-BE49-F238E27FC236}">
                <a16:creationId xmlns:a16="http://schemas.microsoft.com/office/drawing/2014/main" id="{9E266193-05BE-4ECF-99EB-2D3BDF57BA31}"/>
              </a:ext>
            </a:extLst>
          </p:cNvPr>
          <p:cNvSpPr>
            <a:spLocks noGrp="1"/>
          </p:cNvSpPr>
          <p:nvPr>
            <p:ph type="sldNum" sz="quarter" idx="12"/>
          </p:nvPr>
        </p:nvSpPr>
        <p:spPr/>
        <p:txBody>
          <a:bodyPr/>
          <a:lstStyle/>
          <a:p>
            <a:fld id="{CB1E4CB7-CB13-4810-BF18-BE31AFC64F93}" type="slidenum">
              <a:rPr lang="en-US" smtClean="0"/>
              <a:t>2</a:t>
            </a:fld>
            <a:endParaRPr lang="en-US"/>
          </a:p>
        </p:txBody>
      </p:sp>
      <p:sp>
        <p:nvSpPr>
          <p:cNvPr id="12" name="Footer Placeholder 4">
            <a:extLst>
              <a:ext uri="{FF2B5EF4-FFF2-40B4-BE49-F238E27FC236}">
                <a16:creationId xmlns:a16="http://schemas.microsoft.com/office/drawing/2014/main" id="{284DD07C-108C-46B0-A67A-1634CC13250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Tree>
    <p:extLst>
      <p:ext uri="{BB962C8B-B14F-4D97-AF65-F5344CB8AC3E}">
        <p14:creationId xmlns:p14="http://schemas.microsoft.com/office/powerpoint/2010/main" val="8089217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D558C41F-E585-4B9A-B46E-36B235D2B262}"/>
              </a:ext>
            </a:extLst>
          </p:cNvPr>
          <p:cNvSpPr txBox="1">
            <a:spLocks/>
          </p:cNvSpPr>
          <p:nvPr/>
        </p:nvSpPr>
        <p:spPr>
          <a:xfrm>
            <a:off x="111760" y="72454"/>
            <a:ext cx="7101840" cy="686500"/>
          </a:xfrm>
          <a:prstGeom prst="rect">
            <a:avLst/>
          </a:prstGeom>
        </p:spPr>
        <p:txBody>
          <a:bodyPr vert="horz" lIns="91440" tIns="45720" rIns="91440" bIns="45720" rtlCol="0" anchor="t">
            <a:noAutofit/>
          </a:bodyPr>
          <a:lst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a:lstStyle>
          <a:p>
            <a:pPr algn="just"/>
            <a:r>
              <a:rPr lang="en-IN" sz="3400" dirty="0">
                <a:cs typeface="Aharoni" panose="02010803020104030203" pitchFamily="2" charset="-79"/>
              </a:rPr>
              <a:t>SRAM (Static RAM)</a:t>
            </a:r>
          </a:p>
        </p:txBody>
      </p:sp>
      <p:sp>
        <p:nvSpPr>
          <p:cNvPr id="7" name="Slide Number Placeholder 6">
            <a:extLst>
              <a:ext uri="{FF2B5EF4-FFF2-40B4-BE49-F238E27FC236}">
                <a16:creationId xmlns:a16="http://schemas.microsoft.com/office/drawing/2014/main" id="{9E266193-05BE-4ECF-99EB-2D3BDF57BA31}"/>
              </a:ext>
            </a:extLst>
          </p:cNvPr>
          <p:cNvSpPr>
            <a:spLocks noGrp="1"/>
          </p:cNvSpPr>
          <p:nvPr>
            <p:ph type="sldNum" sz="quarter" idx="12"/>
          </p:nvPr>
        </p:nvSpPr>
        <p:spPr/>
        <p:txBody>
          <a:bodyPr/>
          <a:lstStyle/>
          <a:p>
            <a:fld id="{CB1E4CB7-CB13-4810-BF18-BE31AFC64F93}" type="slidenum">
              <a:rPr lang="en-US" smtClean="0"/>
              <a:t>3</a:t>
            </a:fld>
            <a:endParaRPr lang="en-US"/>
          </a:p>
        </p:txBody>
      </p:sp>
      <p:sp>
        <p:nvSpPr>
          <p:cNvPr id="12" name="Footer Placeholder 4">
            <a:extLst>
              <a:ext uri="{FF2B5EF4-FFF2-40B4-BE49-F238E27FC236}">
                <a16:creationId xmlns:a16="http://schemas.microsoft.com/office/drawing/2014/main" id="{284DD07C-108C-46B0-A67A-1634CC13250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pic>
        <p:nvPicPr>
          <p:cNvPr id="2" name="Picture 1">
            <a:extLst>
              <a:ext uri="{FF2B5EF4-FFF2-40B4-BE49-F238E27FC236}">
                <a16:creationId xmlns:a16="http://schemas.microsoft.com/office/drawing/2014/main" id="{CBBD0721-A67E-41C0-9EFF-15813B1EB237}"/>
              </a:ext>
            </a:extLst>
          </p:cNvPr>
          <p:cNvPicPr>
            <a:picLocks noChangeAspect="1"/>
          </p:cNvPicPr>
          <p:nvPr/>
        </p:nvPicPr>
        <p:blipFill>
          <a:blip r:embed="rId3"/>
          <a:stretch>
            <a:fillRect/>
          </a:stretch>
        </p:blipFill>
        <p:spPr>
          <a:xfrm>
            <a:off x="2417873" y="1052002"/>
            <a:ext cx="6594253" cy="4753996"/>
          </a:xfrm>
          <a:prstGeom prst="rect">
            <a:avLst/>
          </a:prstGeom>
        </p:spPr>
      </p:pic>
    </p:spTree>
    <p:extLst>
      <p:ext uri="{BB962C8B-B14F-4D97-AF65-F5344CB8AC3E}">
        <p14:creationId xmlns:p14="http://schemas.microsoft.com/office/powerpoint/2010/main" val="7470150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D558C41F-E585-4B9A-B46E-36B235D2B262}"/>
              </a:ext>
            </a:extLst>
          </p:cNvPr>
          <p:cNvSpPr txBox="1">
            <a:spLocks/>
          </p:cNvSpPr>
          <p:nvPr/>
        </p:nvSpPr>
        <p:spPr>
          <a:xfrm>
            <a:off x="111760" y="72454"/>
            <a:ext cx="7101840" cy="686500"/>
          </a:xfrm>
          <a:prstGeom prst="rect">
            <a:avLst/>
          </a:prstGeom>
        </p:spPr>
        <p:txBody>
          <a:bodyPr vert="horz" lIns="91440" tIns="45720" rIns="91440" bIns="45720" rtlCol="0" anchor="t">
            <a:noAutofit/>
          </a:bodyPr>
          <a:lst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a:lstStyle>
          <a:p>
            <a:pPr algn="just"/>
            <a:r>
              <a:rPr lang="en-IN" sz="3400" dirty="0">
                <a:cs typeface="Aharoni" panose="02010803020104030203" pitchFamily="2" charset="-79"/>
              </a:rPr>
              <a:t>SRAM (Static RAM)</a:t>
            </a:r>
          </a:p>
        </p:txBody>
      </p:sp>
      <p:sp>
        <p:nvSpPr>
          <p:cNvPr id="7" name="Slide Number Placeholder 6">
            <a:extLst>
              <a:ext uri="{FF2B5EF4-FFF2-40B4-BE49-F238E27FC236}">
                <a16:creationId xmlns:a16="http://schemas.microsoft.com/office/drawing/2014/main" id="{9E266193-05BE-4ECF-99EB-2D3BDF57BA31}"/>
              </a:ext>
            </a:extLst>
          </p:cNvPr>
          <p:cNvSpPr>
            <a:spLocks noGrp="1"/>
          </p:cNvSpPr>
          <p:nvPr>
            <p:ph type="sldNum" sz="quarter" idx="12"/>
          </p:nvPr>
        </p:nvSpPr>
        <p:spPr/>
        <p:txBody>
          <a:bodyPr/>
          <a:lstStyle/>
          <a:p>
            <a:fld id="{CB1E4CB7-CB13-4810-BF18-BE31AFC64F93}" type="slidenum">
              <a:rPr lang="en-US" smtClean="0"/>
              <a:t>4</a:t>
            </a:fld>
            <a:endParaRPr lang="en-US"/>
          </a:p>
        </p:txBody>
      </p:sp>
      <p:sp>
        <p:nvSpPr>
          <p:cNvPr id="12" name="Footer Placeholder 4">
            <a:extLst>
              <a:ext uri="{FF2B5EF4-FFF2-40B4-BE49-F238E27FC236}">
                <a16:creationId xmlns:a16="http://schemas.microsoft.com/office/drawing/2014/main" id="{284DD07C-108C-46B0-A67A-1634CC13250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
        <p:nvSpPr>
          <p:cNvPr id="13" name="Rectangle 12">
            <a:extLst>
              <a:ext uri="{FF2B5EF4-FFF2-40B4-BE49-F238E27FC236}">
                <a16:creationId xmlns:a16="http://schemas.microsoft.com/office/drawing/2014/main" id="{68DD32FA-EBCA-4D3C-9D22-0AC3B444E0FC}"/>
              </a:ext>
            </a:extLst>
          </p:cNvPr>
          <p:cNvSpPr/>
          <p:nvPr/>
        </p:nvSpPr>
        <p:spPr>
          <a:xfrm>
            <a:off x="5856887" y="5105400"/>
            <a:ext cx="5257800" cy="872034"/>
          </a:xfrm>
          <a:prstGeom prst="rect">
            <a:avLst/>
          </a:prstGeom>
        </p:spPr>
        <p:txBody>
          <a:bodyPr wrap="square">
            <a:spAutoFit/>
          </a:bodyPr>
          <a:lstStyle/>
          <a:p>
            <a:pPr algn="ctr">
              <a:lnSpc>
                <a:spcPct val="150000"/>
              </a:lnSpc>
            </a:pPr>
            <a:r>
              <a:rPr lang="en-US" b="1" dirty="0">
                <a:latin typeface="Arial" panose="020B0604020202020204" pitchFamily="34" charset="0"/>
                <a:cs typeface="Arial" panose="020B0604020202020204" pitchFamily="34" charset="0"/>
              </a:rPr>
              <a:t>Fig. 8 </a:t>
            </a:r>
            <a:r>
              <a:rPr lang="en-US" dirty="0">
                <a:latin typeface="Arial" panose="020B0604020202020204" pitchFamily="34" charset="0"/>
                <a:cs typeface="Arial" panose="020B0604020202020204" pitchFamily="34" charset="0"/>
              </a:rPr>
              <a:t>CMOS standard six-transistor (6T) SRAM </a:t>
            </a:r>
            <a:r>
              <a:rPr lang="en-US" dirty="0" err="1">
                <a:latin typeface="Arial" panose="020B0604020202020204" pitchFamily="34" charset="0"/>
                <a:cs typeface="Arial" panose="020B0604020202020204" pitchFamily="34" charset="0"/>
              </a:rPr>
              <a:t>bitcell</a:t>
            </a:r>
            <a:r>
              <a:rPr lang="en-US" dirty="0">
                <a:latin typeface="Arial" panose="020B0604020202020204" pitchFamily="34" charset="0"/>
                <a:cs typeface="Arial" panose="020B0604020202020204" pitchFamily="34" charset="0"/>
              </a:rPr>
              <a:t>. </a:t>
            </a:r>
          </a:p>
        </p:txBody>
      </p:sp>
      <p:grpSp>
        <p:nvGrpSpPr>
          <p:cNvPr id="19" name="Group 16">
            <a:extLst>
              <a:ext uri="{FF2B5EF4-FFF2-40B4-BE49-F238E27FC236}">
                <a16:creationId xmlns:a16="http://schemas.microsoft.com/office/drawing/2014/main" id="{C60DF709-525D-48FB-9ADC-485DF519F2D0}"/>
              </a:ext>
            </a:extLst>
          </p:cNvPr>
          <p:cNvGrpSpPr/>
          <p:nvPr/>
        </p:nvGrpSpPr>
        <p:grpSpPr>
          <a:xfrm>
            <a:off x="5856887" y="1295400"/>
            <a:ext cx="5200650" cy="3581400"/>
            <a:chOff x="3429000" y="1524000"/>
            <a:chExt cx="5200650" cy="3581400"/>
          </a:xfrm>
        </p:grpSpPr>
        <p:pic>
          <p:nvPicPr>
            <p:cNvPr id="20" name="Picture 1">
              <a:extLst>
                <a:ext uri="{FF2B5EF4-FFF2-40B4-BE49-F238E27FC236}">
                  <a16:creationId xmlns:a16="http://schemas.microsoft.com/office/drawing/2014/main" id="{BD437660-142C-4972-A4BB-6A98E3ED4519}"/>
                </a:ext>
              </a:extLst>
            </p:cNvPr>
            <p:cNvPicPr>
              <a:picLocks noChangeAspect="1" noChangeArrowheads="1"/>
            </p:cNvPicPr>
            <p:nvPr/>
          </p:nvPicPr>
          <p:blipFill>
            <a:blip r:embed="rId3"/>
            <a:srcRect/>
            <a:stretch>
              <a:fillRect/>
            </a:stretch>
          </p:blipFill>
          <p:spPr bwMode="auto">
            <a:xfrm>
              <a:off x="3429000" y="1524000"/>
              <a:ext cx="5200650" cy="3581400"/>
            </a:xfrm>
            <a:prstGeom prst="rect">
              <a:avLst/>
            </a:prstGeom>
            <a:noFill/>
            <a:ln w="9525">
              <a:noFill/>
              <a:miter lim="800000"/>
              <a:headEnd/>
              <a:tailEnd/>
            </a:ln>
            <a:effectLst/>
          </p:spPr>
        </p:pic>
        <p:sp>
          <p:nvSpPr>
            <p:cNvPr id="21" name="TextBox 20">
              <a:extLst>
                <a:ext uri="{FF2B5EF4-FFF2-40B4-BE49-F238E27FC236}">
                  <a16:creationId xmlns:a16="http://schemas.microsoft.com/office/drawing/2014/main" id="{5515539C-EB89-4192-8D4B-04B3AC0A2F5E}"/>
                </a:ext>
              </a:extLst>
            </p:cNvPr>
            <p:cNvSpPr txBox="1"/>
            <p:nvPr/>
          </p:nvSpPr>
          <p:spPr>
            <a:xfrm>
              <a:off x="6934200" y="2999601"/>
              <a:ext cx="381000" cy="276999"/>
            </a:xfrm>
            <a:prstGeom prst="rect">
              <a:avLst/>
            </a:prstGeom>
            <a:solidFill>
              <a:schemeClr val="bg1"/>
            </a:solidFill>
          </p:spPr>
          <p:txBody>
            <a:bodyPr wrap="square" lIns="0" tIns="0" rIns="0" bIns="0" rtlCol="0">
              <a:spAutoFit/>
            </a:bodyPr>
            <a:lstStyle/>
            <a:p>
              <a:r>
                <a:rPr lang="en-US" dirty="0">
                  <a:cs typeface="Times New Roman" pitchFamily="18" charset="0"/>
                </a:rPr>
                <a:t>SB</a:t>
              </a:r>
            </a:p>
          </p:txBody>
        </p:sp>
      </p:grpSp>
      <p:sp>
        <p:nvSpPr>
          <p:cNvPr id="5" name="TextBox 4">
            <a:extLst>
              <a:ext uri="{FF2B5EF4-FFF2-40B4-BE49-F238E27FC236}">
                <a16:creationId xmlns:a16="http://schemas.microsoft.com/office/drawing/2014/main" id="{E04CCC81-91EE-4A17-82FA-06A45C09DB6D}"/>
              </a:ext>
            </a:extLst>
          </p:cNvPr>
          <p:cNvSpPr txBox="1"/>
          <p:nvPr/>
        </p:nvSpPr>
        <p:spPr>
          <a:xfrm>
            <a:off x="280494" y="1127061"/>
            <a:ext cx="5200650" cy="5113644"/>
          </a:xfrm>
          <a:prstGeom prst="rect">
            <a:avLst/>
          </a:prstGeom>
          <a:noFill/>
        </p:spPr>
        <p:txBody>
          <a:bodyPr wrap="square" rtlCol="0">
            <a:spAutoFit/>
          </a:bodyPr>
          <a:lstStyle/>
          <a:p>
            <a:pPr algn="just">
              <a:lnSpc>
                <a:spcPct val="150000"/>
              </a:lnSpc>
            </a:pPr>
            <a:r>
              <a:rPr lang="en-US" sz="2000" dirty="0">
                <a:latin typeface="Arial" panose="020B0604020202020204" pitchFamily="34" charset="0"/>
                <a:cs typeface="Arial" panose="020B0604020202020204" pitchFamily="34" charset="0"/>
              </a:rPr>
              <a:t>The transistors are named pull-up (PL1, PL2), pull-down (PD1, PD2) and access (PG1,PG2).</a:t>
            </a:r>
          </a:p>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r>
              <a:rPr lang="en-US" sz="2000" dirty="0">
                <a:latin typeface="Arial" panose="020B0604020202020204" pitchFamily="34" charset="0"/>
                <a:cs typeface="Arial" panose="020B0604020202020204" pitchFamily="34" charset="0"/>
              </a:rPr>
              <a:t>Word-line (WL), serve as switches between the inverter pair and the complementary pair of bit-lines or data-lines (BL, BLB).</a:t>
            </a:r>
          </a:p>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r>
              <a:rPr lang="en-US" sz="2000" dirty="0">
                <a:latin typeface="Arial" panose="020B0604020202020204" pitchFamily="34" charset="0"/>
                <a:cs typeface="Arial" panose="020B0604020202020204" pitchFamily="34" charset="0"/>
              </a:rPr>
              <a:t>It is assumed that the internal data storage nodes S and SB are at ‘0’ and ‘1’, respectively.</a:t>
            </a:r>
          </a:p>
        </p:txBody>
      </p:sp>
    </p:spTree>
    <p:extLst>
      <p:ext uri="{BB962C8B-B14F-4D97-AF65-F5344CB8AC3E}">
        <p14:creationId xmlns:p14="http://schemas.microsoft.com/office/powerpoint/2010/main" val="1076996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D558C41F-E585-4B9A-B46E-36B235D2B262}"/>
              </a:ext>
            </a:extLst>
          </p:cNvPr>
          <p:cNvSpPr txBox="1">
            <a:spLocks/>
          </p:cNvSpPr>
          <p:nvPr/>
        </p:nvSpPr>
        <p:spPr>
          <a:xfrm>
            <a:off x="111760" y="72454"/>
            <a:ext cx="7101840" cy="686500"/>
          </a:xfrm>
          <a:prstGeom prst="rect">
            <a:avLst/>
          </a:prstGeom>
        </p:spPr>
        <p:txBody>
          <a:bodyPr vert="horz" lIns="91440" tIns="45720" rIns="91440" bIns="45720" rtlCol="0" anchor="t">
            <a:noAutofit/>
          </a:bodyPr>
          <a:lst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a:lstStyle>
          <a:p>
            <a:pPr algn="just"/>
            <a:r>
              <a:rPr lang="en-IN" sz="3400" dirty="0">
                <a:cs typeface="Aharoni" panose="02010803020104030203" pitchFamily="2" charset="-79"/>
              </a:rPr>
              <a:t>SRAM</a:t>
            </a:r>
          </a:p>
        </p:txBody>
      </p:sp>
      <p:sp>
        <p:nvSpPr>
          <p:cNvPr id="7" name="Slide Number Placeholder 6">
            <a:extLst>
              <a:ext uri="{FF2B5EF4-FFF2-40B4-BE49-F238E27FC236}">
                <a16:creationId xmlns:a16="http://schemas.microsoft.com/office/drawing/2014/main" id="{9E266193-05BE-4ECF-99EB-2D3BDF57BA31}"/>
              </a:ext>
            </a:extLst>
          </p:cNvPr>
          <p:cNvSpPr>
            <a:spLocks noGrp="1"/>
          </p:cNvSpPr>
          <p:nvPr>
            <p:ph type="sldNum" sz="quarter" idx="12"/>
          </p:nvPr>
        </p:nvSpPr>
        <p:spPr/>
        <p:txBody>
          <a:bodyPr/>
          <a:lstStyle/>
          <a:p>
            <a:fld id="{CB1E4CB7-CB13-4810-BF18-BE31AFC64F93}" type="slidenum">
              <a:rPr lang="en-US" smtClean="0"/>
              <a:t>5</a:t>
            </a:fld>
            <a:endParaRPr lang="en-US"/>
          </a:p>
        </p:txBody>
      </p:sp>
      <p:sp>
        <p:nvSpPr>
          <p:cNvPr id="12" name="Footer Placeholder 4">
            <a:extLst>
              <a:ext uri="{FF2B5EF4-FFF2-40B4-BE49-F238E27FC236}">
                <a16:creationId xmlns:a16="http://schemas.microsoft.com/office/drawing/2014/main" id="{284DD07C-108C-46B0-A67A-1634CC13250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
        <p:nvSpPr>
          <p:cNvPr id="13" name="Rectangle 12">
            <a:extLst>
              <a:ext uri="{FF2B5EF4-FFF2-40B4-BE49-F238E27FC236}">
                <a16:creationId xmlns:a16="http://schemas.microsoft.com/office/drawing/2014/main" id="{68DD32FA-EBCA-4D3C-9D22-0AC3B444E0FC}"/>
              </a:ext>
            </a:extLst>
          </p:cNvPr>
          <p:cNvSpPr/>
          <p:nvPr/>
        </p:nvSpPr>
        <p:spPr>
          <a:xfrm>
            <a:off x="5856887" y="5105400"/>
            <a:ext cx="5257800" cy="872034"/>
          </a:xfrm>
          <a:prstGeom prst="rect">
            <a:avLst/>
          </a:prstGeom>
        </p:spPr>
        <p:txBody>
          <a:bodyPr wrap="square">
            <a:spAutoFit/>
          </a:bodyPr>
          <a:lstStyle/>
          <a:p>
            <a:pPr algn="ctr">
              <a:lnSpc>
                <a:spcPct val="150000"/>
              </a:lnSpc>
            </a:pPr>
            <a:r>
              <a:rPr lang="en-US" b="1" dirty="0">
                <a:latin typeface="Arial" panose="020B0604020202020204" pitchFamily="34" charset="0"/>
                <a:cs typeface="Arial" panose="020B0604020202020204" pitchFamily="34" charset="0"/>
              </a:rPr>
              <a:t>Fig. 8 </a:t>
            </a:r>
            <a:r>
              <a:rPr lang="en-US" dirty="0">
                <a:latin typeface="Arial" panose="020B0604020202020204" pitchFamily="34" charset="0"/>
                <a:cs typeface="Arial" panose="020B0604020202020204" pitchFamily="34" charset="0"/>
              </a:rPr>
              <a:t>CMOS standard six-transistor (6T) SRAM </a:t>
            </a:r>
            <a:r>
              <a:rPr lang="en-US" dirty="0" err="1">
                <a:latin typeface="Arial" panose="020B0604020202020204" pitchFamily="34" charset="0"/>
                <a:cs typeface="Arial" panose="020B0604020202020204" pitchFamily="34" charset="0"/>
              </a:rPr>
              <a:t>bitcell</a:t>
            </a:r>
            <a:r>
              <a:rPr lang="en-US" dirty="0">
                <a:latin typeface="Arial" panose="020B0604020202020204" pitchFamily="34" charset="0"/>
                <a:cs typeface="Arial" panose="020B0604020202020204" pitchFamily="34" charset="0"/>
              </a:rPr>
              <a:t>. </a:t>
            </a:r>
          </a:p>
        </p:txBody>
      </p:sp>
      <p:grpSp>
        <p:nvGrpSpPr>
          <p:cNvPr id="19" name="Group 16">
            <a:extLst>
              <a:ext uri="{FF2B5EF4-FFF2-40B4-BE49-F238E27FC236}">
                <a16:creationId xmlns:a16="http://schemas.microsoft.com/office/drawing/2014/main" id="{C60DF709-525D-48FB-9ADC-485DF519F2D0}"/>
              </a:ext>
            </a:extLst>
          </p:cNvPr>
          <p:cNvGrpSpPr/>
          <p:nvPr/>
        </p:nvGrpSpPr>
        <p:grpSpPr>
          <a:xfrm>
            <a:off x="5856887" y="1295400"/>
            <a:ext cx="5200650" cy="3581400"/>
            <a:chOff x="3429000" y="1524000"/>
            <a:chExt cx="5200650" cy="3581400"/>
          </a:xfrm>
        </p:grpSpPr>
        <p:pic>
          <p:nvPicPr>
            <p:cNvPr id="20" name="Picture 1">
              <a:extLst>
                <a:ext uri="{FF2B5EF4-FFF2-40B4-BE49-F238E27FC236}">
                  <a16:creationId xmlns:a16="http://schemas.microsoft.com/office/drawing/2014/main" id="{BD437660-142C-4972-A4BB-6A98E3ED4519}"/>
                </a:ext>
              </a:extLst>
            </p:cNvPr>
            <p:cNvPicPr>
              <a:picLocks noChangeAspect="1" noChangeArrowheads="1"/>
            </p:cNvPicPr>
            <p:nvPr/>
          </p:nvPicPr>
          <p:blipFill>
            <a:blip r:embed="rId3"/>
            <a:srcRect/>
            <a:stretch>
              <a:fillRect/>
            </a:stretch>
          </p:blipFill>
          <p:spPr bwMode="auto">
            <a:xfrm>
              <a:off x="3429000" y="1524000"/>
              <a:ext cx="5200650" cy="3581400"/>
            </a:xfrm>
            <a:prstGeom prst="rect">
              <a:avLst/>
            </a:prstGeom>
            <a:noFill/>
            <a:ln w="9525">
              <a:noFill/>
              <a:miter lim="800000"/>
              <a:headEnd/>
              <a:tailEnd/>
            </a:ln>
            <a:effectLst/>
          </p:spPr>
        </p:pic>
        <p:sp>
          <p:nvSpPr>
            <p:cNvPr id="21" name="TextBox 20">
              <a:extLst>
                <a:ext uri="{FF2B5EF4-FFF2-40B4-BE49-F238E27FC236}">
                  <a16:creationId xmlns:a16="http://schemas.microsoft.com/office/drawing/2014/main" id="{5515539C-EB89-4192-8D4B-04B3AC0A2F5E}"/>
                </a:ext>
              </a:extLst>
            </p:cNvPr>
            <p:cNvSpPr txBox="1"/>
            <p:nvPr/>
          </p:nvSpPr>
          <p:spPr>
            <a:xfrm>
              <a:off x="6934200" y="2999601"/>
              <a:ext cx="381000" cy="276999"/>
            </a:xfrm>
            <a:prstGeom prst="rect">
              <a:avLst/>
            </a:prstGeom>
            <a:solidFill>
              <a:schemeClr val="bg1"/>
            </a:solidFill>
          </p:spPr>
          <p:txBody>
            <a:bodyPr wrap="square" lIns="0" tIns="0" rIns="0" bIns="0" rtlCol="0">
              <a:spAutoFit/>
            </a:bodyPr>
            <a:lstStyle/>
            <a:p>
              <a:r>
                <a:rPr lang="en-US" dirty="0">
                  <a:cs typeface="Times New Roman" pitchFamily="18" charset="0"/>
                </a:rPr>
                <a:t>SB</a:t>
              </a:r>
            </a:p>
          </p:txBody>
        </p:sp>
      </p:grpSp>
      <p:sp>
        <p:nvSpPr>
          <p:cNvPr id="14" name="Rectangle 13">
            <a:extLst>
              <a:ext uri="{FF2B5EF4-FFF2-40B4-BE49-F238E27FC236}">
                <a16:creationId xmlns:a16="http://schemas.microsoft.com/office/drawing/2014/main" id="{6F3CDD9E-55B0-4C25-9ACA-F5745450B9FD}"/>
              </a:ext>
            </a:extLst>
          </p:cNvPr>
          <p:cNvSpPr/>
          <p:nvPr/>
        </p:nvSpPr>
        <p:spPr>
          <a:xfrm>
            <a:off x="932789" y="914400"/>
            <a:ext cx="7080466" cy="369332"/>
          </a:xfrm>
          <a:prstGeom prst="rect">
            <a:avLst/>
          </a:prstGeom>
        </p:spPr>
        <p:txBody>
          <a:bodyPr wrap="square">
            <a:spAutoFit/>
          </a:bodyPr>
          <a:lstStyle/>
          <a:p>
            <a:pPr algn="just"/>
            <a:r>
              <a:rPr lang="en-US" dirty="0">
                <a:latin typeface="Arial" panose="020B0604020202020204" pitchFamily="34" charset="0"/>
                <a:cs typeface="Arial" panose="020B0604020202020204" pitchFamily="34" charset="0"/>
              </a:rPr>
              <a:t>There are three operations in 6T SRAM cell.</a:t>
            </a:r>
          </a:p>
        </p:txBody>
      </p:sp>
      <p:sp>
        <p:nvSpPr>
          <p:cNvPr id="15" name="Rectangle 14">
            <a:extLst>
              <a:ext uri="{FF2B5EF4-FFF2-40B4-BE49-F238E27FC236}">
                <a16:creationId xmlns:a16="http://schemas.microsoft.com/office/drawing/2014/main" id="{8C312F26-5A07-4358-8D24-A7F114C4EAD2}"/>
              </a:ext>
            </a:extLst>
          </p:cNvPr>
          <p:cNvSpPr/>
          <p:nvPr/>
        </p:nvSpPr>
        <p:spPr>
          <a:xfrm>
            <a:off x="800760" y="1491526"/>
            <a:ext cx="4838039" cy="4524315"/>
          </a:xfrm>
          <a:prstGeom prst="rect">
            <a:avLst/>
          </a:prstGeom>
        </p:spPr>
        <p:txBody>
          <a:bodyPr wrap="square">
            <a:spAutoFit/>
          </a:bodyPr>
          <a:lstStyle/>
          <a:p>
            <a:pPr marL="342900" indent="-342900" algn="just">
              <a:buAutoNum type="arabicPeriod"/>
            </a:pPr>
            <a:r>
              <a:rPr lang="en-US" b="1" dirty="0">
                <a:latin typeface="Arial" panose="020B0604020202020204" pitchFamily="34" charset="0"/>
                <a:cs typeface="Arial" panose="020B0604020202020204" pitchFamily="34" charset="0"/>
              </a:rPr>
              <a:t>Hold</a:t>
            </a:r>
            <a:r>
              <a:rPr lang="en-US" dirty="0">
                <a:latin typeface="Arial" panose="020B0604020202020204" pitchFamily="34" charset="0"/>
                <a:cs typeface="Arial" panose="020B0604020202020204" pitchFamily="34" charset="0"/>
              </a:rPr>
              <a:t>: The access transistors are disabled (WL=0), the information is stored on the feedback-coupled inverter-pair.</a:t>
            </a:r>
          </a:p>
          <a:p>
            <a:pPr marL="342900" indent="-342900" algn="just">
              <a:buAutoNum type="arabicPeriod"/>
            </a:pPr>
            <a:endParaRPr lang="en-US" dirty="0">
              <a:latin typeface="Arial" panose="020B0604020202020204" pitchFamily="34" charset="0"/>
              <a:cs typeface="Arial" panose="020B0604020202020204" pitchFamily="34" charset="0"/>
            </a:endParaRPr>
          </a:p>
          <a:p>
            <a:pPr marL="342900" indent="-342900" algn="just">
              <a:buFontTx/>
              <a:buAutoNum type="arabicPeriod"/>
            </a:pPr>
            <a:r>
              <a:rPr lang="en-US" b="1" dirty="0">
                <a:latin typeface="Arial" panose="020B0604020202020204" pitchFamily="34" charset="0"/>
                <a:cs typeface="Arial" panose="020B0604020202020204" pitchFamily="34" charset="0"/>
              </a:rPr>
              <a:t>Read </a:t>
            </a:r>
            <a:r>
              <a:rPr lang="en-US" dirty="0">
                <a:latin typeface="Arial" panose="020B0604020202020204" pitchFamily="34" charset="0"/>
                <a:cs typeface="Arial" panose="020B0604020202020204" pitchFamily="34" charset="0"/>
              </a:rPr>
              <a:t>(0): Both bit-lines BL and BLB are pre-charged to V</a:t>
            </a:r>
            <a:r>
              <a:rPr lang="en-US" baseline="-25000" dirty="0">
                <a:latin typeface="Arial" panose="020B0604020202020204" pitchFamily="34" charset="0"/>
                <a:cs typeface="Arial" panose="020B0604020202020204" pitchFamily="34" charset="0"/>
              </a:rPr>
              <a:t>DD</a:t>
            </a:r>
            <a:r>
              <a:rPr lang="en-US" dirty="0">
                <a:latin typeface="Arial" panose="020B0604020202020204" pitchFamily="34" charset="0"/>
                <a:cs typeface="Arial" panose="020B0604020202020204" pitchFamily="34" charset="0"/>
              </a:rPr>
              <a:t>, then the access transistors are enabled (WL=1). The S (0) node provides a conducting path to ground through PD1 and discharge the BL via PD1 .</a:t>
            </a:r>
          </a:p>
          <a:p>
            <a:pPr marL="342900" indent="-342900" algn="just">
              <a:buFontTx/>
              <a:buAutoNum type="arabicPeriod"/>
            </a:pPr>
            <a:endParaRPr lang="en-US" dirty="0">
              <a:latin typeface="Arial" panose="020B0604020202020204" pitchFamily="34" charset="0"/>
              <a:cs typeface="Arial" panose="020B0604020202020204" pitchFamily="34" charset="0"/>
            </a:endParaRPr>
          </a:p>
          <a:p>
            <a:pPr marL="342900" indent="-342900" algn="just">
              <a:buFontTx/>
              <a:buAutoNum type="arabicPeriod"/>
            </a:pPr>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For Read stability,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 must not flip i.e. PD1 &gt;&gt; PG1 </a:t>
            </a:r>
          </a:p>
          <a:p>
            <a:pPr algn="just"/>
            <a:endParaRPr lang="en-US"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7888960B-1231-45B0-9BCE-50516022F89E}"/>
              </a:ext>
            </a:extLst>
          </p:cNvPr>
          <p:cNvSpPr txBox="1"/>
          <p:nvPr/>
        </p:nvSpPr>
        <p:spPr>
          <a:xfrm>
            <a:off x="9598573" y="2065671"/>
            <a:ext cx="493986" cy="276999"/>
          </a:xfrm>
          <a:prstGeom prst="rect">
            <a:avLst/>
          </a:prstGeom>
          <a:noFill/>
        </p:spPr>
        <p:txBody>
          <a:bodyPr wrap="square" lIns="0" tIns="0" rIns="0" bIns="0" rtlCol="0">
            <a:spAutoFit/>
          </a:bodyPr>
          <a:lstStyle/>
          <a:p>
            <a:r>
              <a:rPr lang="en-US" b="1" dirty="0">
                <a:solidFill>
                  <a:schemeClr val="accent4">
                    <a:lumMod val="75000"/>
                    <a:lumOff val="25000"/>
                  </a:schemeClr>
                </a:solidFill>
                <a:cs typeface="Times New Roman" pitchFamily="18" charset="0"/>
              </a:rPr>
              <a:t>ON</a:t>
            </a:r>
          </a:p>
        </p:txBody>
      </p:sp>
      <p:sp>
        <p:nvSpPr>
          <p:cNvPr id="23" name="TextBox 22">
            <a:extLst>
              <a:ext uri="{FF2B5EF4-FFF2-40B4-BE49-F238E27FC236}">
                <a16:creationId xmlns:a16="http://schemas.microsoft.com/office/drawing/2014/main" id="{F8A8E4D1-DD93-4FF0-8358-8FE8F4637541}"/>
              </a:ext>
            </a:extLst>
          </p:cNvPr>
          <p:cNvSpPr txBox="1"/>
          <p:nvPr/>
        </p:nvSpPr>
        <p:spPr>
          <a:xfrm>
            <a:off x="6637279" y="3734192"/>
            <a:ext cx="493986" cy="276999"/>
          </a:xfrm>
          <a:prstGeom prst="rect">
            <a:avLst/>
          </a:prstGeom>
          <a:noFill/>
        </p:spPr>
        <p:txBody>
          <a:bodyPr wrap="square" lIns="0" tIns="0" rIns="0" bIns="0" rtlCol="0">
            <a:spAutoFit/>
          </a:bodyPr>
          <a:lstStyle/>
          <a:p>
            <a:r>
              <a:rPr lang="en-US" b="1" dirty="0">
                <a:solidFill>
                  <a:schemeClr val="accent4">
                    <a:lumMod val="75000"/>
                    <a:lumOff val="25000"/>
                  </a:schemeClr>
                </a:solidFill>
                <a:cs typeface="Times New Roman" pitchFamily="18" charset="0"/>
              </a:rPr>
              <a:t>ON</a:t>
            </a:r>
          </a:p>
        </p:txBody>
      </p:sp>
      <p:sp>
        <p:nvSpPr>
          <p:cNvPr id="24" name="TextBox 23">
            <a:extLst>
              <a:ext uri="{FF2B5EF4-FFF2-40B4-BE49-F238E27FC236}">
                <a16:creationId xmlns:a16="http://schemas.microsoft.com/office/drawing/2014/main" id="{62E6399C-EFD4-4AC8-B915-C679B27411D7}"/>
              </a:ext>
            </a:extLst>
          </p:cNvPr>
          <p:cNvSpPr txBox="1"/>
          <p:nvPr/>
        </p:nvSpPr>
        <p:spPr>
          <a:xfrm>
            <a:off x="6852745" y="2015745"/>
            <a:ext cx="493986" cy="276999"/>
          </a:xfrm>
          <a:prstGeom prst="rect">
            <a:avLst/>
          </a:prstGeom>
          <a:noFill/>
        </p:spPr>
        <p:txBody>
          <a:bodyPr wrap="square" lIns="0" tIns="0" rIns="0" bIns="0" rtlCol="0">
            <a:spAutoFit/>
          </a:bodyPr>
          <a:lstStyle/>
          <a:p>
            <a:r>
              <a:rPr lang="en-US" b="1" dirty="0">
                <a:solidFill>
                  <a:srgbClr val="FF0000"/>
                </a:solidFill>
                <a:cs typeface="Times New Roman" pitchFamily="18" charset="0"/>
              </a:rPr>
              <a:t>OFF</a:t>
            </a:r>
          </a:p>
        </p:txBody>
      </p:sp>
      <p:sp>
        <p:nvSpPr>
          <p:cNvPr id="25" name="TextBox 24">
            <a:extLst>
              <a:ext uri="{FF2B5EF4-FFF2-40B4-BE49-F238E27FC236}">
                <a16:creationId xmlns:a16="http://schemas.microsoft.com/office/drawing/2014/main" id="{A266FF82-4219-42E5-807C-79DA01FC1AF3}"/>
              </a:ext>
            </a:extLst>
          </p:cNvPr>
          <p:cNvSpPr txBox="1"/>
          <p:nvPr/>
        </p:nvSpPr>
        <p:spPr>
          <a:xfrm>
            <a:off x="9735205" y="3718419"/>
            <a:ext cx="493986" cy="276999"/>
          </a:xfrm>
          <a:prstGeom prst="rect">
            <a:avLst/>
          </a:prstGeom>
          <a:noFill/>
        </p:spPr>
        <p:txBody>
          <a:bodyPr wrap="square" lIns="0" tIns="0" rIns="0" bIns="0" rtlCol="0">
            <a:spAutoFit/>
          </a:bodyPr>
          <a:lstStyle/>
          <a:p>
            <a:r>
              <a:rPr lang="en-US" b="1" dirty="0">
                <a:solidFill>
                  <a:srgbClr val="FF0000"/>
                </a:solidFill>
                <a:cs typeface="Times New Roman" pitchFamily="18" charset="0"/>
              </a:rPr>
              <a:t>OFF</a:t>
            </a:r>
          </a:p>
        </p:txBody>
      </p:sp>
    </p:spTree>
    <p:extLst>
      <p:ext uri="{BB962C8B-B14F-4D97-AF65-F5344CB8AC3E}">
        <p14:creationId xmlns:p14="http://schemas.microsoft.com/office/powerpoint/2010/main" val="358761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25"/>
                                        </p:tgtEl>
                                        <p:attrNameLst>
                                          <p:attrName>style.visibility</p:attrName>
                                        </p:attrNameLst>
                                      </p:cBhvr>
                                      <p:to>
                                        <p:strVal val="visible"/>
                                      </p:to>
                                    </p:set>
                                    <p:anim calcmode="lin" valueType="num">
                                      <p:cBhvr additive="base">
                                        <p:cTn id="16" dur="500" fill="hold"/>
                                        <p:tgtEl>
                                          <p:spTgt spid="25"/>
                                        </p:tgtEl>
                                        <p:attrNameLst>
                                          <p:attrName>ppt_x</p:attrName>
                                        </p:attrNameLst>
                                      </p:cBhvr>
                                      <p:tavLst>
                                        <p:tav tm="0">
                                          <p:val>
                                            <p:strVal val="#ppt_x"/>
                                          </p:val>
                                        </p:tav>
                                        <p:tav tm="100000">
                                          <p:val>
                                            <p:strVal val="#ppt_x"/>
                                          </p:val>
                                        </p:tav>
                                      </p:tavLst>
                                    </p:anim>
                                    <p:anim calcmode="lin" valueType="num">
                                      <p:cBhvr additive="base">
                                        <p:cTn id="17" dur="500" fill="hold"/>
                                        <p:tgtEl>
                                          <p:spTgt spid="25"/>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fill="hold"/>
                                        <p:tgtEl>
                                          <p:spTgt spid="24"/>
                                        </p:tgtEl>
                                        <p:attrNameLst>
                                          <p:attrName>ppt_x</p:attrName>
                                        </p:attrNameLst>
                                      </p:cBhvr>
                                      <p:tavLst>
                                        <p:tav tm="0">
                                          <p:val>
                                            <p:strVal val="#ppt_x"/>
                                          </p:val>
                                        </p:tav>
                                        <p:tav tm="100000">
                                          <p:val>
                                            <p:strVal val="#ppt_x"/>
                                          </p:val>
                                        </p:tav>
                                      </p:tavLst>
                                    </p:anim>
                                    <p:anim calcmode="lin" valueType="num">
                                      <p:cBhvr additive="base">
                                        <p:cTn id="21"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3" presetClass="exit" presetSubtype="10" fill="hold" grpId="1" nodeType="clickEffect">
                                  <p:stCondLst>
                                    <p:cond delay="0"/>
                                  </p:stCondLst>
                                  <p:childTnLst>
                                    <p:animEffect transition="out" filter="blinds(horizontal)">
                                      <p:cBhvr>
                                        <p:cTn id="25" dur="500"/>
                                        <p:tgtEl>
                                          <p:spTgt spid="23"/>
                                        </p:tgtEl>
                                      </p:cBhvr>
                                    </p:animEffect>
                                    <p:set>
                                      <p:cBhvr>
                                        <p:cTn id="26" dur="1" fill="hold">
                                          <p:stCondLst>
                                            <p:cond delay="499"/>
                                          </p:stCondLst>
                                        </p:cTn>
                                        <p:tgtEl>
                                          <p:spTgt spid="23"/>
                                        </p:tgtEl>
                                        <p:attrNameLst>
                                          <p:attrName>style.visibility</p:attrName>
                                        </p:attrNameLst>
                                      </p:cBhvr>
                                      <p:to>
                                        <p:strVal val="hidden"/>
                                      </p:to>
                                    </p:set>
                                  </p:childTnLst>
                                </p:cTn>
                              </p:par>
                              <p:par>
                                <p:cTn id="27" presetID="3" presetClass="exit" presetSubtype="10" fill="hold" grpId="1" nodeType="withEffect">
                                  <p:stCondLst>
                                    <p:cond delay="0"/>
                                  </p:stCondLst>
                                  <p:childTnLst>
                                    <p:animEffect transition="out" filter="blinds(horizontal)">
                                      <p:cBhvr>
                                        <p:cTn id="28" dur="500"/>
                                        <p:tgtEl>
                                          <p:spTgt spid="25"/>
                                        </p:tgtEl>
                                      </p:cBhvr>
                                    </p:animEffect>
                                    <p:set>
                                      <p:cBhvr>
                                        <p:cTn id="29" dur="1" fill="hold">
                                          <p:stCondLst>
                                            <p:cond delay="499"/>
                                          </p:stCondLst>
                                        </p:cTn>
                                        <p:tgtEl>
                                          <p:spTgt spid="25"/>
                                        </p:tgtEl>
                                        <p:attrNameLst>
                                          <p:attrName>style.visibility</p:attrName>
                                        </p:attrNameLst>
                                      </p:cBhvr>
                                      <p:to>
                                        <p:strVal val="hidden"/>
                                      </p:to>
                                    </p:set>
                                  </p:childTnLst>
                                </p:cTn>
                              </p:par>
                              <p:par>
                                <p:cTn id="30" presetID="3" presetClass="exit" presetSubtype="10" fill="hold" grpId="1" nodeType="withEffect">
                                  <p:stCondLst>
                                    <p:cond delay="0"/>
                                  </p:stCondLst>
                                  <p:childTnLst>
                                    <p:animEffect transition="out" filter="blinds(horizontal)">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par>
                                <p:cTn id="33" presetID="3" presetClass="exit" presetSubtype="10" fill="hold" grpId="1" nodeType="withEffect">
                                  <p:stCondLst>
                                    <p:cond delay="0"/>
                                  </p:stCondLst>
                                  <p:childTnLst>
                                    <p:animEffect transition="out" filter="blinds(horizontal)">
                                      <p:cBhvr>
                                        <p:cTn id="34" dur="500"/>
                                        <p:tgtEl>
                                          <p:spTgt spid="24"/>
                                        </p:tgtEl>
                                      </p:cBhvr>
                                    </p:animEffect>
                                    <p:set>
                                      <p:cBhvr>
                                        <p:cTn id="35"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23" grpId="0"/>
      <p:bldP spid="23" grpId="1"/>
      <p:bldP spid="24" grpId="0"/>
      <p:bldP spid="24" grpId="1"/>
      <p:bldP spid="25" grpId="0"/>
      <p:bldP spid="25"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D558C41F-E585-4B9A-B46E-36B235D2B262}"/>
              </a:ext>
            </a:extLst>
          </p:cNvPr>
          <p:cNvSpPr txBox="1">
            <a:spLocks/>
          </p:cNvSpPr>
          <p:nvPr/>
        </p:nvSpPr>
        <p:spPr>
          <a:xfrm>
            <a:off x="111760" y="72454"/>
            <a:ext cx="7101840" cy="686500"/>
          </a:xfrm>
          <a:prstGeom prst="rect">
            <a:avLst/>
          </a:prstGeom>
        </p:spPr>
        <p:txBody>
          <a:bodyPr vert="horz" lIns="91440" tIns="45720" rIns="91440" bIns="45720" rtlCol="0" anchor="t">
            <a:noAutofit/>
          </a:bodyPr>
          <a:lst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a:lstStyle>
          <a:p>
            <a:pPr algn="just"/>
            <a:r>
              <a:rPr lang="en-IN" sz="3400" dirty="0">
                <a:cs typeface="Aharoni" panose="02010803020104030203" pitchFamily="2" charset="-79"/>
              </a:rPr>
              <a:t>SRAM</a:t>
            </a:r>
          </a:p>
        </p:txBody>
      </p:sp>
      <p:sp>
        <p:nvSpPr>
          <p:cNvPr id="7" name="Slide Number Placeholder 6">
            <a:extLst>
              <a:ext uri="{FF2B5EF4-FFF2-40B4-BE49-F238E27FC236}">
                <a16:creationId xmlns:a16="http://schemas.microsoft.com/office/drawing/2014/main" id="{9E266193-05BE-4ECF-99EB-2D3BDF57BA31}"/>
              </a:ext>
            </a:extLst>
          </p:cNvPr>
          <p:cNvSpPr>
            <a:spLocks noGrp="1"/>
          </p:cNvSpPr>
          <p:nvPr>
            <p:ph type="sldNum" sz="quarter" idx="12"/>
          </p:nvPr>
        </p:nvSpPr>
        <p:spPr/>
        <p:txBody>
          <a:bodyPr/>
          <a:lstStyle/>
          <a:p>
            <a:fld id="{CB1E4CB7-CB13-4810-BF18-BE31AFC64F93}" type="slidenum">
              <a:rPr lang="en-US" smtClean="0"/>
              <a:t>6</a:t>
            </a:fld>
            <a:endParaRPr lang="en-US"/>
          </a:p>
        </p:txBody>
      </p:sp>
      <p:sp>
        <p:nvSpPr>
          <p:cNvPr id="12" name="Footer Placeholder 4">
            <a:extLst>
              <a:ext uri="{FF2B5EF4-FFF2-40B4-BE49-F238E27FC236}">
                <a16:creationId xmlns:a16="http://schemas.microsoft.com/office/drawing/2014/main" id="{284DD07C-108C-46B0-A67A-1634CC13250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
        <p:nvSpPr>
          <p:cNvPr id="14" name="Rectangle 13">
            <a:extLst>
              <a:ext uri="{FF2B5EF4-FFF2-40B4-BE49-F238E27FC236}">
                <a16:creationId xmlns:a16="http://schemas.microsoft.com/office/drawing/2014/main" id="{6F3CDD9E-55B0-4C25-9ACA-F5745450B9FD}"/>
              </a:ext>
            </a:extLst>
          </p:cNvPr>
          <p:cNvSpPr/>
          <p:nvPr/>
        </p:nvSpPr>
        <p:spPr>
          <a:xfrm>
            <a:off x="932789" y="914400"/>
            <a:ext cx="7080466" cy="369332"/>
          </a:xfrm>
          <a:prstGeom prst="rect">
            <a:avLst/>
          </a:prstGeom>
        </p:spPr>
        <p:txBody>
          <a:bodyPr wrap="square">
            <a:spAutoFit/>
          </a:bodyPr>
          <a:lstStyle/>
          <a:p>
            <a:pPr algn="just"/>
            <a:r>
              <a:rPr lang="en-US" dirty="0">
                <a:latin typeface="Arial" panose="020B0604020202020204" pitchFamily="34" charset="0"/>
                <a:cs typeface="Arial" panose="020B0604020202020204" pitchFamily="34" charset="0"/>
              </a:rPr>
              <a:t>There are three operations in 6T SRAM cell.</a:t>
            </a:r>
          </a:p>
        </p:txBody>
      </p:sp>
      <p:sp>
        <p:nvSpPr>
          <p:cNvPr id="15" name="Rectangle 14">
            <a:extLst>
              <a:ext uri="{FF2B5EF4-FFF2-40B4-BE49-F238E27FC236}">
                <a16:creationId xmlns:a16="http://schemas.microsoft.com/office/drawing/2014/main" id="{8C312F26-5A07-4358-8D24-A7F114C4EAD2}"/>
              </a:ext>
            </a:extLst>
          </p:cNvPr>
          <p:cNvSpPr/>
          <p:nvPr/>
        </p:nvSpPr>
        <p:spPr>
          <a:xfrm>
            <a:off x="800760" y="1491526"/>
            <a:ext cx="4838039" cy="4524315"/>
          </a:xfrm>
          <a:prstGeom prst="rect">
            <a:avLst/>
          </a:prstGeom>
        </p:spPr>
        <p:txBody>
          <a:bodyPr wrap="square">
            <a:spAutoFit/>
          </a:bodyPr>
          <a:lstStyle/>
          <a:p>
            <a:pPr marL="342900" indent="-342900" algn="just">
              <a:buAutoNum type="arabicPeriod"/>
            </a:pPr>
            <a:r>
              <a:rPr lang="en-US" b="1" dirty="0">
                <a:latin typeface="Arial" panose="020B0604020202020204" pitchFamily="34" charset="0"/>
                <a:cs typeface="Arial" panose="020B0604020202020204" pitchFamily="34" charset="0"/>
              </a:rPr>
              <a:t>Hold</a:t>
            </a:r>
            <a:r>
              <a:rPr lang="en-US" dirty="0">
                <a:latin typeface="Arial" panose="020B0604020202020204" pitchFamily="34" charset="0"/>
                <a:cs typeface="Arial" panose="020B0604020202020204" pitchFamily="34" charset="0"/>
              </a:rPr>
              <a:t>: The access transistors are disabled (WL=0), the information is stored on the feedback-coupled inverter-pair.</a:t>
            </a:r>
          </a:p>
          <a:p>
            <a:pPr marL="342900" indent="-342900" algn="just">
              <a:buAutoNum type="arabicPeriod"/>
            </a:pPr>
            <a:endParaRPr lang="en-US" dirty="0">
              <a:latin typeface="Arial" panose="020B0604020202020204" pitchFamily="34" charset="0"/>
              <a:cs typeface="Arial" panose="020B0604020202020204" pitchFamily="34" charset="0"/>
            </a:endParaRPr>
          </a:p>
          <a:p>
            <a:pPr marL="342900" indent="-342900" algn="just">
              <a:buFontTx/>
              <a:buAutoNum type="arabicPeriod"/>
            </a:pPr>
            <a:r>
              <a:rPr lang="en-US" b="1" dirty="0">
                <a:latin typeface="Arial" panose="020B0604020202020204" pitchFamily="34" charset="0"/>
                <a:cs typeface="Arial" panose="020B0604020202020204" pitchFamily="34" charset="0"/>
              </a:rPr>
              <a:t>Read </a:t>
            </a:r>
            <a:r>
              <a:rPr lang="en-US" dirty="0">
                <a:latin typeface="Arial" panose="020B0604020202020204" pitchFamily="34" charset="0"/>
                <a:cs typeface="Arial" panose="020B0604020202020204" pitchFamily="34" charset="0"/>
              </a:rPr>
              <a:t>(0): Both bit-lines BL and BLB are pre-charged to V</a:t>
            </a:r>
            <a:r>
              <a:rPr lang="en-US" baseline="-25000" dirty="0">
                <a:latin typeface="Arial" panose="020B0604020202020204" pitchFamily="34" charset="0"/>
                <a:cs typeface="Arial" panose="020B0604020202020204" pitchFamily="34" charset="0"/>
              </a:rPr>
              <a:t>DD</a:t>
            </a:r>
            <a:r>
              <a:rPr lang="en-US" dirty="0">
                <a:latin typeface="Arial" panose="020B0604020202020204" pitchFamily="34" charset="0"/>
                <a:cs typeface="Arial" panose="020B0604020202020204" pitchFamily="34" charset="0"/>
              </a:rPr>
              <a:t>, then the access transistors are enabled (WL=1). The S (0) node provides a conducting path to ground through PD1 and discharge the BL via PD1 .</a:t>
            </a:r>
          </a:p>
          <a:p>
            <a:pPr marL="342900" indent="-342900" algn="just">
              <a:buFontTx/>
              <a:buAutoNum type="arabicPeriod"/>
            </a:pPr>
            <a:endParaRPr lang="en-US" dirty="0">
              <a:latin typeface="Arial" panose="020B0604020202020204" pitchFamily="34" charset="0"/>
              <a:cs typeface="Arial" panose="020B0604020202020204" pitchFamily="34" charset="0"/>
            </a:endParaRPr>
          </a:p>
          <a:p>
            <a:pPr marL="342900" indent="-342900" algn="just">
              <a:buFontTx/>
              <a:buAutoNum type="arabicPeriod"/>
            </a:pPr>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For Read stability,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 must not flip i.e. PD1 &gt;&gt; PG1 </a:t>
            </a:r>
          </a:p>
          <a:p>
            <a:pPr algn="just"/>
            <a:endParaRPr lang="en-US" dirty="0">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2EEEF5BE-89AF-44C2-B949-F10D3FE8E8E3}"/>
              </a:ext>
            </a:extLst>
          </p:cNvPr>
          <p:cNvGrpSpPr/>
          <p:nvPr/>
        </p:nvGrpSpPr>
        <p:grpSpPr>
          <a:xfrm>
            <a:off x="6439559" y="853967"/>
            <a:ext cx="4278365" cy="2971003"/>
            <a:chOff x="5856887" y="1295400"/>
            <a:chExt cx="5200650" cy="3581400"/>
          </a:xfrm>
        </p:grpSpPr>
        <p:grpSp>
          <p:nvGrpSpPr>
            <p:cNvPr id="19" name="Group 16">
              <a:extLst>
                <a:ext uri="{FF2B5EF4-FFF2-40B4-BE49-F238E27FC236}">
                  <a16:creationId xmlns:a16="http://schemas.microsoft.com/office/drawing/2014/main" id="{C60DF709-525D-48FB-9ADC-485DF519F2D0}"/>
                </a:ext>
              </a:extLst>
            </p:cNvPr>
            <p:cNvGrpSpPr/>
            <p:nvPr/>
          </p:nvGrpSpPr>
          <p:grpSpPr>
            <a:xfrm>
              <a:off x="5856887" y="1295400"/>
              <a:ext cx="5200650" cy="3581400"/>
              <a:chOff x="3429000" y="1524000"/>
              <a:chExt cx="5200650" cy="3581400"/>
            </a:xfrm>
          </p:grpSpPr>
          <p:pic>
            <p:nvPicPr>
              <p:cNvPr id="20" name="Picture 1">
                <a:extLst>
                  <a:ext uri="{FF2B5EF4-FFF2-40B4-BE49-F238E27FC236}">
                    <a16:creationId xmlns:a16="http://schemas.microsoft.com/office/drawing/2014/main" id="{BD437660-142C-4972-A4BB-6A98E3ED4519}"/>
                  </a:ext>
                </a:extLst>
              </p:cNvPr>
              <p:cNvPicPr>
                <a:picLocks noChangeAspect="1" noChangeArrowheads="1"/>
              </p:cNvPicPr>
              <p:nvPr/>
            </p:nvPicPr>
            <p:blipFill>
              <a:blip r:embed="rId3"/>
              <a:srcRect/>
              <a:stretch>
                <a:fillRect/>
              </a:stretch>
            </p:blipFill>
            <p:spPr bwMode="auto">
              <a:xfrm>
                <a:off x="3429000" y="1524000"/>
                <a:ext cx="5200650" cy="3581400"/>
              </a:xfrm>
              <a:prstGeom prst="rect">
                <a:avLst/>
              </a:prstGeom>
              <a:noFill/>
              <a:ln w="9525">
                <a:noFill/>
                <a:miter lim="800000"/>
                <a:headEnd/>
                <a:tailEnd/>
              </a:ln>
              <a:effectLst/>
            </p:spPr>
          </p:pic>
          <p:sp>
            <p:nvSpPr>
              <p:cNvPr id="21" name="TextBox 20">
                <a:extLst>
                  <a:ext uri="{FF2B5EF4-FFF2-40B4-BE49-F238E27FC236}">
                    <a16:creationId xmlns:a16="http://schemas.microsoft.com/office/drawing/2014/main" id="{5515539C-EB89-4192-8D4B-04B3AC0A2F5E}"/>
                  </a:ext>
                </a:extLst>
              </p:cNvPr>
              <p:cNvSpPr txBox="1"/>
              <p:nvPr/>
            </p:nvSpPr>
            <p:spPr>
              <a:xfrm>
                <a:off x="6934200" y="2999601"/>
                <a:ext cx="381000" cy="276999"/>
              </a:xfrm>
              <a:prstGeom prst="rect">
                <a:avLst/>
              </a:prstGeom>
              <a:solidFill>
                <a:schemeClr val="bg1"/>
              </a:solidFill>
            </p:spPr>
            <p:txBody>
              <a:bodyPr wrap="square" lIns="0" tIns="0" rIns="0" bIns="0" rtlCol="0">
                <a:spAutoFit/>
              </a:bodyPr>
              <a:lstStyle/>
              <a:p>
                <a:r>
                  <a:rPr lang="en-US" dirty="0">
                    <a:cs typeface="Times New Roman" pitchFamily="18" charset="0"/>
                  </a:rPr>
                  <a:t>SB</a:t>
                </a:r>
              </a:p>
            </p:txBody>
          </p:sp>
        </p:grpSp>
        <p:sp>
          <p:nvSpPr>
            <p:cNvPr id="22" name="TextBox 21">
              <a:extLst>
                <a:ext uri="{FF2B5EF4-FFF2-40B4-BE49-F238E27FC236}">
                  <a16:creationId xmlns:a16="http://schemas.microsoft.com/office/drawing/2014/main" id="{7888960B-1231-45B0-9BCE-50516022F89E}"/>
                </a:ext>
              </a:extLst>
            </p:cNvPr>
            <p:cNvSpPr txBox="1"/>
            <p:nvPr/>
          </p:nvSpPr>
          <p:spPr>
            <a:xfrm>
              <a:off x="9598573" y="2065671"/>
              <a:ext cx="493986" cy="296807"/>
            </a:xfrm>
            <a:prstGeom prst="rect">
              <a:avLst/>
            </a:prstGeom>
            <a:noFill/>
          </p:spPr>
          <p:txBody>
            <a:bodyPr wrap="square" lIns="0" tIns="0" rIns="0" bIns="0" rtlCol="0">
              <a:spAutoFit/>
            </a:bodyPr>
            <a:lstStyle/>
            <a:p>
              <a:r>
                <a:rPr lang="en-US" sz="1600" b="1" dirty="0">
                  <a:solidFill>
                    <a:schemeClr val="accent4">
                      <a:lumMod val="75000"/>
                      <a:lumOff val="25000"/>
                    </a:schemeClr>
                  </a:solidFill>
                  <a:cs typeface="Times New Roman" pitchFamily="18" charset="0"/>
                </a:rPr>
                <a:t>ON</a:t>
              </a:r>
              <a:endParaRPr lang="en-US" b="1" dirty="0">
                <a:solidFill>
                  <a:schemeClr val="accent4">
                    <a:lumMod val="75000"/>
                    <a:lumOff val="25000"/>
                  </a:schemeClr>
                </a:solidFill>
                <a:cs typeface="Times New Roman" pitchFamily="18" charset="0"/>
              </a:endParaRPr>
            </a:p>
          </p:txBody>
        </p:sp>
        <p:sp>
          <p:nvSpPr>
            <p:cNvPr id="23" name="TextBox 22">
              <a:extLst>
                <a:ext uri="{FF2B5EF4-FFF2-40B4-BE49-F238E27FC236}">
                  <a16:creationId xmlns:a16="http://schemas.microsoft.com/office/drawing/2014/main" id="{F8A8E4D1-DD93-4FF0-8358-8FE8F4637541}"/>
                </a:ext>
              </a:extLst>
            </p:cNvPr>
            <p:cNvSpPr txBox="1"/>
            <p:nvPr/>
          </p:nvSpPr>
          <p:spPr>
            <a:xfrm>
              <a:off x="6637279" y="3734192"/>
              <a:ext cx="493986" cy="296807"/>
            </a:xfrm>
            <a:prstGeom prst="rect">
              <a:avLst/>
            </a:prstGeom>
            <a:noFill/>
          </p:spPr>
          <p:txBody>
            <a:bodyPr wrap="square" lIns="0" tIns="0" rIns="0" bIns="0" rtlCol="0">
              <a:spAutoFit/>
            </a:bodyPr>
            <a:lstStyle/>
            <a:p>
              <a:r>
                <a:rPr lang="en-US" sz="1600" b="1" dirty="0">
                  <a:solidFill>
                    <a:schemeClr val="accent4">
                      <a:lumMod val="75000"/>
                      <a:lumOff val="25000"/>
                    </a:schemeClr>
                  </a:solidFill>
                  <a:cs typeface="Times New Roman" pitchFamily="18" charset="0"/>
                </a:rPr>
                <a:t>ON</a:t>
              </a:r>
              <a:endParaRPr lang="en-US" b="1" dirty="0">
                <a:solidFill>
                  <a:schemeClr val="accent4">
                    <a:lumMod val="75000"/>
                    <a:lumOff val="25000"/>
                  </a:schemeClr>
                </a:solidFill>
                <a:cs typeface="Times New Roman" pitchFamily="18" charset="0"/>
              </a:endParaRPr>
            </a:p>
          </p:txBody>
        </p:sp>
        <p:sp>
          <p:nvSpPr>
            <p:cNvPr id="24" name="TextBox 23">
              <a:extLst>
                <a:ext uri="{FF2B5EF4-FFF2-40B4-BE49-F238E27FC236}">
                  <a16:creationId xmlns:a16="http://schemas.microsoft.com/office/drawing/2014/main" id="{62E6399C-EFD4-4AC8-B915-C679B27411D7}"/>
                </a:ext>
              </a:extLst>
            </p:cNvPr>
            <p:cNvSpPr txBox="1"/>
            <p:nvPr/>
          </p:nvSpPr>
          <p:spPr>
            <a:xfrm>
              <a:off x="6852745" y="2015745"/>
              <a:ext cx="493986" cy="259707"/>
            </a:xfrm>
            <a:prstGeom prst="rect">
              <a:avLst/>
            </a:prstGeom>
            <a:noFill/>
          </p:spPr>
          <p:txBody>
            <a:bodyPr wrap="square" lIns="0" tIns="0" rIns="0" bIns="0" rtlCol="0">
              <a:spAutoFit/>
            </a:bodyPr>
            <a:lstStyle/>
            <a:p>
              <a:r>
                <a:rPr lang="en-US" sz="1400" b="1" dirty="0">
                  <a:solidFill>
                    <a:srgbClr val="FF0000"/>
                  </a:solidFill>
                  <a:cs typeface="Times New Roman" pitchFamily="18" charset="0"/>
                </a:rPr>
                <a:t>OFF</a:t>
              </a:r>
              <a:endParaRPr lang="en-US" b="1" dirty="0">
                <a:solidFill>
                  <a:srgbClr val="FF0000"/>
                </a:solidFill>
                <a:cs typeface="Times New Roman" pitchFamily="18" charset="0"/>
              </a:endParaRPr>
            </a:p>
          </p:txBody>
        </p:sp>
        <p:sp>
          <p:nvSpPr>
            <p:cNvPr id="25" name="TextBox 24">
              <a:extLst>
                <a:ext uri="{FF2B5EF4-FFF2-40B4-BE49-F238E27FC236}">
                  <a16:creationId xmlns:a16="http://schemas.microsoft.com/office/drawing/2014/main" id="{A266FF82-4219-42E5-807C-79DA01FC1AF3}"/>
                </a:ext>
              </a:extLst>
            </p:cNvPr>
            <p:cNvSpPr txBox="1"/>
            <p:nvPr/>
          </p:nvSpPr>
          <p:spPr>
            <a:xfrm>
              <a:off x="9735205" y="3718420"/>
              <a:ext cx="546187" cy="296807"/>
            </a:xfrm>
            <a:prstGeom prst="rect">
              <a:avLst/>
            </a:prstGeom>
            <a:noFill/>
          </p:spPr>
          <p:txBody>
            <a:bodyPr wrap="square" lIns="0" tIns="0" rIns="0" bIns="0" rtlCol="0">
              <a:spAutoFit/>
            </a:bodyPr>
            <a:lstStyle/>
            <a:p>
              <a:r>
                <a:rPr lang="en-US" sz="1600" b="1" dirty="0">
                  <a:solidFill>
                    <a:srgbClr val="FF0000"/>
                  </a:solidFill>
                  <a:cs typeface="Times New Roman" pitchFamily="18" charset="0"/>
                </a:rPr>
                <a:t>OFF</a:t>
              </a:r>
            </a:p>
          </p:txBody>
        </p:sp>
      </p:grpSp>
      <p:grpSp>
        <p:nvGrpSpPr>
          <p:cNvPr id="31" name="Group 30">
            <a:extLst>
              <a:ext uri="{FF2B5EF4-FFF2-40B4-BE49-F238E27FC236}">
                <a16:creationId xmlns:a16="http://schemas.microsoft.com/office/drawing/2014/main" id="{BA74A3F8-6953-427D-8BD1-0DE72D8B996C}"/>
              </a:ext>
            </a:extLst>
          </p:cNvPr>
          <p:cNvGrpSpPr/>
          <p:nvPr/>
        </p:nvGrpSpPr>
        <p:grpSpPr>
          <a:xfrm>
            <a:off x="6779172" y="3782137"/>
            <a:ext cx="3316010" cy="2622124"/>
            <a:chOff x="7005144" y="3774829"/>
            <a:chExt cx="3058510" cy="2419231"/>
          </a:xfrm>
        </p:grpSpPr>
        <p:pic>
          <p:nvPicPr>
            <p:cNvPr id="6" name="Picture 5">
              <a:extLst>
                <a:ext uri="{FF2B5EF4-FFF2-40B4-BE49-F238E27FC236}">
                  <a16:creationId xmlns:a16="http://schemas.microsoft.com/office/drawing/2014/main" id="{D03780A7-8100-448A-995A-E1B73245DC93}"/>
                </a:ext>
              </a:extLst>
            </p:cNvPr>
            <p:cNvPicPr>
              <a:picLocks noChangeAspect="1"/>
            </p:cNvPicPr>
            <p:nvPr/>
          </p:nvPicPr>
          <p:blipFill>
            <a:blip r:embed="rId4"/>
            <a:stretch>
              <a:fillRect/>
            </a:stretch>
          </p:blipFill>
          <p:spPr>
            <a:xfrm>
              <a:off x="7005144" y="3774829"/>
              <a:ext cx="3058510" cy="2419231"/>
            </a:xfrm>
            <a:prstGeom prst="rect">
              <a:avLst/>
            </a:prstGeom>
          </p:spPr>
        </p:pic>
        <p:grpSp>
          <p:nvGrpSpPr>
            <p:cNvPr id="11" name="Group 10">
              <a:extLst>
                <a:ext uri="{FF2B5EF4-FFF2-40B4-BE49-F238E27FC236}">
                  <a16:creationId xmlns:a16="http://schemas.microsoft.com/office/drawing/2014/main" id="{D41548A4-E4C4-4933-A5D8-5010324A47DE}"/>
                </a:ext>
              </a:extLst>
            </p:cNvPr>
            <p:cNvGrpSpPr/>
            <p:nvPr/>
          </p:nvGrpSpPr>
          <p:grpSpPr>
            <a:xfrm>
              <a:off x="7487937" y="3841728"/>
              <a:ext cx="1835209" cy="1763641"/>
              <a:chOff x="7487937" y="3841728"/>
              <a:chExt cx="1835209" cy="1763641"/>
            </a:xfrm>
          </p:grpSpPr>
          <p:sp>
            <p:nvSpPr>
              <p:cNvPr id="26" name="TextBox 25">
                <a:extLst>
                  <a:ext uri="{FF2B5EF4-FFF2-40B4-BE49-F238E27FC236}">
                    <a16:creationId xmlns:a16="http://schemas.microsoft.com/office/drawing/2014/main" id="{740BBA1B-3B6E-4D15-93E2-4A517D160B52}"/>
                  </a:ext>
                </a:extLst>
              </p:cNvPr>
              <p:cNvSpPr txBox="1"/>
              <p:nvPr/>
            </p:nvSpPr>
            <p:spPr>
              <a:xfrm>
                <a:off x="7487937" y="4855074"/>
                <a:ext cx="436863" cy="215444"/>
              </a:xfrm>
              <a:prstGeom prst="rect">
                <a:avLst/>
              </a:prstGeom>
              <a:solidFill>
                <a:schemeClr val="bg1"/>
              </a:solidFill>
            </p:spPr>
            <p:txBody>
              <a:bodyPr wrap="square" lIns="0" tIns="0" rIns="0" bIns="0" rtlCol="0">
                <a:spAutoFit/>
              </a:bodyPr>
              <a:lstStyle/>
              <a:p>
                <a:pPr algn="r"/>
                <a:r>
                  <a:rPr lang="en-IN" sz="1400" dirty="0">
                    <a:latin typeface="Arial" panose="020B0604020202020204" pitchFamily="34" charset="0"/>
                    <a:cs typeface="Arial" panose="020B0604020202020204" pitchFamily="34" charset="0"/>
                  </a:rPr>
                  <a:t>WL</a:t>
                </a:r>
              </a:p>
            </p:txBody>
          </p:sp>
          <p:sp>
            <p:nvSpPr>
              <p:cNvPr id="27" name="TextBox 26">
                <a:extLst>
                  <a:ext uri="{FF2B5EF4-FFF2-40B4-BE49-F238E27FC236}">
                    <a16:creationId xmlns:a16="http://schemas.microsoft.com/office/drawing/2014/main" id="{EDC101BA-5CB6-467D-A02B-270AB5C84FB9}"/>
                  </a:ext>
                </a:extLst>
              </p:cNvPr>
              <p:cNvSpPr txBox="1"/>
              <p:nvPr/>
            </p:nvSpPr>
            <p:spPr>
              <a:xfrm>
                <a:off x="8253673" y="5389925"/>
                <a:ext cx="207153" cy="215444"/>
              </a:xfrm>
              <a:prstGeom prst="rect">
                <a:avLst/>
              </a:prstGeom>
              <a:solidFill>
                <a:schemeClr val="bg1"/>
              </a:solidFill>
            </p:spPr>
            <p:txBody>
              <a:bodyPr wrap="square" lIns="0" tIns="0" rIns="0" bIns="0" rtlCol="0">
                <a:spAutoFit/>
              </a:bodyPr>
              <a:lstStyle/>
              <a:p>
                <a:r>
                  <a:rPr lang="en-IN" sz="1400" dirty="0">
                    <a:latin typeface="Arial" panose="020B0604020202020204" pitchFamily="34" charset="0"/>
                    <a:cs typeface="Arial" panose="020B0604020202020204" pitchFamily="34" charset="0"/>
                  </a:rPr>
                  <a:t>S</a:t>
                </a:r>
              </a:p>
            </p:txBody>
          </p:sp>
          <p:sp>
            <p:nvSpPr>
              <p:cNvPr id="28" name="TextBox 27">
                <a:extLst>
                  <a:ext uri="{FF2B5EF4-FFF2-40B4-BE49-F238E27FC236}">
                    <a16:creationId xmlns:a16="http://schemas.microsoft.com/office/drawing/2014/main" id="{892305B0-5CEB-46A1-97AA-01DC1B84494D}"/>
                  </a:ext>
                </a:extLst>
              </p:cNvPr>
              <p:cNvSpPr txBox="1"/>
              <p:nvPr/>
            </p:nvSpPr>
            <p:spPr>
              <a:xfrm>
                <a:off x="8951666" y="3885906"/>
                <a:ext cx="371480" cy="215444"/>
              </a:xfrm>
              <a:prstGeom prst="rect">
                <a:avLst/>
              </a:prstGeom>
              <a:solidFill>
                <a:schemeClr val="bg1"/>
              </a:solidFill>
            </p:spPr>
            <p:txBody>
              <a:bodyPr wrap="square" lIns="0" tIns="0" rIns="0" bIns="0" rtlCol="0">
                <a:spAutoFit/>
              </a:bodyPr>
              <a:lstStyle/>
              <a:p>
                <a:r>
                  <a:rPr lang="en-IN" sz="1400" dirty="0">
                    <a:latin typeface="Arial" panose="020B0604020202020204" pitchFamily="34" charset="0"/>
                    <a:cs typeface="Arial" panose="020B0604020202020204" pitchFamily="34" charset="0"/>
                  </a:rPr>
                  <a:t>BLB</a:t>
                </a:r>
              </a:p>
            </p:txBody>
          </p:sp>
          <p:sp>
            <p:nvSpPr>
              <p:cNvPr id="29" name="TextBox 28">
                <a:extLst>
                  <a:ext uri="{FF2B5EF4-FFF2-40B4-BE49-F238E27FC236}">
                    <a16:creationId xmlns:a16="http://schemas.microsoft.com/office/drawing/2014/main" id="{AC2EE5B0-69B4-4CF7-B621-DFBDCDA8C47C}"/>
                  </a:ext>
                </a:extLst>
              </p:cNvPr>
              <p:cNvSpPr txBox="1"/>
              <p:nvPr/>
            </p:nvSpPr>
            <p:spPr>
              <a:xfrm>
                <a:off x="8617493" y="4777032"/>
                <a:ext cx="371480" cy="215444"/>
              </a:xfrm>
              <a:prstGeom prst="rect">
                <a:avLst/>
              </a:prstGeom>
              <a:solidFill>
                <a:schemeClr val="bg1"/>
              </a:solidFill>
            </p:spPr>
            <p:txBody>
              <a:bodyPr wrap="square" lIns="0" tIns="0" rIns="0" bIns="0" rtlCol="0">
                <a:spAutoFit/>
              </a:bodyPr>
              <a:lstStyle/>
              <a:p>
                <a:r>
                  <a:rPr lang="en-IN" sz="1400" dirty="0">
                    <a:latin typeface="Arial" panose="020B0604020202020204" pitchFamily="34" charset="0"/>
                    <a:cs typeface="Arial" panose="020B0604020202020204" pitchFamily="34" charset="0"/>
                  </a:rPr>
                  <a:t>BL</a:t>
                </a:r>
              </a:p>
            </p:txBody>
          </p:sp>
          <p:sp>
            <p:nvSpPr>
              <p:cNvPr id="30" name="TextBox 29">
                <a:extLst>
                  <a:ext uri="{FF2B5EF4-FFF2-40B4-BE49-F238E27FC236}">
                    <a16:creationId xmlns:a16="http://schemas.microsoft.com/office/drawing/2014/main" id="{43E23978-B1DE-41A6-B867-3AC4BDE62830}"/>
                  </a:ext>
                </a:extLst>
              </p:cNvPr>
              <p:cNvSpPr txBox="1"/>
              <p:nvPr/>
            </p:nvSpPr>
            <p:spPr>
              <a:xfrm>
                <a:off x="8025418" y="3841728"/>
                <a:ext cx="371480" cy="215444"/>
              </a:xfrm>
              <a:prstGeom prst="rect">
                <a:avLst/>
              </a:prstGeom>
              <a:solidFill>
                <a:schemeClr val="bg1"/>
              </a:solidFill>
            </p:spPr>
            <p:txBody>
              <a:bodyPr wrap="square" lIns="0" tIns="0" rIns="0" bIns="0" rtlCol="0">
                <a:spAutoFit/>
              </a:bodyPr>
              <a:lstStyle/>
              <a:p>
                <a:r>
                  <a:rPr lang="en-IN" sz="1400" dirty="0">
                    <a:latin typeface="Arial" panose="020B0604020202020204" pitchFamily="34" charset="0"/>
                    <a:cs typeface="Arial" panose="020B0604020202020204" pitchFamily="34" charset="0"/>
                  </a:rPr>
                  <a:t>SB</a:t>
                </a:r>
              </a:p>
            </p:txBody>
          </p:sp>
        </p:grpSp>
      </p:grpSp>
    </p:spTree>
    <p:extLst>
      <p:ext uri="{BB962C8B-B14F-4D97-AF65-F5344CB8AC3E}">
        <p14:creationId xmlns:p14="http://schemas.microsoft.com/office/powerpoint/2010/main" val="14112226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D558C41F-E585-4B9A-B46E-36B235D2B262}"/>
              </a:ext>
            </a:extLst>
          </p:cNvPr>
          <p:cNvSpPr txBox="1">
            <a:spLocks/>
          </p:cNvSpPr>
          <p:nvPr/>
        </p:nvSpPr>
        <p:spPr>
          <a:xfrm>
            <a:off x="111760" y="72454"/>
            <a:ext cx="7101840" cy="686500"/>
          </a:xfrm>
          <a:prstGeom prst="rect">
            <a:avLst/>
          </a:prstGeom>
        </p:spPr>
        <p:txBody>
          <a:bodyPr vert="horz" lIns="91440" tIns="45720" rIns="91440" bIns="45720" rtlCol="0" anchor="t">
            <a:noAutofit/>
          </a:bodyPr>
          <a:lst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a:lstStyle>
          <a:p>
            <a:pPr algn="just"/>
            <a:r>
              <a:rPr lang="en-IN" sz="3400" dirty="0">
                <a:cs typeface="Aharoni" panose="02010803020104030203" pitchFamily="2" charset="-79"/>
              </a:rPr>
              <a:t>SRAM</a:t>
            </a:r>
          </a:p>
        </p:txBody>
      </p:sp>
      <p:sp>
        <p:nvSpPr>
          <p:cNvPr id="7" name="Slide Number Placeholder 6">
            <a:extLst>
              <a:ext uri="{FF2B5EF4-FFF2-40B4-BE49-F238E27FC236}">
                <a16:creationId xmlns:a16="http://schemas.microsoft.com/office/drawing/2014/main" id="{9E266193-05BE-4ECF-99EB-2D3BDF57BA31}"/>
              </a:ext>
            </a:extLst>
          </p:cNvPr>
          <p:cNvSpPr>
            <a:spLocks noGrp="1"/>
          </p:cNvSpPr>
          <p:nvPr>
            <p:ph type="sldNum" sz="quarter" idx="12"/>
          </p:nvPr>
        </p:nvSpPr>
        <p:spPr/>
        <p:txBody>
          <a:bodyPr/>
          <a:lstStyle/>
          <a:p>
            <a:fld id="{CB1E4CB7-CB13-4810-BF18-BE31AFC64F93}" type="slidenum">
              <a:rPr lang="en-US" smtClean="0"/>
              <a:t>7</a:t>
            </a:fld>
            <a:endParaRPr lang="en-US"/>
          </a:p>
        </p:txBody>
      </p:sp>
      <p:sp>
        <p:nvSpPr>
          <p:cNvPr id="12" name="Footer Placeholder 4">
            <a:extLst>
              <a:ext uri="{FF2B5EF4-FFF2-40B4-BE49-F238E27FC236}">
                <a16:creationId xmlns:a16="http://schemas.microsoft.com/office/drawing/2014/main" id="{284DD07C-108C-46B0-A67A-1634CC13250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
        <p:nvSpPr>
          <p:cNvPr id="13" name="Rectangle 12">
            <a:extLst>
              <a:ext uri="{FF2B5EF4-FFF2-40B4-BE49-F238E27FC236}">
                <a16:creationId xmlns:a16="http://schemas.microsoft.com/office/drawing/2014/main" id="{68DD32FA-EBCA-4D3C-9D22-0AC3B444E0FC}"/>
              </a:ext>
            </a:extLst>
          </p:cNvPr>
          <p:cNvSpPr/>
          <p:nvPr/>
        </p:nvSpPr>
        <p:spPr>
          <a:xfrm>
            <a:off x="5856887" y="5105400"/>
            <a:ext cx="5257800" cy="872034"/>
          </a:xfrm>
          <a:prstGeom prst="rect">
            <a:avLst/>
          </a:prstGeom>
        </p:spPr>
        <p:txBody>
          <a:bodyPr wrap="square">
            <a:spAutoFit/>
          </a:bodyPr>
          <a:lstStyle/>
          <a:p>
            <a:pPr algn="ctr">
              <a:lnSpc>
                <a:spcPct val="150000"/>
              </a:lnSpc>
            </a:pPr>
            <a:r>
              <a:rPr lang="en-US" b="1" dirty="0">
                <a:latin typeface="Arial" panose="020B0604020202020204" pitchFamily="34" charset="0"/>
                <a:cs typeface="Arial" panose="020B0604020202020204" pitchFamily="34" charset="0"/>
              </a:rPr>
              <a:t>Fig. 8 </a:t>
            </a:r>
            <a:r>
              <a:rPr lang="en-US" dirty="0">
                <a:latin typeface="Arial" panose="020B0604020202020204" pitchFamily="34" charset="0"/>
                <a:cs typeface="Arial" panose="020B0604020202020204" pitchFamily="34" charset="0"/>
              </a:rPr>
              <a:t>CMOS standard six-transistor (6T) SRAM </a:t>
            </a:r>
            <a:r>
              <a:rPr lang="en-US" dirty="0" err="1">
                <a:latin typeface="Arial" panose="020B0604020202020204" pitchFamily="34" charset="0"/>
                <a:cs typeface="Arial" panose="020B0604020202020204" pitchFamily="34" charset="0"/>
              </a:rPr>
              <a:t>bitcell</a:t>
            </a:r>
            <a:r>
              <a:rPr lang="en-US" dirty="0">
                <a:latin typeface="Arial" panose="020B0604020202020204" pitchFamily="34" charset="0"/>
                <a:cs typeface="Arial" panose="020B0604020202020204" pitchFamily="34" charset="0"/>
              </a:rPr>
              <a:t>. </a:t>
            </a:r>
          </a:p>
        </p:txBody>
      </p:sp>
      <p:grpSp>
        <p:nvGrpSpPr>
          <p:cNvPr id="19" name="Group 16">
            <a:extLst>
              <a:ext uri="{FF2B5EF4-FFF2-40B4-BE49-F238E27FC236}">
                <a16:creationId xmlns:a16="http://schemas.microsoft.com/office/drawing/2014/main" id="{C60DF709-525D-48FB-9ADC-485DF519F2D0}"/>
              </a:ext>
            </a:extLst>
          </p:cNvPr>
          <p:cNvGrpSpPr/>
          <p:nvPr/>
        </p:nvGrpSpPr>
        <p:grpSpPr>
          <a:xfrm>
            <a:off x="5856887" y="1295400"/>
            <a:ext cx="5200650" cy="3581400"/>
            <a:chOff x="3429000" y="1524000"/>
            <a:chExt cx="5200650" cy="3581400"/>
          </a:xfrm>
        </p:grpSpPr>
        <p:pic>
          <p:nvPicPr>
            <p:cNvPr id="20" name="Picture 1">
              <a:extLst>
                <a:ext uri="{FF2B5EF4-FFF2-40B4-BE49-F238E27FC236}">
                  <a16:creationId xmlns:a16="http://schemas.microsoft.com/office/drawing/2014/main" id="{BD437660-142C-4972-A4BB-6A98E3ED4519}"/>
                </a:ext>
              </a:extLst>
            </p:cNvPr>
            <p:cNvPicPr>
              <a:picLocks noChangeAspect="1" noChangeArrowheads="1"/>
            </p:cNvPicPr>
            <p:nvPr/>
          </p:nvPicPr>
          <p:blipFill>
            <a:blip r:embed="rId2"/>
            <a:srcRect/>
            <a:stretch>
              <a:fillRect/>
            </a:stretch>
          </p:blipFill>
          <p:spPr bwMode="auto">
            <a:xfrm>
              <a:off x="3429000" y="1524000"/>
              <a:ext cx="5200650" cy="3581400"/>
            </a:xfrm>
            <a:prstGeom prst="rect">
              <a:avLst/>
            </a:prstGeom>
            <a:noFill/>
            <a:ln w="9525">
              <a:noFill/>
              <a:miter lim="800000"/>
              <a:headEnd/>
              <a:tailEnd/>
            </a:ln>
            <a:effectLst/>
          </p:spPr>
        </p:pic>
        <p:sp>
          <p:nvSpPr>
            <p:cNvPr id="21" name="TextBox 20">
              <a:extLst>
                <a:ext uri="{FF2B5EF4-FFF2-40B4-BE49-F238E27FC236}">
                  <a16:creationId xmlns:a16="http://schemas.microsoft.com/office/drawing/2014/main" id="{5515539C-EB89-4192-8D4B-04B3AC0A2F5E}"/>
                </a:ext>
              </a:extLst>
            </p:cNvPr>
            <p:cNvSpPr txBox="1"/>
            <p:nvPr/>
          </p:nvSpPr>
          <p:spPr>
            <a:xfrm>
              <a:off x="6934200" y="2999601"/>
              <a:ext cx="381000" cy="276999"/>
            </a:xfrm>
            <a:prstGeom prst="rect">
              <a:avLst/>
            </a:prstGeom>
            <a:solidFill>
              <a:schemeClr val="bg1"/>
            </a:solidFill>
          </p:spPr>
          <p:txBody>
            <a:bodyPr wrap="square" lIns="0" tIns="0" rIns="0" bIns="0" rtlCol="0">
              <a:spAutoFit/>
            </a:bodyPr>
            <a:lstStyle/>
            <a:p>
              <a:r>
                <a:rPr lang="en-US" dirty="0">
                  <a:cs typeface="Times New Roman" pitchFamily="18" charset="0"/>
                </a:rPr>
                <a:t>SB</a:t>
              </a:r>
            </a:p>
          </p:txBody>
        </p:sp>
      </p:grpSp>
      <p:sp>
        <p:nvSpPr>
          <p:cNvPr id="14" name="Rectangle 13">
            <a:extLst>
              <a:ext uri="{FF2B5EF4-FFF2-40B4-BE49-F238E27FC236}">
                <a16:creationId xmlns:a16="http://schemas.microsoft.com/office/drawing/2014/main" id="{6F3CDD9E-55B0-4C25-9ACA-F5745450B9FD}"/>
              </a:ext>
            </a:extLst>
          </p:cNvPr>
          <p:cNvSpPr/>
          <p:nvPr/>
        </p:nvSpPr>
        <p:spPr>
          <a:xfrm>
            <a:off x="932789" y="914400"/>
            <a:ext cx="7080466" cy="369332"/>
          </a:xfrm>
          <a:prstGeom prst="rect">
            <a:avLst/>
          </a:prstGeom>
        </p:spPr>
        <p:txBody>
          <a:bodyPr wrap="square">
            <a:spAutoFit/>
          </a:bodyPr>
          <a:lstStyle/>
          <a:p>
            <a:pPr algn="just"/>
            <a:r>
              <a:rPr lang="en-US" dirty="0">
                <a:latin typeface="Arial" panose="020B0604020202020204" pitchFamily="34" charset="0"/>
                <a:cs typeface="Arial" panose="020B0604020202020204" pitchFamily="34" charset="0"/>
              </a:rPr>
              <a:t>There are three operations in 6T SRAM cell.</a:t>
            </a:r>
          </a:p>
        </p:txBody>
      </p:sp>
      <p:sp>
        <p:nvSpPr>
          <p:cNvPr id="15" name="Rectangle 14">
            <a:extLst>
              <a:ext uri="{FF2B5EF4-FFF2-40B4-BE49-F238E27FC236}">
                <a16:creationId xmlns:a16="http://schemas.microsoft.com/office/drawing/2014/main" id="{8C312F26-5A07-4358-8D24-A7F114C4EAD2}"/>
              </a:ext>
            </a:extLst>
          </p:cNvPr>
          <p:cNvSpPr/>
          <p:nvPr/>
        </p:nvSpPr>
        <p:spPr>
          <a:xfrm>
            <a:off x="800760" y="1491526"/>
            <a:ext cx="4838039" cy="2585323"/>
          </a:xfrm>
          <a:prstGeom prst="rect">
            <a:avLst/>
          </a:prstGeom>
        </p:spPr>
        <p:txBody>
          <a:bodyPr wrap="square">
            <a:spAutoFit/>
          </a:bodyPr>
          <a:lstStyle/>
          <a:p>
            <a:pPr marL="342900" indent="-342900" algn="just">
              <a:buFont typeface="+mj-lt"/>
              <a:buAutoNum type="arabicPeriod" startAt="3"/>
            </a:pPr>
            <a:r>
              <a:rPr lang="en-US" b="1" dirty="0">
                <a:latin typeface="Arial" panose="020B0604020202020204" pitchFamily="34" charset="0"/>
                <a:cs typeface="Arial" panose="020B0604020202020204" pitchFamily="34" charset="0"/>
              </a:rPr>
              <a:t>Write</a:t>
            </a:r>
            <a:r>
              <a:rPr lang="en-US" dirty="0">
                <a:latin typeface="Arial" panose="020B0604020202020204" pitchFamily="34" charset="0"/>
                <a:cs typeface="Arial" panose="020B0604020202020204" pitchFamily="34" charset="0"/>
              </a:rPr>
              <a:t> (0 to 1): For write “1” operation (BL=1, BLB=0, WL=1), BL charge the node S through PG1 above the V</a:t>
            </a:r>
            <a:r>
              <a:rPr lang="en-US" baseline="-25000" dirty="0">
                <a:latin typeface="Arial" panose="020B0604020202020204" pitchFamily="34" charset="0"/>
                <a:cs typeface="Arial" panose="020B0604020202020204" pitchFamily="34" charset="0"/>
              </a:rPr>
              <a:t>TH</a:t>
            </a:r>
            <a:r>
              <a:rPr lang="en-US" dirty="0">
                <a:latin typeface="Arial" panose="020B0604020202020204" pitchFamily="34" charset="0"/>
                <a:cs typeface="Arial" panose="020B0604020202020204" pitchFamily="34" charset="0"/>
              </a:rPr>
              <a:t> of PL2 and flip the nodes.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For writability,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PG1 must overpower the feedback inverter i.e. PG1 &gt;&gt; PL2 </a:t>
            </a:r>
          </a:p>
        </p:txBody>
      </p:sp>
      <p:sp>
        <p:nvSpPr>
          <p:cNvPr id="22" name="TextBox 21">
            <a:extLst>
              <a:ext uri="{FF2B5EF4-FFF2-40B4-BE49-F238E27FC236}">
                <a16:creationId xmlns:a16="http://schemas.microsoft.com/office/drawing/2014/main" id="{7888960B-1231-45B0-9BCE-50516022F89E}"/>
              </a:ext>
            </a:extLst>
          </p:cNvPr>
          <p:cNvSpPr txBox="1"/>
          <p:nvPr/>
        </p:nvSpPr>
        <p:spPr>
          <a:xfrm>
            <a:off x="9598573" y="2065671"/>
            <a:ext cx="493986" cy="276999"/>
          </a:xfrm>
          <a:prstGeom prst="rect">
            <a:avLst/>
          </a:prstGeom>
          <a:noFill/>
        </p:spPr>
        <p:txBody>
          <a:bodyPr wrap="square" lIns="0" tIns="0" rIns="0" bIns="0" rtlCol="0">
            <a:spAutoFit/>
          </a:bodyPr>
          <a:lstStyle/>
          <a:p>
            <a:r>
              <a:rPr lang="en-US" b="1" dirty="0">
                <a:solidFill>
                  <a:schemeClr val="accent4">
                    <a:lumMod val="75000"/>
                    <a:lumOff val="25000"/>
                  </a:schemeClr>
                </a:solidFill>
                <a:cs typeface="Times New Roman" pitchFamily="18" charset="0"/>
              </a:rPr>
              <a:t>ON</a:t>
            </a:r>
          </a:p>
        </p:txBody>
      </p:sp>
      <p:sp>
        <p:nvSpPr>
          <p:cNvPr id="23" name="TextBox 22">
            <a:extLst>
              <a:ext uri="{FF2B5EF4-FFF2-40B4-BE49-F238E27FC236}">
                <a16:creationId xmlns:a16="http://schemas.microsoft.com/office/drawing/2014/main" id="{F8A8E4D1-DD93-4FF0-8358-8FE8F4637541}"/>
              </a:ext>
            </a:extLst>
          </p:cNvPr>
          <p:cNvSpPr txBox="1"/>
          <p:nvPr/>
        </p:nvSpPr>
        <p:spPr>
          <a:xfrm>
            <a:off x="6637279" y="3734192"/>
            <a:ext cx="493986" cy="276999"/>
          </a:xfrm>
          <a:prstGeom prst="rect">
            <a:avLst/>
          </a:prstGeom>
          <a:noFill/>
        </p:spPr>
        <p:txBody>
          <a:bodyPr wrap="square" lIns="0" tIns="0" rIns="0" bIns="0" rtlCol="0">
            <a:spAutoFit/>
          </a:bodyPr>
          <a:lstStyle/>
          <a:p>
            <a:r>
              <a:rPr lang="en-US" b="1" dirty="0">
                <a:solidFill>
                  <a:schemeClr val="accent4">
                    <a:lumMod val="75000"/>
                    <a:lumOff val="25000"/>
                  </a:schemeClr>
                </a:solidFill>
                <a:cs typeface="Times New Roman" pitchFamily="18" charset="0"/>
              </a:rPr>
              <a:t>ON</a:t>
            </a:r>
          </a:p>
        </p:txBody>
      </p:sp>
      <p:sp>
        <p:nvSpPr>
          <p:cNvPr id="24" name="TextBox 23">
            <a:extLst>
              <a:ext uri="{FF2B5EF4-FFF2-40B4-BE49-F238E27FC236}">
                <a16:creationId xmlns:a16="http://schemas.microsoft.com/office/drawing/2014/main" id="{62E6399C-EFD4-4AC8-B915-C679B27411D7}"/>
              </a:ext>
            </a:extLst>
          </p:cNvPr>
          <p:cNvSpPr txBox="1"/>
          <p:nvPr/>
        </p:nvSpPr>
        <p:spPr>
          <a:xfrm>
            <a:off x="6852745" y="2015745"/>
            <a:ext cx="493986" cy="276999"/>
          </a:xfrm>
          <a:prstGeom prst="rect">
            <a:avLst/>
          </a:prstGeom>
          <a:noFill/>
        </p:spPr>
        <p:txBody>
          <a:bodyPr wrap="square" lIns="0" tIns="0" rIns="0" bIns="0" rtlCol="0">
            <a:spAutoFit/>
          </a:bodyPr>
          <a:lstStyle/>
          <a:p>
            <a:r>
              <a:rPr lang="en-US" b="1" dirty="0">
                <a:solidFill>
                  <a:srgbClr val="FF0000"/>
                </a:solidFill>
                <a:cs typeface="Times New Roman" pitchFamily="18" charset="0"/>
              </a:rPr>
              <a:t>OFF</a:t>
            </a:r>
          </a:p>
        </p:txBody>
      </p:sp>
      <p:sp>
        <p:nvSpPr>
          <p:cNvPr id="25" name="TextBox 24">
            <a:extLst>
              <a:ext uri="{FF2B5EF4-FFF2-40B4-BE49-F238E27FC236}">
                <a16:creationId xmlns:a16="http://schemas.microsoft.com/office/drawing/2014/main" id="{A266FF82-4219-42E5-807C-79DA01FC1AF3}"/>
              </a:ext>
            </a:extLst>
          </p:cNvPr>
          <p:cNvSpPr txBox="1"/>
          <p:nvPr/>
        </p:nvSpPr>
        <p:spPr>
          <a:xfrm>
            <a:off x="9735205" y="3718419"/>
            <a:ext cx="493986" cy="276999"/>
          </a:xfrm>
          <a:prstGeom prst="rect">
            <a:avLst/>
          </a:prstGeom>
          <a:noFill/>
        </p:spPr>
        <p:txBody>
          <a:bodyPr wrap="square" lIns="0" tIns="0" rIns="0" bIns="0" rtlCol="0">
            <a:spAutoFit/>
          </a:bodyPr>
          <a:lstStyle/>
          <a:p>
            <a:r>
              <a:rPr lang="en-US" b="1" dirty="0">
                <a:solidFill>
                  <a:srgbClr val="FF0000"/>
                </a:solidFill>
                <a:cs typeface="Times New Roman" pitchFamily="18" charset="0"/>
              </a:rPr>
              <a:t>OFF</a:t>
            </a:r>
          </a:p>
        </p:txBody>
      </p:sp>
      <p:grpSp>
        <p:nvGrpSpPr>
          <p:cNvPr id="5" name="Group 4">
            <a:extLst>
              <a:ext uri="{FF2B5EF4-FFF2-40B4-BE49-F238E27FC236}">
                <a16:creationId xmlns:a16="http://schemas.microsoft.com/office/drawing/2014/main" id="{4DADCDF5-8FA3-48C4-AE89-F1E8F02CD80B}"/>
              </a:ext>
            </a:extLst>
          </p:cNvPr>
          <p:cNvGrpSpPr/>
          <p:nvPr/>
        </p:nvGrpSpPr>
        <p:grpSpPr>
          <a:xfrm>
            <a:off x="1592600" y="4113487"/>
            <a:ext cx="3392025" cy="2229992"/>
            <a:chOff x="2092398" y="4076850"/>
            <a:chExt cx="3392025" cy="2229992"/>
          </a:xfrm>
        </p:grpSpPr>
        <p:pic>
          <p:nvPicPr>
            <p:cNvPr id="2" name="Picture 1">
              <a:extLst>
                <a:ext uri="{FF2B5EF4-FFF2-40B4-BE49-F238E27FC236}">
                  <a16:creationId xmlns:a16="http://schemas.microsoft.com/office/drawing/2014/main" id="{2C337C14-14FD-4A06-B261-D1B904843CF3}"/>
                </a:ext>
              </a:extLst>
            </p:cNvPr>
            <p:cNvPicPr>
              <a:picLocks noChangeAspect="1"/>
            </p:cNvPicPr>
            <p:nvPr/>
          </p:nvPicPr>
          <p:blipFill>
            <a:blip r:embed="rId3"/>
            <a:stretch>
              <a:fillRect/>
            </a:stretch>
          </p:blipFill>
          <p:spPr>
            <a:xfrm>
              <a:off x="2092398" y="4076850"/>
              <a:ext cx="3392025" cy="2229992"/>
            </a:xfrm>
            <a:prstGeom prst="rect">
              <a:avLst/>
            </a:prstGeom>
          </p:spPr>
        </p:pic>
        <p:sp>
          <p:nvSpPr>
            <p:cNvPr id="3" name="TextBox 2">
              <a:extLst>
                <a:ext uri="{FF2B5EF4-FFF2-40B4-BE49-F238E27FC236}">
                  <a16:creationId xmlns:a16="http://schemas.microsoft.com/office/drawing/2014/main" id="{A3B276B9-75D4-4460-AC74-FB62DF919CCA}"/>
                </a:ext>
              </a:extLst>
            </p:cNvPr>
            <p:cNvSpPr txBox="1"/>
            <p:nvPr/>
          </p:nvSpPr>
          <p:spPr>
            <a:xfrm>
              <a:off x="2993805" y="4147821"/>
              <a:ext cx="358995" cy="215444"/>
            </a:xfrm>
            <a:prstGeom prst="rect">
              <a:avLst/>
            </a:prstGeom>
            <a:solidFill>
              <a:schemeClr val="bg1"/>
            </a:solidFill>
          </p:spPr>
          <p:txBody>
            <a:bodyPr wrap="square" lIns="0" tIns="0" rIns="0" bIns="0" rtlCol="0">
              <a:spAutoFit/>
            </a:bodyPr>
            <a:lstStyle/>
            <a:p>
              <a:r>
                <a:rPr lang="en-IN" sz="1400" dirty="0">
                  <a:latin typeface="Arial" panose="020B0604020202020204" pitchFamily="34" charset="0"/>
                  <a:cs typeface="Arial" panose="020B0604020202020204" pitchFamily="34" charset="0"/>
                </a:rPr>
                <a:t>SB</a:t>
              </a:r>
            </a:p>
          </p:txBody>
        </p:sp>
        <p:sp>
          <p:nvSpPr>
            <p:cNvPr id="26" name="TextBox 25">
              <a:extLst>
                <a:ext uri="{FF2B5EF4-FFF2-40B4-BE49-F238E27FC236}">
                  <a16:creationId xmlns:a16="http://schemas.microsoft.com/office/drawing/2014/main" id="{85620EFA-4DB9-4282-B0C2-17278EDF87FA}"/>
                </a:ext>
              </a:extLst>
            </p:cNvPr>
            <p:cNvSpPr txBox="1"/>
            <p:nvPr/>
          </p:nvSpPr>
          <p:spPr>
            <a:xfrm>
              <a:off x="2592108" y="4830463"/>
              <a:ext cx="371480" cy="215444"/>
            </a:xfrm>
            <a:prstGeom prst="rect">
              <a:avLst/>
            </a:prstGeom>
            <a:solidFill>
              <a:schemeClr val="bg1"/>
            </a:solidFill>
          </p:spPr>
          <p:txBody>
            <a:bodyPr wrap="square" lIns="0" tIns="0" rIns="0" bIns="0" rtlCol="0">
              <a:spAutoFit/>
            </a:bodyPr>
            <a:lstStyle/>
            <a:p>
              <a:r>
                <a:rPr lang="en-IN" sz="1400" dirty="0">
                  <a:latin typeface="Arial" panose="020B0604020202020204" pitchFamily="34" charset="0"/>
                  <a:cs typeface="Arial" panose="020B0604020202020204" pitchFamily="34" charset="0"/>
                </a:rPr>
                <a:t>BLB</a:t>
              </a:r>
            </a:p>
          </p:txBody>
        </p:sp>
        <p:sp>
          <p:nvSpPr>
            <p:cNvPr id="27" name="TextBox 26">
              <a:extLst>
                <a:ext uri="{FF2B5EF4-FFF2-40B4-BE49-F238E27FC236}">
                  <a16:creationId xmlns:a16="http://schemas.microsoft.com/office/drawing/2014/main" id="{F9E8FC14-FCE4-42C2-84C7-694B223DDBDE}"/>
                </a:ext>
              </a:extLst>
            </p:cNvPr>
            <p:cNvSpPr txBox="1"/>
            <p:nvPr/>
          </p:nvSpPr>
          <p:spPr>
            <a:xfrm>
              <a:off x="2535186" y="5433695"/>
              <a:ext cx="371480" cy="215444"/>
            </a:xfrm>
            <a:prstGeom prst="rect">
              <a:avLst/>
            </a:prstGeom>
            <a:solidFill>
              <a:schemeClr val="bg1"/>
            </a:solidFill>
          </p:spPr>
          <p:txBody>
            <a:bodyPr wrap="square" lIns="0" tIns="0" rIns="0" bIns="0" rtlCol="0">
              <a:spAutoFit/>
            </a:bodyPr>
            <a:lstStyle/>
            <a:p>
              <a:pPr algn="r"/>
              <a:r>
                <a:rPr lang="en-IN" sz="1400" dirty="0">
                  <a:latin typeface="Arial" panose="020B0604020202020204" pitchFamily="34" charset="0"/>
                  <a:cs typeface="Arial" panose="020B0604020202020204" pitchFamily="34" charset="0"/>
                </a:rPr>
                <a:t>WL</a:t>
              </a:r>
            </a:p>
          </p:txBody>
        </p:sp>
        <p:sp>
          <p:nvSpPr>
            <p:cNvPr id="28" name="TextBox 27">
              <a:extLst>
                <a:ext uri="{FF2B5EF4-FFF2-40B4-BE49-F238E27FC236}">
                  <a16:creationId xmlns:a16="http://schemas.microsoft.com/office/drawing/2014/main" id="{20F10226-2643-471C-9E95-D3BF7B35D924}"/>
                </a:ext>
              </a:extLst>
            </p:cNvPr>
            <p:cNvSpPr txBox="1"/>
            <p:nvPr/>
          </p:nvSpPr>
          <p:spPr>
            <a:xfrm>
              <a:off x="3603402" y="4501950"/>
              <a:ext cx="207153" cy="215444"/>
            </a:xfrm>
            <a:prstGeom prst="rect">
              <a:avLst/>
            </a:prstGeom>
            <a:solidFill>
              <a:schemeClr val="bg1"/>
            </a:solidFill>
          </p:spPr>
          <p:txBody>
            <a:bodyPr wrap="square" lIns="0" tIns="0" rIns="0" bIns="0" rtlCol="0">
              <a:spAutoFit/>
            </a:bodyPr>
            <a:lstStyle/>
            <a:p>
              <a:r>
                <a:rPr lang="en-IN" sz="1400" dirty="0">
                  <a:latin typeface="Arial" panose="020B0604020202020204" pitchFamily="34" charset="0"/>
                  <a:cs typeface="Arial" panose="020B0604020202020204" pitchFamily="34" charset="0"/>
                </a:rPr>
                <a:t>S</a:t>
              </a:r>
            </a:p>
          </p:txBody>
        </p:sp>
      </p:grpSp>
    </p:spTree>
    <p:extLst>
      <p:ext uri="{BB962C8B-B14F-4D97-AF65-F5344CB8AC3E}">
        <p14:creationId xmlns:p14="http://schemas.microsoft.com/office/powerpoint/2010/main" val="3856177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25"/>
                                        </p:tgtEl>
                                        <p:attrNameLst>
                                          <p:attrName>style.visibility</p:attrName>
                                        </p:attrNameLst>
                                      </p:cBhvr>
                                      <p:to>
                                        <p:strVal val="visible"/>
                                      </p:to>
                                    </p:set>
                                    <p:anim calcmode="lin" valueType="num">
                                      <p:cBhvr additive="base">
                                        <p:cTn id="16" dur="500" fill="hold"/>
                                        <p:tgtEl>
                                          <p:spTgt spid="25"/>
                                        </p:tgtEl>
                                        <p:attrNameLst>
                                          <p:attrName>ppt_x</p:attrName>
                                        </p:attrNameLst>
                                      </p:cBhvr>
                                      <p:tavLst>
                                        <p:tav tm="0">
                                          <p:val>
                                            <p:strVal val="#ppt_x"/>
                                          </p:val>
                                        </p:tav>
                                        <p:tav tm="100000">
                                          <p:val>
                                            <p:strVal val="#ppt_x"/>
                                          </p:val>
                                        </p:tav>
                                      </p:tavLst>
                                    </p:anim>
                                    <p:anim calcmode="lin" valueType="num">
                                      <p:cBhvr additive="base">
                                        <p:cTn id="17" dur="500" fill="hold"/>
                                        <p:tgtEl>
                                          <p:spTgt spid="25"/>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fill="hold"/>
                                        <p:tgtEl>
                                          <p:spTgt spid="24"/>
                                        </p:tgtEl>
                                        <p:attrNameLst>
                                          <p:attrName>ppt_x</p:attrName>
                                        </p:attrNameLst>
                                      </p:cBhvr>
                                      <p:tavLst>
                                        <p:tav tm="0">
                                          <p:val>
                                            <p:strVal val="#ppt_x"/>
                                          </p:val>
                                        </p:tav>
                                        <p:tav tm="100000">
                                          <p:val>
                                            <p:strVal val="#ppt_x"/>
                                          </p:val>
                                        </p:tav>
                                      </p:tavLst>
                                    </p:anim>
                                    <p:anim calcmode="lin" valueType="num">
                                      <p:cBhvr additive="base">
                                        <p:cTn id="21"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3" presetClass="exit" presetSubtype="10" fill="hold" grpId="1" nodeType="clickEffect">
                                  <p:stCondLst>
                                    <p:cond delay="0"/>
                                  </p:stCondLst>
                                  <p:childTnLst>
                                    <p:animEffect transition="out" filter="blinds(horizontal)">
                                      <p:cBhvr>
                                        <p:cTn id="25" dur="500"/>
                                        <p:tgtEl>
                                          <p:spTgt spid="23"/>
                                        </p:tgtEl>
                                      </p:cBhvr>
                                    </p:animEffect>
                                    <p:set>
                                      <p:cBhvr>
                                        <p:cTn id="26" dur="1" fill="hold">
                                          <p:stCondLst>
                                            <p:cond delay="499"/>
                                          </p:stCondLst>
                                        </p:cTn>
                                        <p:tgtEl>
                                          <p:spTgt spid="23"/>
                                        </p:tgtEl>
                                        <p:attrNameLst>
                                          <p:attrName>style.visibility</p:attrName>
                                        </p:attrNameLst>
                                      </p:cBhvr>
                                      <p:to>
                                        <p:strVal val="hidden"/>
                                      </p:to>
                                    </p:set>
                                  </p:childTnLst>
                                </p:cTn>
                              </p:par>
                              <p:par>
                                <p:cTn id="27" presetID="3" presetClass="exit" presetSubtype="10" fill="hold" grpId="1" nodeType="withEffect">
                                  <p:stCondLst>
                                    <p:cond delay="0"/>
                                  </p:stCondLst>
                                  <p:childTnLst>
                                    <p:animEffect transition="out" filter="blinds(horizontal)">
                                      <p:cBhvr>
                                        <p:cTn id="28" dur="500"/>
                                        <p:tgtEl>
                                          <p:spTgt spid="25"/>
                                        </p:tgtEl>
                                      </p:cBhvr>
                                    </p:animEffect>
                                    <p:set>
                                      <p:cBhvr>
                                        <p:cTn id="29" dur="1" fill="hold">
                                          <p:stCondLst>
                                            <p:cond delay="499"/>
                                          </p:stCondLst>
                                        </p:cTn>
                                        <p:tgtEl>
                                          <p:spTgt spid="25"/>
                                        </p:tgtEl>
                                        <p:attrNameLst>
                                          <p:attrName>style.visibility</p:attrName>
                                        </p:attrNameLst>
                                      </p:cBhvr>
                                      <p:to>
                                        <p:strVal val="hidden"/>
                                      </p:to>
                                    </p:set>
                                  </p:childTnLst>
                                </p:cTn>
                              </p:par>
                              <p:par>
                                <p:cTn id="30" presetID="3" presetClass="exit" presetSubtype="10" fill="hold" grpId="1" nodeType="withEffect">
                                  <p:stCondLst>
                                    <p:cond delay="0"/>
                                  </p:stCondLst>
                                  <p:childTnLst>
                                    <p:animEffect transition="out" filter="blinds(horizontal)">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par>
                                <p:cTn id="33" presetID="3" presetClass="exit" presetSubtype="10" fill="hold" grpId="1" nodeType="withEffect">
                                  <p:stCondLst>
                                    <p:cond delay="0"/>
                                  </p:stCondLst>
                                  <p:childTnLst>
                                    <p:animEffect transition="out" filter="blinds(horizontal)">
                                      <p:cBhvr>
                                        <p:cTn id="34" dur="500"/>
                                        <p:tgtEl>
                                          <p:spTgt spid="24"/>
                                        </p:tgtEl>
                                      </p:cBhvr>
                                    </p:animEffect>
                                    <p:set>
                                      <p:cBhvr>
                                        <p:cTn id="35"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23" grpId="0"/>
      <p:bldP spid="23" grpId="1"/>
      <p:bldP spid="24" grpId="0"/>
      <p:bldP spid="24" grpId="1"/>
      <p:bldP spid="25" grpId="0"/>
      <p:bldP spid="25"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D558C41F-E585-4B9A-B46E-36B235D2B262}"/>
              </a:ext>
            </a:extLst>
          </p:cNvPr>
          <p:cNvSpPr txBox="1">
            <a:spLocks/>
          </p:cNvSpPr>
          <p:nvPr/>
        </p:nvSpPr>
        <p:spPr>
          <a:xfrm>
            <a:off x="111760" y="72454"/>
            <a:ext cx="7101840" cy="686500"/>
          </a:xfrm>
          <a:prstGeom prst="rect">
            <a:avLst/>
          </a:prstGeom>
        </p:spPr>
        <p:txBody>
          <a:bodyPr vert="horz" lIns="91440" tIns="45720" rIns="91440" bIns="45720" rtlCol="0" anchor="t">
            <a:noAutofit/>
          </a:bodyPr>
          <a:lst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a:lstStyle>
          <a:p>
            <a:pPr algn="just"/>
            <a:r>
              <a:rPr lang="en-IN" sz="3400" dirty="0">
                <a:cs typeface="Aharoni" panose="02010803020104030203" pitchFamily="2" charset="-79"/>
              </a:rPr>
              <a:t>SRAM</a:t>
            </a:r>
          </a:p>
        </p:txBody>
      </p:sp>
      <p:sp>
        <p:nvSpPr>
          <p:cNvPr id="7" name="Slide Number Placeholder 6">
            <a:extLst>
              <a:ext uri="{FF2B5EF4-FFF2-40B4-BE49-F238E27FC236}">
                <a16:creationId xmlns:a16="http://schemas.microsoft.com/office/drawing/2014/main" id="{9E266193-05BE-4ECF-99EB-2D3BDF57BA31}"/>
              </a:ext>
            </a:extLst>
          </p:cNvPr>
          <p:cNvSpPr>
            <a:spLocks noGrp="1"/>
          </p:cNvSpPr>
          <p:nvPr>
            <p:ph type="sldNum" sz="quarter" idx="12"/>
          </p:nvPr>
        </p:nvSpPr>
        <p:spPr/>
        <p:txBody>
          <a:bodyPr/>
          <a:lstStyle/>
          <a:p>
            <a:fld id="{CB1E4CB7-CB13-4810-BF18-BE31AFC64F93}" type="slidenum">
              <a:rPr lang="en-US" smtClean="0"/>
              <a:t>8</a:t>
            </a:fld>
            <a:endParaRPr lang="en-US"/>
          </a:p>
        </p:txBody>
      </p:sp>
      <p:sp>
        <p:nvSpPr>
          <p:cNvPr id="12" name="Footer Placeholder 4">
            <a:extLst>
              <a:ext uri="{FF2B5EF4-FFF2-40B4-BE49-F238E27FC236}">
                <a16:creationId xmlns:a16="http://schemas.microsoft.com/office/drawing/2014/main" id="{284DD07C-108C-46B0-A67A-1634CC13250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
        <p:nvSpPr>
          <p:cNvPr id="29" name="Rectangle 3">
            <a:extLst>
              <a:ext uri="{FF2B5EF4-FFF2-40B4-BE49-F238E27FC236}">
                <a16:creationId xmlns:a16="http://schemas.microsoft.com/office/drawing/2014/main" id="{BA92F835-D6B5-4561-AE95-30EDF06FD2B4}"/>
              </a:ext>
            </a:extLst>
          </p:cNvPr>
          <p:cNvSpPr txBox="1">
            <a:spLocks noChangeArrowheads="1"/>
          </p:cNvSpPr>
          <p:nvPr/>
        </p:nvSpPr>
        <p:spPr>
          <a:xfrm>
            <a:off x="507124" y="1054230"/>
            <a:ext cx="5588876" cy="5265665"/>
          </a:xfrm>
          <a:prstGeom prst="rect">
            <a:avLst/>
          </a:prstGeom>
        </p:spPr>
        <p:txBody>
          <a:bodyPr vert="horz" lIns="91440" tIns="45720" rIns="91440" bIns="45720" rtlCol="0">
            <a:normAutofit fontScale="92500" lnSpcReduction="20000"/>
          </a:bodyPr>
          <a:lst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Clr>
                <a:srgbClr val="002060"/>
              </a:buClr>
              <a:buSzPct val="150000"/>
              <a:buFont typeface="Arial" panose="020B0604020202020204" pitchFamily="34" charset="0"/>
              <a:buChar char="•"/>
            </a:pPr>
            <a:r>
              <a:rPr lang="en-US" altLang="en-US" sz="2000" dirty="0">
                <a:latin typeface="Arial" panose="020B0604020202020204" pitchFamily="34" charset="0"/>
                <a:cs typeface="Arial" panose="020B0604020202020204" pitchFamily="34" charset="0"/>
              </a:rPr>
              <a:t>High </a:t>
            </a:r>
            <a:r>
              <a:rPr lang="en-US" altLang="en-US" sz="2000" dirty="0" err="1">
                <a:latin typeface="Arial" panose="020B0604020202020204" pitchFamily="34" charset="0"/>
                <a:cs typeface="Arial" panose="020B0604020202020204" pitchFamily="34" charset="0"/>
              </a:rPr>
              <a:t>bitlines</a:t>
            </a:r>
            <a:r>
              <a:rPr lang="en-US" altLang="en-US" sz="2000" dirty="0">
                <a:latin typeface="Arial" panose="020B0604020202020204" pitchFamily="34" charset="0"/>
                <a:cs typeface="Arial" panose="020B0604020202020204" pitchFamily="34" charset="0"/>
              </a:rPr>
              <a:t> must not overpower inverters during </a:t>
            </a:r>
            <a:r>
              <a:rPr lang="en-US" altLang="en-US" sz="2000" b="1" dirty="0">
                <a:latin typeface="Arial" panose="020B0604020202020204" pitchFamily="34" charset="0"/>
                <a:cs typeface="Arial" panose="020B0604020202020204" pitchFamily="34" charset="0"/>
              </a:rPr>
              <a:t>reads</a:t>
            </a:r>
            <a:r>
              <a:rPr lang="en-US" altLang="en-US" sz="2000" dirty="0">
                <a:latin typeface="Arial" panose="020B0604020202020204" pitchFamily="34" charset="0"/>
                <a:cs typeface="Arial" panose="020B0604020202020204" pitchFamily="34" charset="0"/>
              </a:rPr>
              <a:t>. But low </a:t>
            </a:r>
            <a:r>
              <a:rPr lang="en-US" altLang="en-US" sz="2000" dirty="0" err="1">
                <a:latin typeface="Arial" panose="020B0604020202020204" pitchFamily="34" charset="0"/>
                <a:cs typeface="Arial" panose="020B0604020202020204" pitchFamily="34" charset="0"/>
              </a:rPr>
              <a:t>bitlines</a:t>
            </a:r>
            <a:r>
              <a:rPr lang="en-US" altLang="en-US" sz="2000" dirty="0">
                <a:latin typeface="Arial" panose="020B0604020202020204" pitchFamily="34" charset="0"/>
                <a:cs typeface="Arial" panose="020B0604020202020204" pitchFamily="34" charset="0"/>
              </a:rPr>
              <a:t> must </a:t>
            </a:r>
            <a:r>
              <a:rPr lang="en-US" altLang="en-US" sz="2000" b="1" dirty="0">
                <a:latin typeface="Arial" panose="020B0604020202020204" pitchFamily="34" charset="0"/>
                <a:cs typeface="Arial" panose="020B0604020202020204" pitchFamily="34" charset="0"/>
              </a:rPr>
              <a:t>write</a:t>
            </a:r>
            <a:r>
              <a:rPr lang="en-US" altLang="en-US" sz="2000" dirty="0">
                <a:latin typeface="Arial" panose="020B0604020202020204" pitchFamily="34" charset="0"/>
                <a:cs typeface="Arial" panose="020B0604020202020204" pitchFamily="34" charset="0"/>
              </a:rPr>
              <a:t> new value into cell.</a:t>
            </a:r>
          </a:p>
          <a:p>
            <a:pPr algn="just">
              <a:lnSpc>
                <a:spcPct val="150000"/>
              </a:lnSpc>
              <a:buClr>
                <a:srgbClr val="002060"/>
              </a:buClr>
              <a:buSzPct val="150000"/>
              <a:buFont typeface="Arial" panose="020B0604020202020204" pitchFamily="34" charset="0"/>
              <a:buChar char="•"/>
            </a:pPr>
            <a:r>
              <a:rPr lang="en-US" altLang="en-US" sz="2000" dirty="0">
                <a:latin typeface="Arial" panose="020B0604020202020204" pitchFamily="34" charset="0"/>
                <a:cs typeface="Arial" panose="020B0604020202020204" pitchFamily="34" charset="0"/>
              </a:rPr>
              <a:t>Read and Write operations have contrary requirements for pass transistors. So the width of transistors need to be selected carefully</a:t>
            </a:r>
            <a:r>
              <a:rPr lang="en-US" altLang="en-US" sz="2000" dirty="0" smtClean="0">
                <a:latin typeface="Arial" panose="020B0604020202020204" pitchFamily="34" charset="0"/>
                <a:cs typeface="Arial" panose="020B0604020202020204" pitchFamily="34" charset="0"/>
              </a:rPr>
              <a:t>.</a:t>
            </a:r>
          </a:p>
          <a:p>
            <a:endParaRPr lang="en-US" sz="2000" dirty="0"/>
          </a:p>
          <a:p>
            <a:pPr marL="357188" indent="0">
              <a:buNone/>
            </a:pPr>
            <a:r>
              <a:rPr lang="en-US" sz="2000" dirty="0" smtClean="0"/>
              <a:t>. </a:t>
            </a:r>
            <a:r>
              <a:rPr lang="en-US" sz="2000" dirty="0"/>
              <a:t>PD1 &gt;&gt; PG1 </a:t>
            </a:r>
            <a:r>
              <a:rPr lang="en-US" sz="2000" dirty="0" smtClean="0"/>
              <a:t>(For </a:t>
            </a:r>
            <a:r>
              <a:rPr lang="en-US" sz="2000" dirty="0"/>
              <a:t>Read </a:t>
            </a:r>
            <a:r>
              <a:rPr lang="en-US" sz="2000" dirty="0" smtClean="0"/>
              <a:t>stability) </a:t>
            </a:r>
            <a:endParaRPr lang="en-US" sz="2000" dirty="0"/>
          </a:p>
          <a:p>
            <a:pPr marL="0" indent="450850" algn="just">
              <a:lnSpc>
                <a:spcPct val="150000"/>
              </a:lnSpc>
              <a:buClr>
                <a:srgbClr val="002060"/>
              </a:buClr>
              <a:buSzPct val="150000"/>
              <a:buNone/>
            </a:pPr>
            <a:r>
              <a:rPr lang="en-US" altLang="en-US" sz="2000" dirty="0" smtClean="0">
                <a:latin typeface="Arial" panose="020B0604020202020204" pitchFamily="34" charset="0"/>
                <a:cs typeface="Arial" panose="020B0604020202020204" pitchFamily="34" charset="0"/>
              </a:rPr>
              <a:t>PG1 </a:t>
            </a:r>
            <a:r>
              <a:rPr lang="en-US" altLang="en-US" sz="2000" dirty="0">
                <a:latin typeface="Arial" panose="020B0604020202020204" pitchFamily="34" charset="0"/>
                <a:cs typeface="Arial" panose="020B0604020202020204" pitchFamily="34" charset="0"/>
              </a:rPr>
              <a:t>&gt;&gt; PL2 </a:t>
            </a:r>
            <a:r>
              <a:rPr lang="en-US" altLang="en-US" sz="2000" dirty="0" smtClean="0">
                <a:latin typeface="Arial" panose="020B0604020202020204" pitchFamily="34" charset="0"/>
                <a:cs typeface="Arial" panose="020B0604020202020204" pitchFamily="34" charset="0"/>
              </a:rPr>
              <a:t>(For writ ability)</a:t>
            </a:r>
            <a:endParaRPr lang="en-US" altLang="en-US" sz="2000" dirty="0">
              <a:latin typeface="Arial" panose="020B0604020202020204" pitchFamily="34" charset="0"/>
              <a:cs typeface="Arial" panose="020B0604020202020204" pitchFamily="34" charset="0"/>
            </a:endParaRPr>
          </a:p>
          <a:p>
            <a:pPr algn="just">
              <a:lnSpc>
                <a:spcPct val="150000"/>
              </a:lnSpc>
              <a:buClr>
                <a:srgbClr val="002060"/>
              </a:buClr>
              <a:buSzPct val="150000"/>
              <a:buFont typeface="Arial" panose="020B0604020202020204" pitchFamily="34" charset="0"/>
              <a:buChar char="•"/>
            </a:pPr>
            <a:r>
              <a:rPr lang="en-US" altLang="en-US" sz="2000" dirty="0">
                <a:latin typeface="Arial" panose="020B0604020202020204" pitchFamily="34" charset="0"/>
                <a:cs typeface="Arial" panose="020B0604020202020204" pitchFamily="34" charset="0"/>
              </a:rPr>
              <a:t>Read and write Noise Margins (NM) used assess the performance of SRAM cell. These NMs measured through </a:t>
            </a:r>
            <a:r>
              <a:rPr lang="en-US" altLang="en-US" sz="2000" b="1" dirty="0">
                <a:latin typeface="Arial" panose="020B0604020202020204" pitchFamily="34" charset="0"/>
                <a:cs typeface="Arial" panose="020B0604020202020204" pitchFamily="34" charset="0"/>
              </a:rPr>
              <a:t>butterfly curve</a:t>
            </a:r>
            <a:r>
              <a:rPr lang="en-US" altLang="en-US" sz="2000" dirty="0">
                <a:latin typeface="Arial" panose="020B0604020202020204" pitchFamily="34" charset="0"/>
                <a:cs typeface="Arial" panose="020B0604020202020204" pitchFamily="34" charset="0"/>
              </a:rPr>
              <a:t>. </a:t>
            </a:r>
          </a:p>
          <a:p>
            <a:pPr marL="0" indent="0" algn="just">
              <a:lnSpc>
                <a:spcPct val="150000"/>
              </a:lnSpc>
              <a:buNone/>
            </a:pPr>
            <a:endParaRPr lang="en-US" altLang="en-US" sz="2000" dirty="0">
              <a:latin typeface="Arial" panose="020B0604020202020204" pitchFamily="34" charset="0"/>
              <a:cs typeface="Arial" panose="020B0604020202020204" pitchFamily="34" charset="0"/>
            </a:endParaRPr>
          </a:p>
        </p:txBody>
      </p:sp>
      <p:graphicFrame>
        <p:nvGraphicFramePr>
          <p:cNvPr id="30" name="Object 4">
            <a:extLst>
              <a:ext uri="{FF2B5EF4-FFF2-40B4-BE49-F238E27FC236}">
                <a16:creationId xmlns:a16="http://schemas.microsoft.com/office/drawing/2014/main" id="{56D67B1F-A478-4709-BF61-9BD4223D0D16}"/>
              </a:ext>
            </a:extLst>
          </p:cNvPr>
          <p:cNvGraphicFramePr>
            <a:graphicFrameLocks noChangeAspect="1"/>
          </p:cNvGraphicFramePr>
          <p:nvPr>
            <p:extLst>
              <p:ext uri="{D42A27DB-BD31-4B8C-83A1-F6EECF244321}">
                <p14:modId xmlns:p14="http://schemas.microsoft.com/office/powerpoint/2010/main" val="2566244837"/>
              </p:ext>
            </p:extLst>
          </p:nvPr>
        </p:nvGraphicFramePr>
        <p:xfrm>
          <a:off x="6387240" y="706403"/>
          <a:ext cx="4207868" cy="2403121"/>
        </p:xfrm>
        <a:graphic>
          <a:graphicData uri="http://schemas.openxmlformats.org/presentationml/2006/ole">
            <mc:AlternateContent xmlns:mc="http://schemas.openxmlformats.org/markup-compatibility/2006">
              <mc:Choice xmlns:v="urn:schemas-microsoft-com:vml" Requires="v">
                <p:oleObj spid="_x0000_s7242" name="VISIO" r:id="rId4" imgW="2100240" imgH="1199880" progId="Visio.Drawing.6">
                  <p:embed/>
                </p:oleObj>
              </mc:Choice>
              <mc:Fallback>
                <p:oleObj name="VISIO" r:id="rId4" imgW="2100240" imgH="1199880" progId="Visio.Drawing.6">
                  <p:embed/>
                  <p:pic>
                    <p:nvPicPr>
                      <p:cNvPr id="654340" name="Object 4">
                        <a:extLst>
                          <a:ext uri="{FF2B5EF4-FFF2-40B4-BE49-F238E27FC236}">
                            <a16:creationId xmlns:a16="http://schemas.microsoft.com/office/drawing/2014/main" id="{8E4E076B-7160-4BE5-99D9-3C33171403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7240" y="706403"/>
                        <a:ext cx="4207868" cy="2403121"/>
                      </a:xfrm>
                      <a:prstGeom prst="rect">
                        <a:avLst/>
                      </a:prstGeom>
                      <a:noFill/>
                      <a:ln>
                        <a:noFill/>
                      </a:ln>
                      <a:effectLst/>
                    </p:spPr>
                  </p:pic>
                </p:oleObj>
              </mc:Fallback>
            </mc:AlternateContent>
          </a:graphicData>
        </a:graphic>
      </p:graphicFrame>
      <p:grpSp>
        <p:nvGrpSpPr>
          <p:cNvPr id="6" name="Group 5">
            <a:extLst>
              <a:ext uri="{FF2B5EF4-FFF2-40B4-BE49-F238E27FC236}">
                <a16:creationId xmlns:a16="http://schemas.microsoft.com/office/drawing/2014/main" id="{8AC41D36-E1CB-484D-B89B-1C024A699ECA}"/>
              </a:ext>
            </a:extLst>
          </p:cNvPr>
          <p:cNvGrpSpPr/>
          <p:nvPr/>
        </p:nvGrpSpPr>
        <p:grpSpPr>
          <a:xfrm>
            <a:off x="7086599" y="3323897"/>
            <a:ext cx="3434254" cy="3127908"/>
            <a:chOff x="7034049" y="3523590"/>
            <a:chExt cx="3434254" cy="3127908"/>
          </a:xfrm>
        </p:grpSpPr>
        <p:pic>
          <p:nvPicPr>
            <p:cNvPr id="4" name="Picture 3">
              <a:extLst>
                <a:ext uri="{FF2B5EF4-FFF2-40B4-BE49-F238E27FC236}">
                  <a16:creationId xmlns:a16="http://schemas.microsoft.com/office/drawing/2014/main" id="{57ED8DA2-746F-44AA-99CD-DF26EB37F489}"/>
                </a:ext>
              </a:extLst>
            </p:cNvPr>
            <p:cNvPicPr>
              <a:picLocks noChangeAspect="1"/>
            </p:cNvPicPr>
            <p:nvPr/>
          </p:nvPicPr>
          <p:blipFill>
            <a:blip r:embed="rId6"/>
            <a:stretch>
              <a:fillRect/>
            </a:stretch>
          </p:blipFill>
          <p:spPr>
            <a:xfrm>
              <a:off x="7223713" y="3523590"/>
              <a:ext cx="3244590" cy="2995999"/>
            </a:xfrm>
            <a:prstGeom prst="rect">
              <a:avLst/>
            </a:prstGeom>
          </p:spPr>
        </p:pic>
        <p:sp>
          <p:nvSpPr>
            <p:cNvPr id="31" name="TextBox 30">
              <a:extLst>
                <a:ext uri="{FF2B5EF4-FFF2-40B4-BE49-F238E27FC236}">
                  <a16:creationId xmlns:a16="http://schemas.microsoft.com/office/drawing/2014/main" id="{25DA1F22-46A1-45A6-98B4-39857E811678}"/>
                </a:ext>
              </a:extLst>
            </p:cNvPr>
            <p:cNvSpPr txBox="1"/>
            <p:nvPr/>
          </p:nvSpPr>
          <p:spPr>
            <a:xfrm rot="16200000">
              <a:off x="6594471" y="4541233"/>
              <a:ext cx="1371600" cy="492443"/>
            </a:xfrm>
            <a:prstGeom prst="rect">
              <a:avLst/>
            </a:prstGeom>
            <a:noFill/>
          </p:spPr>
          <p:txBody>
            <a:bodyPr wrap="square" rtlCol="0">
              <a:spAutoFit/>
            </a:bodyPr>
            <a:lstStyle/>
            <a:p>
              <a:r>
                <a:rPr lang="en-US" sz="1300" b="1" dirty="0">
                  <a:latin typeface="Times New Roman" pitchFamily="18" charset="0"/>
                  <a:cs typeface="Times New Roman" pitchFamily="18" charset="0"/>
                </a:rPr>
                <a:t>Solid: V</a:t>
              </a:r>
              <a:r>
                <a:rPr lang="en-US" sz="1300" b="1" baseline="-25000" dirty="0">
                  <a:latin typeface="Times New Roman" pitchFamily="18" charset="0"/>
                  <a:cs typeface="Times New Roman" pitchFamily="18" charset="0"/>
                </a:rPr>
                <a:t>OUT1</a:t>
              </a:r>
            </a:p>
            <a:p>
              <a:r>
                <a:rPr lang="en-US" sz="1300" b="1" dirty="0">
                  <a:latin typeface="Times New Roman" pitchFamily="18" charset="0"/>
                  <a:cs typeface="Times New Roman" pitchFamily="18" charset="0"/>
                </a:rPr>
                <a:t>Dotted: V</a:t>
              </a:r>
              <a:r>
                <a:rPr lang="en-US" sz="1300" b="1" baseline="-25000" dirty="0">
                  <a:latin typeface="Times New Roman" pitchFamily="18" charset="0"/>
                  <a:cs typeface="Times New Roman" pitchFamily="18" charset="0"/>
                </a:rPr>
                <a:t>IN2</a:t>
              </a:r>
            </a:p>
          </p:txBody>
        </p:sp>
        <p:sp>
          <p:nvSpPr>
            <p:cNvPr id="32" name="TextBox 31">
              <a:extLst>
                <a:ext uri="{FF2B5EF4-FFF2-40B4-BE49-F238E27FC236}">
                  <a16:creationId xmlns:a16="http://schemas.microsoft.com/office/drawing/2014/main" id="{C175D268-7EFC-4B59-B19E-270315E28226}"/>
                </a:ext>
              </a:extLst>
            </p:cNvPr>
            <p:cNvSpPr txBox="1"/>
            <p:nvPr/>
          </p:nvSpPr>
          <p:spPr>
            <a:xfrm>
              <a:off x="7872249" y="6159055"/>
              <a:ext cx="1295400" cy="492443"/>
            </a:xfrm>
            <a:prstGeom prst="rect">
              <a:avLst/>
            </a:prstGeom>
            <a:solidFill>
              <a:schemeClr val="bg1"/>
            </a:solidFill>
          </p:spPr>
          <p:txBody>
            <a:bodyPr wrap="square" rtlCol="0">
              <a:spAutoFit/>
            </a:bodyPr>
            <a:lstStyle/>
            <a:p>
              <a:r>
                <a:rPr lang="en-US" sz="1300" b="1" dirty="0">
                  <a:latin typeface="Times New Roman" pitchFamily="18" charset="0"/>
                  <a:cs typeface="Times New Roman" pitchFamily="18" charset="0"/>
                </a:rPr>
                <a:t>Solid: V</a:t>
              </a:r>
              <a:r>
                <a:rPr lang="en-US" sz="1300" b="1" baseline="-25000" dirty="0">
                  <a:latin typeface="Times New Roman" pitchFamily="18" charset="0"/>
                  <a:cs typeface="Times New Roman" pitchFamily="18" charset="0"/>
                </a:rPr>
                <a:t>IN1</a:t>
              </a:r>
            </a:p>
            <a:p>
              <a:r>
                <a:rPr lang="en-US" sz="1300" b="1" dirty="0">
                  <a:latin typeface="Times New Roman" pitchFamily="18" charset="0"/>
                  <a:cs typeface="Times New Roman" pitchFamily="18" charset="0"/>
                </a:rPr>
                <a:t>Dotted: V</a:t>
              </a:r>
              <a:r>
                <a:rPr lang="en-US" sz="1300" b="1" baseline="-25000" dirty="0">
                  <a:latin typeface="Times New Roman" pitchFamily="18" charset="0"/>
                  <a:cs typeface="Times New Roman" pitchFamily="18" charset="0"/>
                </a:rPr>
                <a:t>OUT2</a:t>
              </a:r>
            </a:p>
          </p:txBody>
        </p:sp>
      </p:grpSp>
    </p:spTree>
    <p:extLst>
      <p:ext uri="{BB962C8B-B14F-4D97-AF65-F5344CB8AC3E}">
        <p14:creationId xmlns:p14="http://schemas.microsoft.com/office/powerpoint/2010/main" val="19355889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D558C41F-E585-4B9A-B46E-36B235D2B262}"/>
              </a:ext>
            </a:extLst>
          </p:cNvPr>
          <p:cNvSpPr txBox="1">
            <a:spLocks/>
          </p:cNvSpPr>
          <p:nvPr/>
        </p:nvSpPr>
        <p:spPr>
          <a:xfrm>
            <a:off x="111760" y="72454"/>
            <a:ext cx="7101840" cy="686500"/>
          </a:xfrm>
          <a:prstGeom prst="rect">
            <a:avLst/>
          </a:prstGeom>
        </p:spPr>
        <p:txBody>
          <a:bodyPr vert="horz" lIns="91440" tIns="45720" rIns="91440" bIns="45720" rtlCol="0" anchor="t">
            <a:noAutofit/>
          </a:bodyPr>
          <a:lst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a:lstStyle>
          <a:p>
            <a:pPr algn="just"/>
            <a:r>
              <a:rPr lang="en-IN" sz="3400" dirty="0">
                <a:cs typeface="Aharoni" panose="02010803020104030203" pitchFamily="2" charset="-79"/>
              </a:rPr>
              <a:t>SRAM</a:t>
            </a:r>
          </a:p>
        </p:txBody>
      </p:sp>
      <p:sp>
        <p:nvSpPr>
          <p:cNvPr id="7" name="Slide Number Placeholder 6">
            <a:extLst>
              <a:ext uri="{FF2B5EF4-FFF2-40B4-BE49-F238E27FC236}">
                <a16:creationId xmlns:a16="http://schemas.microsoft.com/office/drawing/2014/main" id="{9E266193-05BE-4ECF-99EB-2D3BDF57BA31}"/>
              </a:ext>
            </a:extLst>
          </p:cNvPr>
          <p:cNvSpPr>
            <a:spLocks noGrp="1"/>
          </p:cNvSpPr>
          <p:nvPr>
            <p:ph type="sldNum" sz="quarter" idx="12"/>
          </p:nvPr>
        </p:nvSpPr>
        <p:spPr/>
        <p:txBody>
          <a:bodyPr/>
          <a:lstStyle/>
          <a:p>
            <a:fld id="{CB1E4CB7-CB13-4810-BF18-BE31AFC64F93}" type="slidenum">
              <a:rPr lang="en-US" smtClean="0"/>
              <a:t>9</a:t>
            </a:fld>
            <a:endParaRPr lang="en-US"/>
          </a:p>
        </p:txBody>
      </p:sp>
      <p:sp>
        <p:nvSpPr>
          <p:cNvPr id="12" name="Footer Placeholder 4">
            <a:extLst>
              <a:ext uri="{FF2B5EF4-FFF2-40B4-BE49-F238E27FC236}">
                <a16:creationId xmlns:a16="http://schemas.microsoft.com/office/drawing/2014/main" id="{284DD07C-108C-46B0-A67A-1634CC13250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
        <p:nvSpPr>
          <p:cNvPr id="10" name="Rectangle 3">
            <a:extLst>
              <a:ext uri="{FF2B5EF4-FFF2-40B4-BE49-F238E27FC236}">
                <a16:creationId xmlns:a16="http://schemas.microsoft.com/office/drawing/2014/main" id="{CD4D4C91-F1EA-4C98-BF20-3FB0F0779DA0}"/>
              </a:ext>
            </a:extLst>
          </p:cNvPr>
          <p:cNvSpPr txBox="1">
            <a:spLocks noChangeArrowheads="1"/>
          </p:cNvSpPr>
          <p:nvPr/>
        </p:nvSpPr>
        <p:spPr>
          <a:xfrm>
            <a:off x="685800" y="1524000"/>
            <a:ext cx="6776546" cy="4572000"/>
          </a:xfrm>
          <a:prstGeom prst="rect">
            <a:avLst/>
          </a:prstGeom>
        </p:spPr>
        <p:txBody>
          <a:bodyPr vert="horz" lIns="91440" tIns="45720" rIns="91440" bIns="45720" rtlCol="0">
            <a:normAutofit/>
          </a:bodyPr>
          <a:lst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2060"/>
              </a:buClr>
              <a:buSzPct val="135000"/>
              <a:buFont typeface="Arial" panose="020B0604020202020204" pitchFamily="34" charset="0"/>
              <a:buChar char="•"/>
            </a:pPr>
            <a:r>
              <a:rPr lang="en-US" altLang="en-US" dirty="0">
                <a:latin typeface="Arial" panose="020B0604020202020204" pitchFamily="34" charset="0"/>
                <a:cs typeface="Arial" panose="020B0604020202020204" pitchFamily="34" charset="0"/>
              </a:rPr>
              <a:t>Five generations of Intel SRAM cell micrographs</a:t>
            </a:r>
          </a:p>
          <a:p>
            <a:pPr marL="708660" lvl="1" indent="-342900">
              <a:buClr>
                <a:srgbClr val="002060"/>
              </a:buClr>
              <a:buSzPct val="135000"/>
              <a:buFont typeface="Arial" panose="020B0604020202020204" pitchFamily="34" charset="0"/>
              <a:buChar char="•"/>
            </a:pPr>
            <a:r>
              <a:rPr lang="en-US" altLang="en-US" dirty="0">
                <a:latin typeface="Arial" panose="020B0604020202020204" pitchFamily="34" charset="0"/>
                <a:cs typeface="Arial" panose="020B0604020202020204" pitchFamily="34" charset="0"/>
              </a:rPr>
              <a:t>Transition to thin cell at 65 nm</a:t>
            </a:r>
          </a:p>
          <a:p>
            <a:pPr marL="708660" lvl="1" indent="-342900">
              <a:buClr>
                <a:srgbClr val="002060"/>
              </a:buClr>
              <a:buSzPct val="135000"/>
              <a:buFont typeface="Arial" panose="020B0604020202020204" pitchFamily="34" charset="0"/>
              <a:buChar char="•"/>
            </a:pPr>
            <a:r>
              <a:rPr lang="en-US" altLang="en-US" dirty="0">
                <a:latin typeface="Arial" panose="020B0604020202020204" pitchFamily="34" charset="0"/>
                <a:cs typeface="Arial" panose="020B0604020202020204" pitchFamily="34" charset="0"/>
              </a:rPr>
              <a:t>Steady scaling of cell area</a:t>
            </a:r>
          </a:p>
        </p:txBody>
      </p:sp>
      <p:pic>
        <p:nvPicPr>
          <p:cNvPr id="11" name="Picture 4">
            <a:extLst>
              <a:ext uri="{FF2B5EF4-FFF2-40B4-BE49-F238E27FC236}">
                <a16:creationId xmlns:a16="http://schemas.microsoft.com/office/drawing/2014/main" id="{6781E69B-62E2-47FC-B973-1E85019A62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576" y="3566788"/>
            <a:ext cx="7772400"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5">
            <a:extLst>
              <a:ext uri="{FF2B5EF4-FFF2-40B4-BE49-F238E27FC236}">
                <a16:creationId xmlns:a16="http://schemas.microsoft.com/office/drawing/2014/main" id="{2766524B-95C2-4D47-8C73-CB288E7A6A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1233386"/>
            <a:ext cx="3660648" cy="3004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F316F449-CFBA-4231-BE94-C0ADB0240AAC}"/>
              </a:ext>
            </a:extLst>
          </p:cNvPr>
          <p:cNvSpPr txBox="1"/>
          <p:nvPr/>
        </p:nvSpPr>
        <p:spPr>
          <a:xfrm>
            <a:off x="1429406" y="5906813"/>
            <a:ext cx="6863255" cy="373741"/>
          </a:xfrm>
          <a:prstGeom prst="rect">
            <a:avLst/>
          </a:prstGeom>
          <a:noFill/>
        </p:spPr>
        <p:txBody>
          <a:bodyPr wrap="square" rtlCol="0">
            <a:spAutoFit/>
          </a:bodyPr>
          <a:lstStyle/>
          <a:p>
            <a:pPr algn="ctr"/>
            <a:r>
              <a:rPr lang="en-IN" b="1" dirty="0">
                <a:latin typeface="Arial" panose="020B0604020202020204" pitchFamily="34" charset="0"/>
                <a:cs typeface="Arial" panose="020B0604020202020204" pitchFamily="34" charset="0"/>
              </a:rPr>
              <a:t>Fig. 9</a:t>
            </a:r>
            <a:r>
              <a:rPr lang="en-IN" dirty="0">
                <a:latin typeface="Arial" panose="020B0604020202020204" pitchFamily="34" charset="0"/>
                <a:cs typeface="Arial" panose="020B0604020202020204" pitchFamily="34" charset="0"/>
              </a:rPr>
              <a:t> Trends in commercial SRAM cells</a:t>
            </a:r>
          </a:p>
        </p:txBody>
      </p:sp>
    </p:spTree>
    <p:extLst>
      <p:ext uri="{BB962C8B-B14F-4D97-AF65-F5344CB8AC3E}">
        <p14:creationId xmlns:p14="http://schemas.microsoft.com/office/powerpoint/2010/main" val="3407847921"/>
      </p:ext>
    </p:extLst>
  </p:cSld>
  <p:clrMapOvr>
    <a:masterClrMapping/>
  </p:clrMapOvr>
  <p:timing>
    <p:tnLst>
      <p:par>
        <p:cTn id="1" dur="indefinite" restart="never" nodeType="tmRoot"/>
      </p:par>
    </p:tnLst>
  </p:timing>
</p:sld>
</file>

<file path=ppt/theme/theme1.xml><?xml version="1.0" encoding="utf-8"?>
<a:theme xmlns:a="http://schemas.openxmlformats.org/drawingml/2006/main" name="PrismaticVTI">
  <a:themeElements>
    <a:clrScheme name="AnalogousFromDarkSeedLeftStep">
      <a:dk1>
        <a:srgbClr val="000000"/>
      </a:dk1>
      <a:lt1>
        <a:srgbClr val="FFFFFF"/>
      </a:lt1>
      <a:dk2>
        <a:srgbClr val="1C2031"/>
      </a:dk2>
      <a:lt2>
        <a:srgbClr val="F0F3F1"/>
      </a:lt2>
      <a:accent1>
        <a:srgbClr val="DD3397"/>
      </a:accent1>
      <a:accent2>
        <a:srgbClr val="CA21CB"/>
      </a:accent2>
      <a:accent3>
        <a:srgbClr val="9533DD"/>
      </a:accent3>
      <a:accent4>
        <a:srgbClr val="4A31CF"/>
      </a:accent4>
      <a:accent5>
        <a:srgbClr val="335FDD"/>
      </a:accent5>
      <a:accent6>
        <a:srgbClr val="2194CB"/>
      </a:accent6>
      <a:hlink>
        <a:srgbClr val="3F4BBF"/>
      </a:hlink>
      <a:folHlink>
        <a:srgbClr val="7F7F7F"/>
      </a:folHlink>
    </a:clrScheme>
    <a:fontScheme name="Custom 166">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ismaticVTI" id="{DA44D624-A564-4DE8-8446-0CD5C485C979}" vid="{8B2B1550-B69C-4156-BAEC-B2E559F94BD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41663</TotalTime>
  <Words>1573</Words>
  <Application>Microsoft Office PowerPoint</Application>
  <PresentationFormat>Widescreen</PresentationFormat>
  <Paragraphs>126</Paragraphs>
  <Slides>9</Slides>
  <Notes>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6" baseType="lpstr">
      <vt:lpstr>Aharoni</vt:lpstr>
      <vt:lpstr>Arial</vt:lpstr>
      <vt:lpstr>Avenir Next LT Pro</vt:lpstr>
      <vt:lpstr>Calibri</vt:lpstr>
      <vt:lpstr>Times New Roman</vt:lpstr>
      <vt:lpstr>PrismaticVTI</vt:lpstr>
      <vt:lpstr>VISIO</vt:lpstr>
      <vt:lpstr>Memory Design and Testing  (PVL 331)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Design and Testing  (PVL 331)</dc:title>
  <dc:creator>rajneesh rajneesh</dc:creator>
  <cp:lastModifiedBy>Lenovo</cp:lastModifiedBy>
  <cp:revision>115</cp:revision>
  <dcterms:created xsi:type="dcterms:W3CDTF">2021-02-04T08:02:34Z</dcterms:created>
  <dcterms:modified xsi:type="dcterms:W3CDTF">2026-05-04T05:05:33Z</dcterms:modified>
</cp:coreProperties>
</file>