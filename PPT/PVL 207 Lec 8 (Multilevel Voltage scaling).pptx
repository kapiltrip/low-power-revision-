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307" r:id="rId3"/>
    <p:sldId id="286" r:id="rId4"/>
    <p:sldId id="305" r:id="rId5"/>
    <p:sldId id="287" r:id="rId6"/>
    <p:sldId id="288" r:id="rId7"/>
    <p:sldId id="289" r:id="rId8"/>
    <p:sldId id="290" r:id="rId9"/>
    <p:sldId id="276" r:id="rId10"/>
    <p:sldId id="277"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6"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29" autoAdjust="0"/>
    <p:restoredTop sz="95274" autoAdjust="0"/>
  </p:normalViewPr>
  <p:slideViewPr>
    <p:cSldViewPr>
      <p:cViewPr varScale="1">
        <p:scale>
          <a:sx n="87" d="100"/>
          <a:sy n="87" d="100"/>
        </p:scale>
        <p:origin x="142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4/1/2026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4/1/2026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Low Power System Design</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(PVL 207)</a:t>
            </a:r>
            <a:endParaRPr lang="en-US" b="1" dirty="0">
              <a:latin typeface="Times New Roman" pitchFamily="18" charset="0"/>
              <a:cs typeface="Times New Roman" pitchFamily="18" charset="0"/>
            </a:endParaRPr>
          </a:p>
        </p:txBody>
      </p:sp>
      <p:sp>
        <p:nvSpPr>
          <p:cNvPr id="4" name="Subtitle 3"/>
          <p:cNvSpPr>
            <a:spLocks noGrp="1"/>
          </p:cNvSpPr>
          <p:nvPr>
            <p:ph type="subTitle" idx="1"/>
          </p:nvPr>
        </p:nvSpPr>
        <p:spPr/>
        <p:txBody>
          <a:bodyPr/>
          <a:lstStyle/>
          <a:p>
            <a:endParaRPr lang="en-IN"/>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spTree>
    <p:extLst>
      <p:ext uri="{BB962C8B-B14F-4D97-AF65-F5344CB8AC3E}">
        <p14:creationId xmlns:p14="http://schemas.microsoft.com/office/powerpoint/2010/main" val="3999109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563562"/>
          </a:xfrm>
        </p:spPr>
        <p:txBody>
          <a:bodyPr>
            <a:normAutofit fontScale="90000"/>
          </a:bodyPr>
          <a:lstStyle/>
          <a:p>
            <a:r>
              <a:rPr lang="en-US" b="1" dirty="0" smtClean="0">
                <a:solidFill>
                  <a:schemeClr val="tx1"/>
                </a:solidFill>
                <a:latin typeface="Times New Roman" pitchFamily="18" charset="0"/>
                <a:cs typeface="Times New Roman" pitchFamily="18" charset="0"/>
              </a:rPr>
              <a:t>Multi-level Voltage Scaling</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81000" y="990600"/>
            <a:ext cx="8305800" cy="5562600"/>
          </a:xfrm>
        </p:spPr>
        <p:txBody>
          <a:bodyPr>
            <a:normAutofit lnSpcReduction="10000"/>
          </a:bodyPr>
          <a:lstStyle/>
          <a:p>
            <a:pPr>
              <a:buFont typeface="Wingdings" pitchFamily="2" charset="2"/>
              <a:buChar char="Ø"/>
            </a:pPr>
            <a:r>
              <a:rPr lang="en-US" b="1" dirty="0" smtClean="0">
                <a:solidFill>
                  <a:srgbClr val="0070C0"/>
                </a:solidFill>
                <a:latin typeface="Times New Roman" pitchFamily="18" charset="0"/>
                <a:cs typeface="Times New Roman" pitchFamily="18" charset="0"/>
              </a:rPr>
              <a:t>Multi-level Voltage Scaling (MVS): </a:t>
            </a:r>
            <a:r>
              <a:rPr lang="en-US" dirty="0" smtClean="0">
                <a:latin typeface="Times New Roman" pitchFamily="18" charset="0"/>
                <a:cs typeface="Times New Roman" pitchFamily="18" charset="0"/>
              </a:rPr>
              <a:t>This is an extension of SVS where two or few fixed voltage domains are used in different parts of a circuit.</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b="1" dirty="0" smtClean="0">
                <a:solidFill>
                  <a:srgbClr val="0070C0"/>
                </a:solidFill>
                <a:latin typeface="Times New Roman" pitchFamily="18" charset="0"/>
                <a:cs typeface="Times New Roman" pitchFamily="18" charset="0"/>
              </a:rPr>
              <a:t>Basic Concept: </a:t>
            </a:r>
            <a:r>
              <a:rPr lang="en-US" dirty="0" smtClean="0">
                <a:latin typeface="Times New Roman" pitchFamily="18" charset="0"/>
                <a:cs typeface="Times New Roman" pitchFamily="18" charset="0"/>
              </a:rPr>
              <a:t>High Vdd gates have less delay, but higher dynamic and static power and low Vdd gates have larger delay but lesser power dissipation. </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Voltage islands can be generated at different levels of granularity, such as </a:t>
            </a:r>
            <a:r>
              <a:rPr lang="en-US" b="1" dirty="0" smtClean="0">
                <a:solidFill>
                  <a:srgbClr val="00B050"/>
                </a:solidFill>
                <a:latin typeface="Times New Roman" pitchFamily="18" charset="0"/>
                <a:cs typeface="Times New Roman" pitchFamily="18" charset="0"/>
              </a:rPr>
              <a:t>macro level </a:t>
            </a:r>
            <a:r>
              <a:rPr lang="en-US" dirty="0" smtClean="0">
                <a:latin typeface="Times New Roman" pitchFamily="18" charset="0"/>
                <a:cs typeface="Times New Roman" pitchFamily="18" charset="0"/>
              </a:rPr>
              <a:t>and </a:t>
            </a:r>
            <a:r>
              <a:rPr lang="en-US" b="1" dirty="0" smtClean="0">
                <a:solidFill>
                  <a:srgbClr val="00B050"/>
                </a:solidFill>
                <a:latin typeface="Times New Roman" pitchFamily="18" charset="0"/>
                <a:cs typeface="Times New Roman" pitchFamily="18" charset="0"/>
              </a:rPr>
              <a:t>standard cell </a:t>
            </a:r>
            <a:r>
              <a:rPr lang="en-US" dirty="0" smtClean="0">
                <a:latin typeface="Times New Roman" pitchFamily="18" charset="0"/>
                <a:cs typeface="Times New Roman" pitchFamily="18" charset="0"/>
              </a:rPr>
              <a:t>level.</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Total power dissipation can be reduced without degrading the overall circuit performance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_20180204-172320.png"/>
          <p:cNvPicPr>
            <a:picLocks noGrp="1" noChangeAspect="1"/>
          </p:cNvPicPr>
          <p:nvPr>
            <p:ph sz="quarter" idx="1"/>
          </p:nvPr>
        </p:nvPicPr>
        <p:blipFill>
          <a:blip r:embed="rId2" cstate="print"/>
          <a:stretch>
            <a:fillRect/>
          </a:stretch>
        </p:blipFill>
        <p:spPr>
          <a:xfrm>
            <a:off x="304800" y="838200"/>
            <a:ext cx="8534400" cy="5638799"/>
          </a:xfr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563562"/>
          </a:xfrm>
        </p:spPr>
        <p:txBody>
          <a:bodyPr>
            <a:normAutofit fontScale="90000"/>
          </a:bodyPr>
          <a:lstStyle/>
          <a:p>
            <a:r>
              <a:rPr lang="en-US" b="1" dirty="0" smtClean="0">
                <a:solidFill>
                  <a:schemeClr val="tx1"/>
                </a:solidFill>
                <a:latin typeface="Times New Roman" pitchFamily="18" charset="0"/>
                <a:cs typeface="Times New Roman" pitchFamily="18" charset="0"/>
              </a:rPr>
              <a:t>Multiple Vdd Circuits</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04800" y="914400"/>
            <a:ext cx="8382000" cy="2514600"/>
          </a:xfrm>
        </p:spPr>
        <p:txBody>
          <a:bodyPr/>
          <a:lstStyle/>
          <a:p>
            <a:pPr algn="just">
              <a:buFont typeface="Wingdings" pitchFamily="2" charset="2"/>
              <a:buChar char="Ø"/>
            </a:pPr>
            <a:r>
              <a:rPr lang="en-US" dirty="0" smtClean="0">
                <a:latin typeface="Times New Roman" pitchFamily="18" charset="0"/>
                <a:cs typeface="Times New Roman" pitchFamily="18" charset="0"/>
              </a:rPr>
              <a:t>Macro based voltage island methodology targets toward an entire macro or functional block to be assigned at different voltages at the time of high level synthesis. Starting with an intermediate representation known as directed acyclic graph (DAG), high level synthesis involves two basic steps; </a:t>
            </a:r>
            <a:r>
              <a:rPr lang="en-US" b="1" dirty="0" smtClean="0">
                <a:solidFill>
                  <a:srgbClr val="FF0000"/>
                </a:solidFill>
                <a:latin typeface="Times New Roman" pitchFamily="18" charset="0"/>
                <a:cs typeface="Times New Roman" pitchFamily="18" charset="0"/>
              </a:rPr>
              <a:t>scheduling</a:t>
            </a:r>
            <a:r>
              <a:rPr lang="en-US" dirty="0" smtClean="0">
                <a:latin typeface="Times New Roman" pitchFamily="18" charset="0"/>
                <a:cs typeface="Times New Roman" pitchFamily="18" charset="0"/>
              </a:rPr>
              <a:t> and </a:t>
            </a:r>
            <a:r>
              <a:rPr lang="en-US" b="1" dirty="0" smtClean="0">
                <a:solidFill>
                  <a:srgbClr val="FF0000"/>
                </a:solidFill>
                <a:latin typeface="Times New Roman" pitchFamily="18" charset="0"/>
                <a:cs typeface="Times New Roman" pitchFamily="18" charset="0"/>
              </a:rPr>
              <a:t>allocation</a:t>
            </a:r>
            <a:r>
              <a:rPr lang="en-US" dirty="0" smtClean="0">
                <a:latin typeface="Times New Roman" pitchFamily="18" charset="0"/>
                <a:cs typeface="Times New Roman" pitchFamily="18" charset="0"/>
              </a:rPr>
              <a:t>.  </a:t>
            </a:r>
          </a:p>
          <a:p>
            <a:pPr algn="just">
              <a:buFont typeface="Wingdings" pitchFamily="2" charset="2"/>
              <a:buChar char="Ø"/>
            </a:pPr>
            <a:endParaRPr lang="en-US" dirty="0" smtClean="0">
              <a:latin typeface="Times New Roman" pitchFamily="18" charset="0"/>
              <a:cs typeface="Times New Roman" pitchFamily="18" charset="0"/>
            </a:endParaRPr>
          </a:p>
          <a:p>
            <a:pPr algn="just">
              <a:buFont typeface="Wingdings" pitchFamily="2" charset="2"/>
              <a:buChar char="Ø"/>
            </a:pPr>
            <a:endParaRPr lang="en-US"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4876800" y="2971800"/>
            <a:ext cx="4000500" cy="3124200"/>
          </a:xfrm>
          <a:prstGeom prst="rect">
            <a:avLst/>
          </a:prstGeom>
          <a:noFill/>
          <a:ln w="9525">
            <a:noFill/>
            <a:miter lim="800000"/>
            <a:headEnd/>
            <a:tailEnd/>
          </a:ln>
        </p:spPr>
      </p:pic>
      <p:sp>
        <p:nvSpPr>
          <p:cNvPr id="6" name="TextBox 5"/>
          <p:cNvSpPr txBox="1"/>
          <p:nvPr/>
        </p:nvSpPr>
        <p:spPr>
          <a:xfrm>
            <a:off x="152400" y="4419600"/>
            <a:ext cx="5029200" cy="1692771"/>
          </a:xfrm>
          <a:prstGeom prst="rect">
            <a:avLst/>
          </a:prstGeom>
          <a:noFill/>
        </p:spPr>
        <p:txBody>
          <a:bodyPr wrap="square" rtlCol="0">
            <a:spAutoFit/>
          </a:bodyPr>
          <a:lstStyle/>
          <a:p>
            <a:pPr>
              <a:buFont typeface="Wingdings" pitchFamily="2" charset="2"/>
              <a:buChar char="Ø"/>
            </a:pPr>
            <a:r>
              <a:rPr lang="en-US" dirty="0" smtClean="0"/>
              <a:t> </a:t>
            </a:r>
            <a:r>
              <a:rPr lang="en-US" sz="2600" dirty="0" smtClean="0">
                <a:latin typeface="Times New Roman" pitchFamily="18" charset="0"/>
                <a:cs typeface="Times New Roman" pitchFamily="18" charset="0"/>
              </a:rPr>
              <a:t>The stack of the off critical path  can be utilized for allocation of macro modules of low Vdd to off-critical path operations</a:t>
            </a:r>
          </a:p>
        </p:txBody>
      </p:sp>
      <p:sp>
        <p:nvSpPr>
          <p:cNvPr id="7" name="TextBox 6"/>
          <p:cNvSpPr txBox="1"/>
          <p:nvPr/>
        </p:nvSpPr>
        <p:spPr>
          <a:xfrm>
            <a:off x="4343400" y="6096000"/>
            <a:ext cx="4267200" cy="646331"/>
          </a:xfrm>
          <a:prstGeom prst="rect">
            <a:avLst/>
          </a:prstGeom>
          <a:noFill/>
        </p:spPr>
        <p:txBody>
          <a:bodyPr wrap="square" rtlCol="0">
            <a:spAutoFit/>
          </a:bodyPr>
          <a:lstStyle/>
          <a:p>
            <a:r>
              <a:rPr lang="en-US" b="1" dirty="0" smtClean="0">
                <a:latin typeface="Times New Roman" pitchFamily="18" charset="0"/>
                <a:cs typeface="Times New Roman" pitchFamily="18" charset="0"/>
              </a:rPr>
              <a:t>Macro based voltage island approach to achieve low power </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_20180204-172734.png"/>
          <p:cNvPicPr>
            <a:picLocks noGrp="1" noChangeAspect="1"/>
          </p:cNvPicPr>
          <p:nvPr>
            <p:ph sz="quarter" idx="1"/>
          </p:nvPr>
        </p:nvPicPr>
        <p:blipFill>
          <a:blip r:embed="rId2" cstate="print"/>
          <a:stretch>
            <a:fillRect/>
          </a:stretch>
        </p:blipFill>
        <p:spPr>
          <a:xfrm>
            <a:off x="304800" y="609600"/>
            <a:ext cx="8382000" cy="5943600"/>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_20180204-172920.png"/>
          <p:cNvPicPr>
            <a:picLocks noGrp="1" noChangeAspect="1"/>
          </p:cNvPicPr>
          <p:nvPr>
            <p:ph sz="quarter" idx="1"/>
          </p:nvPr>
        </p:nvPicPr>
        <p:blipFill>
          <a:blip r:embed="rId2" cstate="print"/>
          <a:stretch>
            <a:fillRect/>
          </a:stretch>
        </p:blipFill>
        <p:spPr>
          <a:xfrm>
            <a:off x="304800" y="228600"/>
            <a:ext cx="8305800" cy="5638800"/>
          </a:xfrm>
        </p:spPr>
      </p:pic>
      <p:sp>
        <p:nvSpPr>
          <p:cNvPr id="5" name="TextBox 4"/>
          <p:cNvSpPr txBox="1"/>
          <p:nvPr/>
        </p:nvSpPr>
        <p:spPr>
          <a:xfrm>
            <a:off x="2209800" y="6096000"/>
            <a:ext cx="5486400"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Initial DFG for differential Equation</a:t>
            </a:r>
            <a:endParaRPr lang="en-US" sz="2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487362"/>
          </a:xfrm>
        </p:spPr>
        <p:txBody>
          <a:bodyPr>
            <a:normAutofit fontScale="90000"/>
          </a:bodyPr>
          <a:lstStyle/>
          <a:p>
            <a:r>
              <a:rPr lang="en-US" b="1" dirty="0" smtClean="0">
                <a:solidFill>
                  <a:schemeClr val="tx1"/>
                </a:solidFill>
                <a:latin typeface="Times New Roman" pitchFamily="18" charset="0"/>
                <a:cs typeface="Times New Roman" pitchFamily="18" charset="0"/>
              </a:rPr>
              <a:t>Multiple Vdd Circuits </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685800"/>
            <a:ext cx="8458200" cy="2971800"/>
          </a:xfrm>
        </p:spPr>
        <p:txBody>
          <a:bodyPr>
            <a:normAutofit/>
          </a:bodyPr>
          <a:lstStyle/>
          <a:p>
            <a:pPr>
              <a:buFont typeface="Wingdings" pitchFamily="2" charset="2"/>
              <a:buChar char="Ø"/>
            </a:pPr>
            <a:r>
              <a:rPr lang="en-US" sz="2400" dirty="0" smtClean="0">
                <a:latin typeface="Times New Roman" pitchFamily="18" charset="0"/>
                <a:cs typeface="Times New Roman" pitchFamily="18" charset="0"/>
              </a:rPr>
              <a:t>In the standard-cell  level, gates on the critical path and non critical paths are clustered in to two groups</a:t>
            </a:r>
          </a:p>
          <a:p>
            <a:pPr>
              <a:buFont typeface="Wingdings" pitchFamily="2" charset="2"/>
              <a:buChar char="Ø"/>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Gates on the critical path are selected from the higher supply voltage (VddH) standard cell library, whereas gates on the non - critical path are selected from the lower supply voltage (VddL)  standard cell library </a:t>
            </a:r>
          </a:p>
          <a:p>
            <a:pPr>
              <a:buFont typeface="Wingdings" pitchFamily="2" charset="2"/>
              <a:buChar char="Ø"/>
            </a:pP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533400" y="3505200"/>
            <a:ext cx="8124825" cy="2581275"/>
          </a:xfrm>
          <a:prstGeom prst="rect">
            <a:avLst/>
          </a:prstGeom>
          <a:noFill/>
          <a:ln w="9525">
            <a:noFill/>
            <a:miter lim="800000"/>
            <a:headEnd/>
            <a:tailEnd/>
          </a:ln>
        </p:spPr>
      </p:pic>
      <p:sp>
        <p:nvSpPr>
          <p:cNvPr id="6" name="TextBox 5"/>
          <p:cNvSpPr txBox="1"/>
          <p:nvPr/>
        </p:nvSpPr>
        <p:spPr>
          <a:xfrm>
            <a:off x="685800" y="6019800"/>
            <a:ext cx="8258992" cy="400110"/>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Assignment of multiple supply voltages based on delay on the critical path</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762000"/>
          </a:xfrm>
        </p:spPr>
        <p:txBody>
          <a:bodyPr>
            <a:normAutofit/>
          </a:bodyPr>
          <a:lstStyle/>
          <a:p>
            <a:r>
              <a:rPr lang="en-US" sz="3200" b="1" dirty="0" smtClean="0">
                <a:solidFill>
                  <a:schemeClr val="tx1"/>
                </a:solidFill>
                <a:latin typeface="Times New Roman" pitchFamily="18" charset="0"/>
                <a:cs typeface="Times New Roman" pitchFamily="18" charset="0"/>
              </a:rPr>
              <a:t>Clustered Voltage Scaling</a:t>
            </a:r>
          </a:p>
        </p:txBody>
      </p:sp>
      <p:pic>
        <p:nvPicPr>
          <p:cNvPr id="10242" name="Picture 2"/>
          <p:cNvPicPr>
            <a:picLocks noGrp="1" noChangeAspect="1" noChangeArrowheads="1"/>
          </p:cNvPicPr>
          <p:nvPr>
            <p:ph sz="quarter" idx="1"/>
          </p:nvPr>
        </p:nvPicPr>
        <p:blipFill>
          <a:blip r:embed="rId2" cstate="print"/>
          <a:srcRect/>
          <a:stretch>
            <a:fillRect/>
          </a:stretch>
        </p:blipFill>
        <p:spPr bwMode="auto">
          <a:xfrm>
            <a:off x="1143000" y="990600"/>
            <a:ext cx="7239000" cy="571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533400"/>
            <a:ext cx="5685146" cy="523220"/>
          </a:xfrm>
          <a:prstGeom prst="rect">
            <a:avLst/>
          </a:prstGeom>
          <a:noFill/>
        </p:spPr>
        <p:txBody>
          <a:bodyPr wrap="none" rtlCol="0">
            <a:spAutoFit/>
          </a:bodyPr>
          <a:lstStyle/>
          <a:p>
            <a:r>
              <a:rPr lang="en-US" sz="2800" b="1" dirty="0" smtClean="0">
                <a:latin typeface="Times New Roman" pitchFamily="18" charset="0"/>
                <a:cs typeface="Times New Roman" pitchFamily="18" charset="0"/>
              </a:rPr>
              <a:t>Impact of Clustered Voltage Scaling</a:t>
            </a:r>
            <a:endParaRPr lang="en-US" sz="2800" b="1" dirty="0">
              <a:latin typeface="Times New Roman" pitchFamily="18" charset="0"/>
              <a:cs typeface="Times New Roman" pitchFamily="18" charset="0"/>
            </a:endParaRPr>
          </a:p>
        </p:txBody>
      </p:sp>
      <p:pic>
        <p:nvPicPr>
          <p:cNvPr id="5" name="Content Placeholder 4" descr="1.png"/>
          <p:cNvPicPr>
            <a:picLocks noGrp="1" noChangeAspect="1"/>
          </p:cNvPicPr>
          <p:nvPr>
            <p:ph sz="quarter" idx="1"/>
          </p:nvPr>
        </p:nvPicPr>
        <p:blipFill>
          <a:blip r:embed="rId2" cstate="print"/>
          <a:stretch>
            <a:fillRect/>
          </a:stretch>
        </p:blipFill>
        <p:spPr>
          <a:xfrm>
            <a:off x="838200" y="1295400"/>
            <a:ext cx="7772400" cy="3467979"/>
          </a:xfrm>
        </p:spPr>
      </p:pic>
      <p:sp>
        <p:nvSpPr>
          <p:cNvPr id="6" name="TextBox 5"/>
          <p:cNvSpPr txBox="1"/>
          <p:nvPr/>
        </p:nvSpPr>
        <p:spPr>
          <a:xfrm>
            <a:off x="914400" y="5029200"/>
            <a:ext cx="7924800" cy="400110"/>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Distribution of path delays under single and multiple supply voltages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382000" cy="533400"/>
          </a:xfrm>
        </p:spPr>
        <p:txBody>
          <a:bodyPr>
            <a:normAutofit fontScale="90000"/>
          </a:bodyPr>
          <a:lstStyle/>
          <a:p>
            <a:r>
              <a:rPr lang="en-US" b="1" dirty="0" smtClean="0">
                <a:solidFill>
                  <a:schemeClr val="tx1"/>
                </a:solidFill>
                <a:latin typeface="Times New Roman" pitchFamily="18" charset="0"/>
                <a:cs typeface="Times New Roman" pitchFamily="18" charset="0"/>
              </a:rPr>
              <a:t>Issues in multiple Vdd circuits</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219200"/>
            <a:ext cx="7772400" cy="5257800"/>
          </a:xfrm>
        </p:spPr>
        <p:txBody>
          <a:bodyPr>
            <a:normAutofit fontScale="92500" lnSpcReduction="20000"/>
          </a:bodyPr>
          <a:lstStyle/>
          <a:p>
            <a:pPr>
              <a:buFont typeface="Wingdings" pitchFamily="2" charset="2"/>
              <a:buChar char="Ø"/>
            </a:pPr>
            <a:r>
              <a:rPr lang="en-US" dirty="0" smtClean="0">
                <a:latin typeface="Times New Roman" pitchFamily="18" charset="0"/>
                <a:cs typeface="Times New Roman" pitchFamily="18" charset="0"/>
              </a:rPr>
              <a:t>Voltage Scaling Interfaces</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Converter Placement</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Floor planning, Routing and Placement</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Multiple Supply Voltages</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Static Timing Analysis</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Power up and Power Down Sequencing</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Clock distribution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639762"/>
          </a:xfrm>
        </p:spPr>
        <p:txBody>
          <a:bodyPr>
            <a:normAutofit fontScale="90000"/>
          </a:bodyPr>
          <a:lstStyle/>
          <a:p>
            <a:r>
              <a:rPr lang="en-US" b="1" dirty="0" smtClean="0">
                <a:solidFill>
                  <a:schemeClr val="tx1"/>
                </a:solidFill>
                <a:latin typeface="Times New Roman" pitchFamily="18" charset="0"/>
                <a:cs typeface="Times New Roman" pitchFamily="18" charset="0"/>
              </a:rPr>
              <a:t>Voltage Scaling Interfaces</a:t>
            </a:r>
            <a:endParaRPr lang="en-US" b="1" dirty="0">
              <a:solidFill>
                <a:schemeClr val="tx1"/>
              </a:solidFill>
              <a:latin typeface="Times New Roman" pitchFamily="18" charset="0"/>
              <a:cs typeface="Times New Roman" pitchFamily="18" charset="0"/>
            </a:endParaRPr>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5410200" y="2667000"/>
            <a:ext cx="3733800" cy="3048000"/>
          </a:xfrm>
          <a:prstGeom prst="rect">
            <a:avLst/>
          </a:prstGeom>
          <a:noFill/>
          <a:ln w="9525">
            <a:noFill/>
            <a:miter lim="800000"/>
            <a:headEnd/>
            <a:tailEnd/>
          </a:ln>
        </p:spPr>
      </p:pic>
      <p:sp>
        <p:nvSpPr>
          <p:cNvPr id="5" name="TextBox 4"/>
          <p:cNvSpPr txBox="1"/>
          <p:nvPr/>
        </p:nvSpPr>
        <p:spPr>
          <a:xfrm>
            <a:off x="685800" y="5791200"/>
            <a:ext cx="7467601" cy="830997"/>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Signal going for low Vdd  to high Vdd domain causing a short circuit current</a:t>
            </a:r>
            <a:endParaRPr lang="en-US" sz="2400" b="1" dirty="0">
              <a:latin typeface="Times New Roman" pitchFamily="18" charset="0"/>
              <a:cs typeface="Times New Roman" pitchFamily="18" charset="0"/>
            </a:endParaRPr>
          </a:p>
        </p:txBody>
      </p:sp>
      <p:sp>
        <p:nvSpPr>
          <p:cNvPr id="6" name="TextBox 5"/>
          <p:cNvSpPr txBox="1"/>
          <p:nvPr/>
        </p:nvSpPr>
        <p:spPr>
          <a:xfrm>
            <a:off x="304800" y="838201"/>
            <a:ext cx="8738290" cy="1015663"/>
          </a:xfrm>
          <a:prstGeom prst="rect">
            <a:avLst/>
          </a:prstGeom>
          <a:noFill/>
        </p:spPr>
        <p:txBody>
          <a:bodyPr wrap="square" rtlCol="0">
            <a:spAutoFit/>
          </a:bodyPr>
          <a:lstStyle/>
          <a:p>
            <a:r>
              <a:rPr lang="en-US" sz="2000" dirty="0" smtClean="0">
                <a:latin typeface="Times New Roman" pitchFamily="18" charset="0"/>
                <a:cs typeface="Times New Roman" pitchFamily="18" charset="0"/>
              </a:rPr>
              <a:t>When signal go from one voltage domain to another voltage domain,  quite often it is necessary to insert  level converters  or shifters  that  convert signals of one voltage level to another voltage level.</a:t>
            </a:r>
          </a:p>
        </p:txBody>
      </p:sp>
      <p:sp>
        <p:nvSpPr>
          <p:cNvPr id="7" name="TextBox 6"/>
          <p:cNvSpPr txBox="1"/>
          <p:nvPr/>
        </p:nvSpPr>
        <p:spPr>
          <a:xfrm>
            <a:off x="381000" y="2057400"/>
            <a:ext cx="5486400" cy="3170099"/>
          </a:xfrm>
          <a:prstGeom prst="rect">
            <a:avLst/>
          </a:prstGeom>
          <a:noFill/>
        </p:spPr>
        <p:txBody>
          <a:bodyPr wrap="square" rtlCol="0">
            <a:spAutoFit/>
          </a:bodyPr>
          <a:lstStyle/>
          <a:p>
            <a:pPr>
              <a:buFont typeface="Wingdings" pitchFamily="2" charset="2"/>
              <a:buChar char="Ø"/>
            </a:pPr>
            <a:r>
              <a:rPr lang="en-US" sz="2000" dirty="0" smtClean="0">
                <a:latin typeface="Times New Roman" pitchFamily="18" charset="0"/>
                <a:cs typeface="Times New Roman" pitchFamily="18" charset="0"/>
              </a:rPr>
              <a:t>Consider a signal going from a low Vdd domain to high Vdd domain </a:t>
            </a:r>
          </a:p>
          <a:p>
            <a:pPr>
              <a:buFont typeface="Wingdings" pitchFamily="2" charset="2"/>
              <a:buChar char="Ø"/>
            </a:pPr>
            <a:endParaRPr lang="en-US" sz="2000" dirty="0" smtClean="0">
              <a:latin typeface="Times New Roman" pitchFamily="18" charset="0"/>
              <a:cs typeface="Times New Roman" pitchFamily="18" charset="0"/>
            </a:endParaRPr>
          </a:p>
          <a:p>
            <a:pPr algn="just">
              <a:buFont typeface="Wingdings" pitchFamily="2" charset="2"/>
              <a:buChar char="Ø"/>
            </a:pPr>
            <a:r>
              <a:rPr lang="en-US" sz="2000" dirty="0" smtClean="0">
                <a:latin typeface="Times New Roman" pitchFamily="18" charset="0"/>
                <a:cs typeface="Times New Roman" pitchFamily="18" charset="0"/>
              </a:rPr>
              <a:t>A high level output from the low Vdd domain has output VddL , which may turn on both </a:t>
            </a:r>
            <a:r>
              <a:rPr lang="en-US" sz="2000" dirty="0" err="1" smtClean="0">
                <a:latin typeface="Times New Roman" pitchFamily="18" charset="0"/>
                <a:cs typeface="Times New Roman" pitchFamily="18" charset="0"/>
              </a:rPr>
              <a:t>nMOS</a:t>
            </a:r>
            <a:r>
              <a:rPr lang="en-US" sz="2000" dirty="0" smtClean="0">
                <a:latin typeface="Times New Roman" pitchFamily="18" charset="0"/>
                <a:cs typeface="Times New Roman" pitchFamily="18" charset="0"/>
              </a:rPr>
              <a:t> and </a:t>
            </a:r>
            <a:r>
              <a:rPr lang="en-US" sz="2000" dirty="0" err="1" smtClean="0">
                <a:latin typeface="Times New Roman" pitchFamily="18" charset="0"/>
                <a:cs typeface="Times New Roman" pitchFamily="18" charset="0"/>
              </a:rPr>
              <a:t>pMOS</a:t>
            </a:r>
            <a:r>
              <a:rPr lang="en-US" sz="2000" dirty="0" smtClean="0">
                <a:latin typeface="Times New Roman" pitchFamily="18" charset="0"/>
                <a:cs typeface="Times New Roman" pitchFamily="18" charset="0"/>
              </a:rPr>
              <a:t> transistors of the high Vdd domain inverter resulting in short circuit between VddH to GND.</a:t>
            </a: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A level converter needs to be inserted  to avoid this static power consumption.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381000"/>
          </a:xfrm>
        </p:spPr>
        <p:txBody>
          <a:bodyPr>
            <a:normAutofit fontScale="90000"/>
          </a:bodyPr>
          <a:lstStyle/>
          <a:p>
            <a:r>
              <a:rPr lang="en-US" b="1" dirty="0" smtClean="0">
                <a:solidFill>
                  <a:schemeClr val="tx1"/>
                </a:solidFill>
                <a:latin typeface="Times New Roman" pitchFamily="18" charset="0"/>
                <a:cs typeface="Times New Roman" pitchFamily="18" charset="0"/>
              </a:rPr>
              <a:t>Low to High Voltage level Converters </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533400"/>
            <a:ext cx="8686800" cy="5486400"/>
          </a:xfrm>
        </p:spPr>
        <p:txBody>
          <a:bodyPr>
            <a:normAutofit/>
          </a:bodyPr>
          <a:lstStyle/>
          <a:p>
            <a:r>
              <a:rPr lang="en-US" sz="2200" dirty="0" smtClean="0">
                <a:latin typeface="Times New Roman" pitchFamily="18" charset="0"/>
                <a:cs typeface="Times New Roman" pitchFamily="18" charset="0"/>
              </a:rPr>
              <a:t>Driving logic signals from low voltage domain to high voltage domain is critical problem because it has significant degrading effect on the operation of a circuit.</a:t>
            </a:r>
          </a:p>
          <a:p>
            <a:r>
              <a:rPr lang="en-US" sz="2200" dirty="0" smtClean="0">
                <a:latin typeface="Times New Roman" pitchFamily="18" charset="0"/>
                <a:cs typeface="Times New Roman" pitchFamily="18" charset="0"/>
              </a:rPr>
              <a:t>The circuit requires both VddL and VddH supply voltages for its operation. The low to high level converters introduce considerably larger delay compared to the high to low level converters discussed above.</a:t>
            </a:r>
          </a:p>
          <a:p>
            <a:r>
              <a:rPr lang="en-US" sz="2200" dirty="0" smtClean="0">
                <a:latin typeface="Times New Roman" pitchFamily="18" charset="0"/>
                <a:cs typeface="Times New Roman" pitchFamily="18" charset="0"/>
              </a:rPr>
              <a:t>These level converters are to be characterized over an extended voltage range to match different voltage domains of the low and high side of voltage domains for accurate static timing </a:t>
            </a:r>
            <a:r>
              <a:rPr lang="en-US" sz="2400" dirty="0" smtClean="0"/>
              <a:t>analysis. </a:t>
            </a:r>
            <a:endParaRPr lang="en-US" sz="2400" dirty="0"/>
          </a:p>
        </p:txBody>
      </p:sp>
      <p:sp>
        <p:nvSpPr>
          <p:cNvPr id="6" name="TextBox 5"/>
          <p:cNvSpPr txBox="1"/>
          <p:nvPr/>
        </p:nvSpPr>
        <p:spPr>
          <a:xfrm>
            <a:off x="0" y="6172200"/>
            <a:ext cx="8610600" cy="523220"/>
          </a:xfrm>
          <a:prstGeom prst="rect">
            <a:avLst/>
          </a:prstGeom>
          <a:noFill/>
        </p:spPr>
        <p:txBody>
          <a:bodyPr wrap="square" rtlCol="0">
            <a:spAutoFit/>
          </a:bodyPr>
          <a:lstStyle/>
          <a:p>
            <a:r>
              <a:rPr lang="en-US" sz="1400" b="1" dirty="0" smtClean="0">
                <a:latin typeface="Times New Roman" pitchFamily="18" charset="0"/>
                <a:cs typeface="Times New Roman" pitchFamily="18" charset="0"/>
              </a:rPr>
              <a:t>a) Logic symbol of high-to-low level converter;</a:t>
            </a:r>
          </a:p>
          <a:p>
            <a:r>
              <a:rPr lang="en-US" sz="1400" b="1" dirty="0" smtClean="0">
                <a:latin typeface="Times New Roman" pitchFamily="18" charset="0"/>
                <a:cs typeface="Times New Roman" pitchFamily="18" charset="0"/>
              </a:rPr>
              <a:t>b) High-to-low-voltage level converter realization</a:t>
            </a:r>
            <a:endParaRPr lang="en-US" sz="1400" b="1"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cstate="print"/>
          <a:srcRect/>
          <a:stretch>
            <a:fillRect/>
          </a:stretch>
        </p:blipFill>
        <p:spPr bwMode="auto">
          <a:xfrm>
            <a:off x="4648200" y="3962400"/>
            <a:ext cx="4495800" cy="266700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685800" y="4114801"/>
            <a:ext cx="2762250"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609600"/>
          </a:xfrm>
        </p:spPr>
        <p:txBody>
          <a:bodyPr>
            <a:noAutofit/>
          </a:bodyPr>
          <a:lstStyle/>
          <a:p>
            <a:r>
              <a:rPr lang="en-US" sz="3200" b="1" dirty="0" smtClean="0">
                <a:solidFill>
                  <a:schemeClr val="tx1"/>
                </a:solidFill>
                <a:latin typeface="Times New Roman" pitchFamily="18" charset="0"/>
                <a:cs typeface="Times New Roman" pitchFamily="18" charset="0"/>
              </a:rPr>
              <a:t>High to Low voltage level Converters</a:t>
            </a:r>
            <a:endParaRPr lang="en-US" sz="3200"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685800"/>
            <a:ext cx="8458200" cy="4267200"/>
          </a:xfrm>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Without a level converter, the voltage swing of the signal reaching the low Vdd domain is 0 to VddH.</a:t>
            </a:r>
          </a:p>
          <a:p>
            <a:pPr algn="just">
              <a:buFont typeface="Wingdings" pitchFamily="2" charset="2"/>
              <a:buChar char="Ø"/>
            </a:pPr>
            <a:r>
              <a:rPr lang="en-US" dirty="0" smtClean="0">
                <a:latin typeface="Times New Roman" pitchFamily="18" charset="0"/>
                <a:cs typeface="Times New Roman" pitchFamily="18" charset="0"/>
              </a:rPr>
              <a:t>This causes higher switching power dissipation and high leakage power dissipation due to GIDL effect.</a:t>
            </a:r>
          </a:p>
          <a:p>
            <a:pPr algn="just">
              <a:buFont typeface="Wingdings" pitchFamily="2" charset="2"/>
              <a:buChar char="Ø"/>
            </a:pPr>
            <a:r>
              <a:rPr lang="en-US" dirty="0" smtClean="0">
                <a:latin typeface="Times New Roman" pitchFamily="18" charset="0"/>
                <a:cs typeface="Times New Roman" pitchFamily="18" charset="0"/>
              </a:rPr>
              <a:t>The rise and fall time may be long leading to increase in short circuit power dissipation.</a:t>
            </a:r>
          </a:p>
          <a:p>
            <a:pPr algn="just">
              <a:buFont typeface="Wingdings" pitchFamily="2" charset="2"/>
              <a:buChar char="Ø"/>
            </a:pPr>
            <a:r>
              <a:rPr lang="en-US" dirty="0" smtClean="0">
                <a:latin typeface="Times New Roman" pitchFamily="18" charset="0"/>
                <a:cs typeface="Times New Roman" pitchFamily="18" charset="0"/>
              </a:rPr>
              <a:t>The high to low level converter is essentially two inverter stages in cascade.</a:t>
            </a:r>
          </a:p>
          <a:p>
            <a:pPr algn="just">
              <a:buFont typeface="Wingdings" pitchFamily="2" charset="2"/>
              <a:buChar char="Ø"/>
            </a:pPr>
            <a:r>
              <a:rPr lang="en-US" dirty="0" smtClean="0">
                <a:latin typeface="Times New Roman" pitchFamily="18" charset="0"/>
                <a:cs typeface="Times New Roman" pitchFamily="18" charset="0"/>
              </a:rPr>
              <a:t>It introduces buffer delay and its impact on the static timing analysis is small.</a:t>
            </a:r>
          </a:p>
          <a:p>
            <a:pPr>
              <a:buFont typeface="Wingdings" pitchFamily="2" charset="2"/>
              <a:buChar char="Ø"/>
            </a:pPr>
            <a:endParaRPr lang="en-US" dirty="0" smtClean="0"/>
          </a:p>
        </p:txBody>
      </p:sp>
      <p:pic>
        <p:nvPicPr>
          <p:cNvPr id="3074" name="Picture 2"/>
          <p:cNvPicPr>
            <a:picLocks noChangeAspect="1" noChangeArrowheads="1"/>
          </p:cNvPicPr>
          <p:nvPr/>
        </p:nvPicPr>
        <p:blipFill>
          <a:blip r:embed="rId2" cstate="print"/>
          <a:srcRect/>
          <a:stretch>
            <a:fillRect/>
          </a:stretch>
        </p:blipFill>
        <p:spPr bwMode="auto">
          <a:xfrm>
            <a:off x="3352800" y="4343400"/>
            <a:ext cx="5553075" cy="2238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563562"/>
          </a:xfrm>
        </p:spPr>
        <p:txBody>
          <a:bodyPr>
            <a:normAutofit fontScale="90000"/>
          </a:bodyPr>
          <a:lstStyle/>
          <a:p>
            <a:r>
              <a:rPr lang="en-US" b="1" dirty="0" smtClean="0">
                <a:solidFill>
                  <a:schemeClr val="tx1"/>
                </a:solidFill>
                <a:latin typeface="Times New Roman" pitchFamily="18" charset="0"/>
                <a:cs typeface="Times New Roman" pitchFamily="18" charset="0"/>
              </a:rPr>
              <a:t>Converter placement</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838200"/>
            <a:ext cx="8458200" cy="4038600"/>
          </a:xfrm>
        </p:spPr>
        <p:txBody>
          <a:bodyPr>
            <a:normAutofit fontScale="92500" lnSpcReduction="10000"/>
          </a:bodyPr>
          <a:lstStyle/>
          <a:p>
            <a:pPr algn="just">
              <a:buFont typeface="Wingdings" pitchFamily="2" charset="2"/>
              <a:buChar char="Ø"/>
            </a:pPr>
            <a:r>
              <a:rPr lang="en-US" dirty="0" smtClean="0">
                <a:latin typeface="Times New Roman" pitchFamily="18" charset="0"/>
                <a:cs typeface="Times New Roman" pitchFamily="18" charset="0"/>
              </a:rPr>
              <a:t>One important design decision in the voltage scaling interfaces is the placement of converters.</a:t>
            </a:r>
          </a:p>
          <a:p>
            <a:pPr algn="just">
              <a:buFont typeface="Wingdings" pitchFamily="2" charset="2"/>
              <a:buChar char="Ø"/>
            </a:pPr>
            <a:r>
              <a:rPr lang="en-US" dirty="0" smtClean="0">
                <a:latin typeface="Times New Roman" pitchFamily="18" charset="0"/>
                <a:cs typeface="Times New Roman" pitchFamily="18" charset="0"/>
              </a:rPr>
              <a:t>As the high-to-low level converters use low Vdd voltage rail, it is appropriate to place them in the receiving or destination domain.</a:t>
            </a:r>
          </a:p>
          <a:p>
            <a:pPr algn="just">
              <a:buFont typeface="Wingdings" pitchFamily="2" charset="2"/>
              <a:buChar char="Ø"/>
            </a:pPr>
            <a:r>
              <a:rPr lang="en-US" dirty="0" smtClean="0">
                <a:latin typeface="Times New Roman" pitchFamily="18" charset="0"/>
                <a:cs typeface="Times New Roman" pitchFamily="18" charset="0"/>
              </a:rPr>
              <a:t>It is also recommended to place the low to high level converters in the receiving domain.</a:t>
            </a:r>
          </a:p>
          <a:p>
            <a:pPr algn="just">
              <a:buFont typeface="Wingdings" pitchFamily="2" charset="2"/>
              <a:buChar char="Ø"/>
            </a:pPr>
            <a:r>
              <a:rPr lang="en-US" dirty="0" smtClean="0">
                <a:latin typeface="Times New Roman" pitchFamily="18" charset="0"/>
                <a:cs typeface="Times New Roman" pitchFamily="18" charset="0"/>
              </a:rPr>
              <a:t>As the low to high level converters require both low and high Vdd supply rails, at least one of the supply rails needs to be routed from one domain to other.</a:t>
            </a:r>
          </a:p>
          <a:p>
            <a:pPr>
              <a:buNone/>
            </a:pPr>
            <a:r>
              <a:rPr lang="en-US" dirty="0" smtClean="0"/>
              <a:t> </a:t>
            </a:r>
          </a:p>
        </p:txBody>
      </p:sp>
      <p:pic>
        <p:nvPicPr>
          <p:cNvPr id="4098" name="Picture 2"/>
          <p:cNvPicPr>
            <a:picLocks noChangeAspect="1" noChangeArrowheads="1"/>
          </p:cNvPicPr>
          <p:nvPr/>
        </p:nvPicPr>
        <p:blipFill>
          <a:blip r:embed="rId2" cstate="print"/>
          <a:srcRect/>
          <a:stretch>
            <a:fillRect/>
          </a:stretch>
        </p:blipFill>
        <p:spPr bwMode="auto">
          <a:xfrm>
            <a:off x="533400" y="4114800"/>
            <a:ext cx="8077200" cy="1943100"/>
          </a:xfrm>
          <a:prstGeom prst="rect">
            <a:avLst/>
          </a:prstGeom>
          <a:noFill/>
          <a:ln w="9525">
            <a:noFill/>
            <a:miter lim="800000"/>
            <a:headEnd/>
            <a:tailEnd/>
          </a:ln>
        </p:spPr>
      </p:pic>
      <p:sp>
        <p:nvSpPr>
          <p:cNvPr id="6" name="TextBox 5"/>
          <p:cNvSpPr txBox="1"/>
          <p:nvPr/>
        </p:nvSpPr>
        <p:spPr>
          <a:xfrm>
            <a:off x="304800" y="6019801"/>
            <a:ext cx="7202485" cy="646331"/>
          </a:xfrm>
          <a:prstGeom prst="rect">
            <a:avLst/>
          </a:prstGeom>
          <a:noFill/>
        </p:spPr>
        <p:txBody>
          <a:bodyPr wrap="square" rtlCol="0">
            <a:spAutoFit/>
          </a:bodyPr>
          <a:lstStyle/>
          <a:p>
            <a:r>
              <a:rPr lang="en-US" b="1" dirty="0" smtClean="0">
                <a:latin typeface="Times New Roman" pitchFamily="18" charset="0"/>
                <a:cs typeface="Times New Roman" pitchFamily="18" charset="0"/>
              </a:rPr>
              <a:t>a High-to-low converter placement </a:t>
            </a:r>
          </a:p>
          <a:p>
            <a:r>
              <a:rPr lang="en-US" b="1" dirty="0" smtClean="0">
                <a:latin typeface="Times New Roman" pitchFamily="18" charset="0"/>
                <a:cs typeface="Times New Roman" pitchFamily="18" charset="0"/>
              </a:rPr>
              <a:t>b low-to-high converter placement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534400" cy="715962"/>
          </a:xfrm>
        </p:spPr>
        <p:txBody>
          <a:bodyPr>
            <a:normAutofit fontScale="90000"/>
          </a:bodyPr>
          <a:lstStyle/>
          <a:p>
            <a:r>
              <a:rPr lang="en-US" b="1" dirty="0" smtClean="0">
                <a:solidFill>
                  <a:schemeClr val="tx1"/>
                </a:solidFill>
                <a:latin typeface="Times New Roman" pitchFamily="18" charset="0"/>
                <a:cs typeface="Times New Roman" pitchFamily="18" charset="0"/>
              </a:rPr>
              <a:t>Floor Planning, Routing and Placement</a:t>
            </a:r>
            <a:endParaRPr lang="en-US" b="1" dirty="0">
              <a:solidFill>
                <a:schemeClr val="tx1"/>
              </a:solidFill>
              <a:latin typeface="Times New Roman" pitchFamily="18" charset="0"/>
              <a:cs typeface="Times New Roman" pitchFamily="18" charset="0"/>
            </a:endParaRPr>
          </a:p>
        </p:txBody>
      </p:sp>
      <p:pic>
        <p:nvPicPr>
          <p:cNvPr id="5122" name="Picture 2"/>
          <p:cNvPicPr>
            <a:picLocks noGrp="1" noChangeAspect="1" noChangeArrowheads="1"/>
          </p:cNvPicPr>
          <p:nvPr>
            <p:ph sz="quarter" idx="1"/>
          </p:nvPr>
        </p:nvPicPr>
        <p:blipFill>
          <a:blip r:embed="rId2" cstate="print"/>
          <a:srcRect/>
          <a:stretch>
            <a:fillRect/>
          </a:stretch>
        </p:blipFill>
        <p:spPr bwMode="auto">
          <a:xfrm>
            <a:off x="4419600" y="990600"/>
            <a:ext cx="4495800" cy="4572000"/>
          </a:xfrm>
          <a:prstGeom prst="rect">
            <a:avLst/>
          </a:prstGeom>
          <a:noFill/>
          <a:ln w="9525">
            <a:noFill/>
            <a:miter lim="800000"/>
            <a:headEnd/>
            <a:tailEnd/>
          </a:ln>
        </p:spPr>
      </p:pic>
      <p:sp>
        <p:nvSpPr>
          <p:cNvPr id="5" name="TextBox 4"/>
          <p:cNvSpPr txBox="1"/>
          <p:nvPr/>
        </p:nvSpPr>
        <p:spPr>
          <a:xfrm>
            <a:off x="4343400" y="5943600"/>
            <a:ext cx="4716035" cy="369332"/>
          </a:xfrm>
          <a:prstGeom prst="rect">
            <a:avLst/>
          </a:prstGeom>
          <a:noFill/>
        </p:spPr>
        <p:txBody>
          <a:bodyPr wrap="none" rtlCol="0">
            <a:spAutoFit/>
          </a:bodyPr>
          <a:lstStyle/>
          <a:p>
            <a:r>
              <a:rPr lang="en-US" b="1" dirty="0" smtClean="0">
                <a:latin typeface="Times New Roman" pitchFamily="18" charset="0"/>
                <a:cs typeface="Times New Roman" pitchFamily="18" charset="0"/>
              </a:rPr>
              <a:t>Placement and routing in multiple Vdd design</a:t>
            </a:r>
            <a:endParaRPr lang="en-US" b="1" dirty="0">
              <a:latin typeface="Times New Roman" pitchFamily="18" charset="0"/>
              <a:cs typeface="Times New Roman" pitchFamily="18" charset="0"/>
            </a:endParaRPr>
          </a:p>
        </p:txBody>
      </p:sp>
      <p:sp>
        <p:nvSpPr>
          <p:cNvPr id="6" name="TextBox 5"/>
          <p:cNvSpPr txBox="1"/>
          <p:nvPr/>
        </p:nvSpPr>
        <p:spPr>
          <a:xfrm>
            <a:off x="228600" y="1219200"/>
            <a:ext cx="4191000" cy="5601533"/>
          </a:xfrm>
          <a:prstGeom prst="rect">
            <a:avLst/>
          </a:prstGeom>
          <a:noFill/>
        </p:spPr>
        <p:txBody>
          <a:bodyPr wrap="square" rtlCol="0">
            <a:spAutoFit/>
          </a:bodyPr>
          <a:lstStyle/>
          <a:p>
            <a:pPr>
              <a:buFont typeface="Wingdings" pitchFamily="2" charset="2"/>
              <a:buChar char="Ø"/>
            </a:pPr>
            <a:r>
              <a:rPr lang="en-US" sz="2000" dirty="0" smtClean="0">
                <a:latin typeface="Times New Roman" pitchFamily="18" charset="0"/>
                <a:cs typeface="Times New Roman" pitchFamily="18" charset="0"/>
              </a:rPr>
              <a:t>Multiple power domain demands multiple  power grid structure and a suitable power distribution  among them.</a:t>
            </a: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As a consequence, it requires more careful floor planning, placement and routing.</a:t>
            </a: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It is necessary to separate low-Vdd and high Vdd cells because they have different n well voltages</a:t>
            </a: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Typically a row by row separation is used.</a:t>
            </a: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dirty="0" smtClean="0"/>
              <a:t> </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487362"/>
          </a:xfrm>
        </p:spPr>
        <p:txBody>
          <a:bodyPr>
            <a:normAutofit fontScale="90000"/>
          </a:bodyPr>
          <a:lstStyle/>
          <a:p>
            <a:r>
              <a:rPr lang="en-US" b="1" dirty="0" smtClean="0">
                <a:solidFill>
                  <a:schemeClr val="tx1"/>
                </a:solidFill>
                <a:latin typeface="Times New Roman" pitchFamily="18" charset="0"/>
                <a:cs typeface="Times New Roman" pitchFamily="18" charset="0"/>
              </a:rPr>
              <a:t>Multiple Supply Voltages</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04800" y="838200"/>
            <a:ext cx="8382000" cy="5181600"/>
          </a:xfrm>
        </p:spPr>
        <p:txBody>
          <a:bodyPr>
            <a:normAutofit/>
          </a:bodyPr>
          <a:lstStyle/>
          <a:p>
            <a:pPr algn="just">
              <a:buFont typeface="Wingdings" pitchFamily="2" charset="2"/>
              <a:buChar char="Ø"/>
            </a:pPr>
            <a:r>
              <a:rPr lang="en-US" dirty="0" smtClean="0">
                <a:latin typeface="Times New Roman" pitchFamily="18" charset="0"/>
                <a:cs typeface="Times New Roman" pitchFamily="18" charset="0"/>
              </a:rPr>
              <a:t>A number of studies have shown that use of multiple supply voltages results in reduction of dynamic power from less than 10%  to about 50%, with an average of about 40%. </a:t>
            </a:r>
          </a:p>
          <a:p>
            <a:pPr algn="just">
              <a:buFont typeface="Wingdings" pitchFamily="2" charset="2"/>
              <a:buChar char="Ø"/>
            </a:pPr>
            <a:r>
              <a:rPr lang="en-US" dirty="0" smtClean="0">
                <a:latin typeface="Times New Roman" pitchFamily="18" charset="0"/>
                <a:cs typeface="Times New Roman" pitchFamily="18" charset="0"/>
              </a:rPr>
              <a:t>It is possible to use more than two say three or four, supply voltages. However, the benefit of using multiple Vdd saturates quickly.</a:t>
            </a:r>
          </a:p>
          <a:p>
            <a:pPr algn="just">
              <a:buFont typeface="Wingdings" pitchFamily="2" charset="2"/>
              <a:buChar char="Ø"/>
            </a:pPr>
            <a:r>
              <a:rPr lang="en-US" dirty="0" smtClean="0">
                <a:latin typeface="Times New Roman" pitchFamily="18" charset="0"/>
                <a:cs typeface="Times New Roman" pitchFamily="18" charset="0"/>
              </a:rPr>
              <a:t>Extending the approach to more than two supply voltages yields only a small incremental benefit.</a:t>
            </a:r>
          </a:p>
          <a:p>
            <a:pPr algn="just">
              <a:buFont typeface="Wingdings" pitchFamily="2" charset="2"/>
              <a:buChar char="Ø"/>
            </a:pPr>
            <a:r>
              <a:rPr lang="en-US" dirty="0" smtClean="0">
                <a:latin typeface="Times New Roman" pitchFamily="18" charset="0"/>
                <a:cs typeface="Times New Roman" pitchFamily="18" charset="0"/>
              </a:rPr>
              <a:t>The major gain is obtained by moving from a single Vdd to dual Vdd.</a:t>
            </a:r>
          </a:p>
          <a:p>
            <a:pPr algn="just">
              <a:buFont typeface="Wingdings" pitchFamily="2" charset="2"/>
              <a:buChar char="Ø"/>
            </a:pPr>
            <a:r>
              <a:rPr lang="en-US" dirty="0" smtClean="0">
                <a:latin typeface="Times New Roman" pitchFamily="18" charset="0"/>
                <a:cs typeface="Times New Roman" pitchFamily="18" charset="0"/>
              </a:rPr>
              <a:t>It has been found that in a dual Vdd / single </a:t>
            </a:r>
            <a:r>
              <a:rPr lang="en-US" dirty="0" err="1" smtClean="0">
                <a:latin typeface="Times New Roman" pitchFamily="18" charset="0"/>
                <a:cs typeface="Times New Roman" pitchFamily="18" charset="0"/>
              </a:rPr>
              <a:t>Vth</a:t>
            </a:r>
            <a:r>
              <a:rPr lang="en-US" dirty="0" smtClean="0">
                <a:latin typeface="Times New Roman" pitchFamily="18" charset="0"/>
                <a:cs typeface="Times New Roman" pitchFamily="18" charset="0"/>
              </a:rPr>
              <a:t> system, the optimal lower Vdd is about  60-70%  of the original Vdd.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chemeClr val="tx1"/>
                </a:solidFill>
                <a:latin typeface="Times New Roman" pitchFamily="18" charset="0"/>
                <a:cs typeface="Times New Roman" pitchFamily="18" charset="0"/>
              </a:rPr>
              <a:t>Multiple Supply Voltages</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81000" y="762000"/>
            <a:ext cx="8305800" cy="5867400"/>
          </a:xfrm>
        </p:spPr>
        <p:txBody>
          <a:bodyPr>
            <a:normAutofit lnSpcReduction="10000"/>
          </a:bodyPr>
          <a:lstStyle/>
          <a:p>
            <a:pPr>
              <a:buFont typeface="Wingdings" pitchFamily="2" charset="2"/>
              <a:buChar char="Ø"/>
            </a:pPr>
            <a:r>
              <a:rPr lang="en-US" dirty="0" smtClean="0">
                <a:latin typeface="Times New Roman" pitchFamily="18" charset="0"/>
                <a:cs typeface="Times New Roman" pitchFamily="18" charset="0"/>
              </a:rPr>
              <a:t>The optimal supply voltages depend on the Vdd </a:t>
            </a:r>
            <a:r>
              <a:rPr lang="en-US" dirty="0" err="1" smtClean="0">
                <a:latin typeface="Times New Roman" pitchFamily="18" charset="0"/>
                <a:cs typeface="Times New Roman" pitchFamily="18" charset="0"/>
              </a:rPr>
              <a:t>Vth</a:t>
            </a:r>
            <a:r>
              <a:rPr lang="en-US" dirty="0" smtClean="0">
                <a:latin typeface="Times New Roman" pitchFamily="18" charset="0"/>
                <a:cs typeface="Times New Roman" pitchFamily="18" charset="0"/>
              </a:rPr>
              <a:t> of the MOS transistors </a:t>
            </a:r>
          </a:p>
          <a:p>
            <a:pPr>
              <a:buFont typeface="Wingdings" pitchFamily="2" charset="2"/>
              <a:buChar char="Ø"/>
            </a:pPr>
            <a:r>
              <a:rPr lang="en-US" dirty="0" smtClean="0">
                <a:latin typeface="Times New Roman" pitchFamily="18" charset="0"/>
                <a:cs typeface="Times New Roman" pitchFamily="18" charset="0"/>
              </a:rPr>
              <a:t>The smallest Vdd = (</a:t>
            </a:r>
            <a:r>
              <a:rPr lang="en-US" dirty="0" err="1" smtClean="0">
                <a:latin typeface="Times New Roman" pitchFamily="18" charset="0"/>
                <a:cs typeface="Times New Roman" pitchFamily="18" charset="0"/>
              </a:rPr>
              <a:t>Vtn</a:t>
            </a:r>
            <a:r>
              <a:rPr lang="en-US" dirty="0" smtClean="0">
                <a:latin typeface="Times New Roman" pitchFamily="18" charset="0"/>
                <a:cs typeface="Times New Roman" pitchFamily="18" charset="0"/>
              </a:rPr>
              <a:t> + mod (</a:t>
            </a:r>
            <a:r>
              <a:rPr lang="en-US" dirty="0" err="1" smtClean="0">
                <a:latin typeface="Times New Roman" pitchFamily="18" charset="0"/>
                <a:cs typeface="Times New Roman" pitchFamily="18" charset="0"/>
              </a:rPr>
              <a:t>Vtp</a:t>
            </a:r>
            <a:r>
              <a:rPr lang="en-US" dirty="0" smtClean="0">
                <a:latin typeface="Times New Roman" pitchFamily="18" charset="0"/>
                <a:cs typeface="Times New Roman" pitchFamily="18" charset="0"/>
              </a:rPr>
              <a:t>))</a:t>
            </a:r>
          </a:p>
          <a:p>
            <a:pPr>
              <a:buFont typeface="Wingdings" pitchFamily="2" charset="2"/>
              <a:buChar char="Ø"/>
            </a:pPr>
            <a:r>
              <a:rPr lang="en-US" dirty="0" smtClean="0">
                <a:latin typeface="Times New Roman" pitchFamily="18" charset="0"/>
                <a:cs typeface="Times New Roman" pitchFamily="18" charset="0"/>
              </a:rPr>
              <a:t>Assume Vdd1 = 1.5 V, </a:t>
            </a:r>
            <a:r>
              <a:rPr lang="en-US" dirty="0" err="1" smtClean="0">
                <a:latin typeface="Times New Roman" pitchFamily="18" charset="0"/>
                <a:cs typeface="Times New Roman" pitchFamily="18" charset="0"/>
              </a:rPr>
              <a:t>Vth</a:t>
            </a:r>
            <a:r>
              <a:rPr lang="en-US" dirty="0" smtClean="0">
                <a:latin typeface="Times New Roman" pitchFamily="18" charset="0"/>
                <a:cs typeface="Times New Roman" pitchFamily="18" charset="0"/>
              </a:rPr>
              <a:t> = 0.3 V</a:t>
            </a:r>
          </a:p>
          <a:p>
            <a:pPr>
              <a:buFont typeface="Wingdings" pitchFamily="2" charset="2"/>
              <a:buChar char="Ø"/>
            </a:pPr>
            <a:r>
              <a:rPr lang="en-US" b="1" dirty="0" smtClean="0">
                <a:solidFill>
                  <a:srgbClr val="002060"/>
                </a:solidFill>
                <a:latin typeface="Times New Roman" pitchFamily="18" charset="0"/>
                <a:cs typeface="Times New Roman" pitchFamily="18" charset="0"/>
              </a:rPr>
              <a:t>Dual Vdd:</a:t>
            </a:r>
          </a:p>
          <a:p>
            <a:pPr>
              <a:buNone/>
            </a:pPr>
            <a:r>
              <a:rPr lang="en-US" dirty="0" smtClean="0">
                <a:latin typeface="Times New Roman" pitchFamily="18" charset="0"/>
                <a:cs typeface="Times New Roman" pitchFamily="18" charset="0"/>
              </a:rPr>
              <a:t>Vdd2 = Vdd1(0.5+0.5Vth/Vdd1)= 0.90V</a:t>
            </a:r>
          </a:p>
          <a:p>
            <a:pPr>
              <a:buFont typeface="Wingdings" pitchFamily="2" charset="2"/>
              <a:buChar char="Ø"/>
            </a:pPr>
            <a:r>
              <a:rPr lang="en-US" b="1" dirty="0" smtClean="0">
                <a:solidFill>
                  <a:srgbClr val="002060"/>
                </a:solidFill>
                <a:latin typeface="Times New Roman" pitchFamily="18" charset="0"/>
                <a:cs typeface="Times New Roman" pitchFamily="18" charset="0"/>
              </a:rPr>
              <a:t>Triple Vdd:</a:t>
            </a:r>
          </a:p>
          <a:p>
            <a:pPr>
              <a:buNone/>
            </a:pPr>
            <a:r>
              <a:rPr lang="en-US" dirty="0" smtClean="0">
                <a:latin typeface="Times New Roman" pitchFamily="18" charset="0"/>
                <a:cs typeface="Times New Roman" pitchFamily="18" charset="0"/>
              </a:rPr>
              <a:t>Vdd2 = Vdd1 (0.6+ 0.4Vth/Vdd1)=1.02V</a:t>
            </a:r>
          </a:p>
          <a:p>
            <a:pPr>
              <a:buNone/>
            </a:pPr>
            <a:r>
              <a:rPr lang="en-US" dirty="0" smtClean="0">
                <a:latin typeface="Times New Roman" pitchFamily="18" charset="0"/>
                <a:cs typeface="Times New Roman" pitchFamily="18" charset="0"/>
              </a:rPr>
              <a:t>Vdd3 = Vdd2 (0.6+ 0.4Vth/Vdd2 ) = 0.69V</a:t>
            </a:r>
          </a:p>
          <a:p>
            <a:pPr>
              <a:buFont typeface="Wingdings" pitchFamily="2" charset="2"/>
              <a:buChar char="Ø"/>
            </a:pPr>
            <a:r>
              <a:rPr lang="en-US" b="1" dirty="0" smtClean="0">
                <a:solidFill>
                  <a:srgbClr val="002060"/>
                </a:solidFill>
                <a:latin typeface="Times New Roman" pitchFamily="18" charset="0"/>
                <a:cs typeface="Times New Roman" pitchFamily="18" charset="0"/>
              </a:rPr>
              <a:t>Quad Vdd:</a:t>
            </a:r>
          </a:p>
          <a:p>
            <a:pPr>
              <a:buNone/>
            </a:pPr>
            <a:r>
              <a:rPr lang="en-US" dirty="0" smtClean="0">
                <a:latin typeface="Times New Roman" pitchFamily="18" charset="0"/>
                <a:cs typeface="Times New Roman" pitchFamily="18" charset="0"/>
              </a:rPr>
              <a:t>Vdd 2 = Vdd1 (0.7+0.3Vth/Vdd1)=1.14V</a:t>
            </a:r>
          </a:p>
          <a:p>
            <a:pPr>
              <a:buNone/>
            </a:pPr>
            <a:r>
              <a:rPr lang="en-US" dirty="0" smtClean="0">
                <a:latin typeface="Times New Roman" pitchFamily="18" charset="0"/>
                <a:cs typeface="Times New Roman" pitchFamily="18" charset="0"/>
              </a:rPr>
              <a:t>Vdd3 = Vdd2 (0.7+0.3Vth/Vdd2) = 0.87V</a:t>
            </a:r>
          </a:p>
          <a:p>
            <a:pPr>
              <a:buNone/>
            </a:pPr>
            <a:r>
              <a:rPr lang="en-US" dirty="0" smtClean="0">
                <a:latin typeface="Times New Roman" pitchFamily="18" charset="0"/>
                <a:cs typeface="Times New Roman" pitchFamily="18" charset="0"/>
              </a:rPr>
              <a:t>Vdd4= Vdd3 (0.7+ 0.3Vth/Vdd3)=0.66V</a:t>
            </a:r>
          </a:p>
          <a:p>
            <a:pPr>
              <a:buNone/>
            </a:pPr>
            <a:endParaRPr lang="en-US" dirty="0" smtClean="0"/>
          </a:p>
          <a:p>
            <a:pPr>
              <a:buNone/>
            </a:pPr>
            <a:endParaRPr lang="en-US" dirty="0" smtClean="0"/>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smtClean="0">
                <a:solidFill>
                  <a:schemeClr val="tx1"/>
                </a:solidFill>
                <a:latin typeface="Times New Roman" pitchFamily="18" charset="0"/>
                <a:cs typeface="Times New Roman" pitchFamily="18" charset="0"/>
              </a:rPr>
              <a:t>Static Timing Analysis</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914400"/>
            <a:ext cx="8458200" cy="5638800"/>
          </a:xfrm>
        </p:spPr>
        <p:txBody>
          <a:bodyPr/>
          <a:lstStyle/>
          <a:p>
            <a:pPr algn="just"/>
            <a:r>
              <a:rPr lang="en-US" dirty="0" smtClean="0">
                <a:latin typeface="Times New Roman" pitchFamily="18" charset="0"/>
                <a:cs typeface="Times New Roman" pitchFamily="18" charset="0"/>
              </a:rPr>
              <a:t>Use of single voltage makes static timing analysis simpler because it can be performed for single performance point based on characterized libraries.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Electronic Design Automation (EDA) tools can optimize the design for worst case process, voltage and temperature (PVT) conditions.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On the other hand, in case of multi - voltage designs, libraries should be characterized for different voltage levels that are used in the design. EDA tools has to optimize individual blocks or subsystems and also multiple voltage domains.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563562"/>
          </a:xfrm>
        </p:spPr>
        <p:txBody>
          <a:bodyPr>
            <a:normAutofit fontScale="90000"/>
          </a:bodyPr>
          <a:lstStyle/>
          <a:p>
            <a:r>
              <a:rPr lang="en-US" b="1" dirty="0" smtClean="0">
                <a:solidFill>
                  <a:schemeClr val="tx1"/>
                </a:solidFill>
                <a:latin typeface="Times New Roman" pitchFamily="18" charset="0"/>
                <a:cs typeface="Times New Roman" pitchFamily="18" charset="0"/>
              </a:rPr>
              <a:t>Power Up and Power down Sequencing</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838200"/>
            <a:ext cx="8458200" cy="5638800"/>
          </a:xfrm>
        </p:spPr>
        <p:txBody>
          <a:bodyPr>
            <a:normAutofit fontScale="92500" lnSpcReduction="10000"/>
          </a:bodyPr>
          <a:lstStyle/>
          <a:p>
            <a:pPr>
              <a:buFont typeface="Wingdings" pitchFamily="2" charset="2"/>
              <a:buChar char="Ø"/>
            </a:pPr>
            <a:r>
              <a:rPr lang="en-US" dirty="0" smtClean="0">
                <a:latin typeface="Times New Roman" pitchFamily="18" charset="0"/>
                <a:cs typeface="Times New Roman" pitchFamily="18" charset="0"/>
              </a:rPr>
              <a:t>One of the important system level issues is the power sequencing.</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To avoid power line glitches, it is not advisable to bring up all power supplies simultaneously.</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It is essential to plan a power sequence such that different domains can come up in a well defined order to satisfy correct operation.</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Particularly, reset can be initiated only after all power domains are completely powered up.</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The ramp time are to be carefully controlled to avoid overshoot and undershoot on the supply lines.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563562"/>
          </a:xfrm>
        </p:spPr>
        <p:txBody>
          <a:bodyPr>
            <a:normAutofit fontScale="90000"/>
          </a:bodyPr>
          <a:lstStyle/>
          <a:p>
            <a:r>
              <a:rPr lang="en-US" b="1" dirty="0" smtClean="0">
                <a:solidFill>
                  <a:schemeClr val="tx1"/>
                </a:solidFill>
                <a:latin typeface="Times New Roman" pitchFamily="18" charset="0"/>
                <a:cs typeface="Times New Roman" pitchFamily="18" charset="0"/>
              </a:rPr>
              <a:t>Clock Distribution</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1447800"/>
            <a:ext cx="8458200" cy="4572000"/>
          </a:xfrm>
        </p:spPr>
        <p:txBody>
          <a:bodyPr/>
          <a:lstStyle/>
          <a:p>
            <a:pPr algn="just"/>
            <a:r>
              <a:rPr lang="en-US" dirty="0" smtClean="0">
                <a:latin typeface="Times New Roman" pitchFamily="18" charset="0"/>
                <a:cs typeface="Times New Roman" pitchFamily="18" charset="0"/>
              </a:rPr>
              <a:t>As clock needs to be distributed across different voltage domains, the clock have to go through level converters.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This requires that the clock synthesis tool must understand the need for level converters and automatically insert them in appropriate places.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itchFamily="18" charset="0"/>
                <a:cs typeface="Times New Roman" pitchFamily="18" charset="0"/>
              </a:rPr>
              <a:t>Summary</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buFont typeface="Wingdings" pitchFamily="2" charset="2"/>
              <a:buChar char="Ø"/>
            </a:pPr>
            <a:r>
              <a:rPr lang="en-US" dirty="0" smtClean="0">
                <a:latin typeface="Times New Roman" pitchFamily="18" charset="0"/>
                <a:cs typeface="Times New Roman" pitchFamily="18" charset="0"/>
              </a:rPr>
              <a:t>Multi-level voltage Scaling (MVS)</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q"/>
            </a:pPr>
            <a:r>
              <a:rPr lang="en-US" dirty="0" smtClean="0">
                <a:latin typeface="Times New Roman" pitchFamily="18" charset="0"/>
                <a:cs typeface="Times New Roman" pitchFamily="18" charset="0"/>
              </a:rPr>
              <a:t>Macro level</a:t>
            </a:r>
          </a:p>
          <a:p>
            <a:pPr>
              <a:buFont typeface="Wingdings" pitchFamily="2" charset="2"/>
              <a:buChar char="q"/>
            </a:pPr>
            <a:endParaRPr lang="en-US" dirty="0" smtClean="0">
              <a:latin typeface="Times New Roman" pitchFamily="18" charset="0"/>
              <a:cs typeface="Times New Roman" pitchFamily="18" charset="0"/>
            </a:endParaRPr>
          </a:p>
          <a:p>
            <a:pPr>
              <a:buFont typeface="Wingdings" pitchFamily="2" charset="2"/>
              <a:buChar char="q"/>
            </a:pPr>
            <a:r>
              <a:rPr lang="en-US" dirty="0" smtClean="0">
                <a:latin typeface="Times New Roman" pitchFamily="18" charset="0"/>
                <a:cs typeface="Times New Roman" pitchFamily="18" charset="0"/>
              </a:rPr>
              <a:t>Standard cell level</a:t>
            </a:r>
          </a:p>
          <a:p>
            <a:pPr>
              <a:buFont typeface="Wingdings" pitchFamily="2" charset="2"/>
              <a:buChar char="q"/>
            </a:pPr>
            <a:endParaRPr lang="en-US" dirty="0" smtClean="0">
              <a:latin typeface="Times New Roman" pitchFamily="18" charset="0"/>
              <a:cs typeface="Times New Roman" pitchFamily="18" charset="0"/>
            </a:endParaRPr>
          </a:p>
          <a:p>
            <a:pPr>
              <a:buFont typeface="Wingdings" pitchFamily="2" charset="2"/>
              <a:buChar char="q"/>
            </a:pPr>
            <a:r>
              <a:rPr lang="en-US" dirty="0" smtClean="0">
                <a:latin typeface="Times New Roman" pitchFamily="18" charset="0"/>
                <a:cs typeface="Times New Roman" pitchFamily="18" charset="0"/>
              </a:rPr>
              <a:t>Issues in MVS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chemeClr val="tx1"/>
                </a:solidFill>
                <a:latin typeface="Times New Roman" pitchFamily="18" charset="0"/>
                <a:cs typeface="Times New Roman" pitchFamily="18" charset="0"/>
              </a:rPr>
              <a:t>References</a:t>
            </a:r>
            <a:endParaRPr lang="en-IN"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marL="0" indent="0">
              <a:buNone/>
            </a:pPr>
            <a:r>
              <a:rPr lang="en-IN" dirty="0" err="1">
                <a:latin typeface="Times New Roman" pitchFamily="18" charset="0"/>
                <a:cs typeface="Times New Roman" pitchFamily="18" charset="0"/>
              </a:rPr>
              <a:t>Ajit</a:t>
            </a:r>
            <a:r>
              <a:rPr lang="en-IN" dirty="0">
                <a:latin typeface="Times New Roman" pitchFamily="18" charset="0"/>
                <a:cs typeface="Times New Roman" pitchFamily="18" charset="0"/>
              </a:rPr>
              <a:t> Pal, “Low power VLSI Circuits and Systems” Springer, 2015.</a:t>
            </a:r>
          </a:p>
          <a:p>
            <a:pPr marL="0" indent="0">
              <a:buNone/>
            </a:pPr>
            <a:endParaRPr lang="en-IN" dirty="0"/>
          </a:p>
        </p:txBody>
      </p:sp>
    </p:spTree>
    <p:extLst>
      <p:ext uri="{BB962C8B-B14F-4D97-AF65-F5344CB8AC3E}">
        <p14:creationId xmlns:p14="http://schemas.microsoft.com/office/powerpoint/2010/main" val="424646246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16942</TotalTime>
  <Words>1280</Words>
  <Application>Microsoft Office PowerPoint</Application>
  <PresentationFormat>On-screen Show (4:3)</PresentationFormat>
  <Paragraphs>126</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Franklin Gothic Book</vt:lpstr>
      <vt:lpstr>Perpetua</vt:lpstr>
      <vt:lpstr>Times New Roman</vt:lpstr>
      <vt:lpstr>Wingdings</vt:lpstr>
      <vt:lpstr>Wingdings 2</vt:lpstr>
      <vt:lpstr>Equity</vt:lpstr>
      <vt:lpstr>Low Power System Design (PVL 207)</vt:lpstr>
      <vt:lpstr>PowerPoint Presentation</vt:lpstr>
      <vt:lpstr>Multi-level Voltage Scaling</vt:lpstr>
      <vt:lpstr>PowerPoint Presentation</vt:lpstr>
      <vt:lpstr>Multiple Vdd Circuits</vt:lpstr>
      <vt:lpstr>PowerPoint Presentation</vt:lpstr>
      <vt:lpstr>PowerPoint Presentation</vt:lpstr>
      <vt:lpstr>Multiple Vdd Circuits </vt:lpstr>
      <vt:lpstr>Clustered Voltage Scaling</vt:lpstr>
      <vt:lpstr>PowerPoint Presentation</vt:lpstr>
      <vt:lpstr>Issues in multiple Vdd circuits</vt:lpstr>
      <vt:lpstr>Voltage Scaling Interfaces</vt:lpstr>
      <vt:lpstr>Low to High Voltage level Converters </vt:lpstr>
      <vt:lpstr>High to Low voltage level Converters</vt:lpstr>
      <vt:lpstr>Converter placement</vt:lpstr>
      <vt:lpstr>Floor Planning, Routing and Placement</vt:lpstr>
      <vt:lpstr>Multiple Supply Voltages</vt:lpstr>
      <vt:lpstr>Multiple Supply Voltages</vt:lpstr>
      <vt:lpstr>Static Timing Analysis</vt:lpstr>
      <vt:lpstr>Power Up and Power down Sequencing</vt:lpstr>
      <vt:lpstr>Clock Distribution</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Shireesh</dc:creator>
  <cp:lastModifiedBy>Lenovo</cp:lastModifiedBy>
  <cp:revision>142</cp:revision>
  <dcterms:created xsi:type="dcterms:W3CDTF">2006-08-16T00:00:00Z</dcterms:created>
  <dcterms:modified xsi:type="dcterms:W3CDTF">2026-04-01T08:20:26Z</dcterms:modified>
</cp:coreProperties>
</file>