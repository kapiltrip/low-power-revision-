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5" r:id="rId16"/>
    <p:sldId id="272" r:id="rId17"/>
    <p:sldId id="276" r:id="rId18"/>
    <p:sldId id="277" r:id="rId19"/>
    <p:sldId id="278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79" d="100"/>
          <a:sy n="79" d="100"/>
        </p:scale>
        <p:origin x="902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0E0EFF-8454-4AD6-A9E5-3086E9DAAC6C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DA8D0-331C-40A3-BBDA-4646DCFFC4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DA8D0-331C-40A3-BBDA-4646DCFFC438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Low Power System Design</a:t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(PVL 207)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Minimizing switched capacitance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914400"/>
            <a:ext cx="8458200" cy="56388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Switched capacitance minimization techniques: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Hardware software trade-off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Bus encoding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Clock gating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Gated FSM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State encoding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Logic styles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Use of number systems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Architecture level optimizations</a:t>
            </a:r>
          </a:p>
          <a:p>
            <a:pPr>
              <a:buFont typeface="Wingdings" pitchFamily="2" charset="2"/>
              <a:buChar char="q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3058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Clock Gating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762000"/>
            <a:ext cx="8458200" cy="5257800"/>
          </a:xfrm>
        </p:spPr>
        <p:txBody>
          <a:bodyPr/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major component of processor power is the clock power (50% of the total power)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One of the most successful and commonly used low power technique is clock gating.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is based on the observation that a large number of transitions are unnecessary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Such transitions can be suppressed without affecting functionality.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Clock Gating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066800"/>
            <a:ext cx="8763000" cy="32766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Usage of a functional element is highly dependent on the application in hand.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There are opportunities to shut off circuits that are not in use.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Dynamically preventing the clock from propagating to some parts of the circuit under certain conditions.</a:t>
            </a:r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4267200"/>
            <a:ext cx="7277100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2057400" y="6019800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Power reduction using clock gating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05800" cy="5334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Clock gating principle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609600"/>
            <a:ext cx="56769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048000" y="2133600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Clock Gating Mechanism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2514600"/>
            <a:ext cx="67056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09600" y="6096000"/>
            <a:ext cx="9084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US" dirty="0" smtClean="0"/>
              <a:t>A clock gating using AND gate           b) Clock gating using OR gate          c)   Glitch propagation</a:t>
            </a:r>
          </a:p>
          <a:p>
            <a:pPr marL="342900" indent="-342900"/>
            <a:r>
              <a:rPr lang="en-US" dirty="0" smtClean="0"/>
              <a:t> through AND Gate            d) Glitch propagation through OR gate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477001" y="3276600"/>
            <a:ext cx="2438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As long as the enable signal, stabilizes before the high to low transition of the clock the glitch generated by the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Fcg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cannot propagated through the OR gate.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4873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Improved clock gating circuit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4038600"/>
            <a:ext cx="7153275" cy="184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81000" y="5943600"/>
            <a:ext cx="8205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 Clock gating using a level-sensitive, low-active latch along with an AND gate and</a:t>
            </a:r>
          </a:p>
          <a:p>
            <a:r>
              <a:rPr lang="en-US" b="1" dirty="0" smtClean="0"/>
              <a:t>b clock gating using a level-sensitive, low-active latch along with an OR gate.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762000"/>
            <a:ext cx="60960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400801" y="1447800"/>
            <a:ext cx="2590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better circuit uses a level sensitive, low active latch  and a AND gate to prevent the propagation of the glitches generated by the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fcg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circuit.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7159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Clock Gating Granularity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1066800"/>
            <a:ext cx="8534400" cy="5562600"/>
          </a:xfrm>
        </p:spPr>
        <p:txBody>
          <a:bodyPr/>
          <a:lstStyle/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Granularity of the circuit block at which the clock gating is applied greatly affects the power saving that can be achieved.</a:t>
            </a:r>
          </a:p>
          <a:p>
            <a:pPr algn="just">
              <a:buFont typeface="Arial" pitchFamily="34" charset="0"/>
              <a:buChar char="•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Gating larger blocks results in larger power savings but allows fewer number of OFF cycles.</a:t>
            </a:r>
          </a:p>
          <a:p>
            <a:pPr algn="just">
              <a:buFont typeface="Arial" pitchFamily="34" charset="0"/>
              <a:buChar char="•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Three levels of Granularity:</a:t>
            </a:r>
          </a:p>
          <a:p>
            <a:pPr algn="just">
              <a:buFont typeface="Arial" pitchFamily="34" charset="0"/>
              <a:buChar char="•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Module level clock gating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Register level clock gating</a:t>
            </a:r>
          </a:p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Cell-level clock gating</a:t>
            </a:r>
          </a:p>
          <a:p>
            <a:pPr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7772400" cy="8382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Module level clock gating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447800"/>
            <a:ext cx="8229600" cy="3898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04800" y="838200"/>
            <a:ext cx="84064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register bank is clock gated to prevent unnecessary loading of  operands to the ALU when load store Instruction is executed.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8600" y="5791200"/>
            <a:ext cx="8983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Memory bank can be clock gated in case of ALU operations in a similar manner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4873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Register Level Clock Gating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685800"/>
            <a:ext cx="3514725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28600" y="2895600"/>
            <a:ext cx="84403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clock to a single register or a set of registers is gated.</a:t>
            </a:r>
          </a:p>
          <a:p>
            <a:pPr algn="just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225425" indent="-225425" algn="just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synchronous load enabled register bank typically implemented  using clocked D flip flop and a recirculating multiplexer.</a:t>
            </a:r>
          </a:p>
          <a:p>
            <a:pPr algn="just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register gets the clock  in all the cycles even when no data is loaded.</a:t>
            </a:r>
          </a:p>
          <a:p>
            <a:pPr algn="just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Gating condition for registers may be obtained through symbolic analysis </a:t>
            </a:r>
          </a:p>
          <a:p>
            <a:pPr marL="225425" indent="-225425"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of the combinational circuit that  feeds it.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Register level Clock Gating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685800"/>
            <a:ext cx="51816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81000" y="2743200"/>
            <a:ext cx="881266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4163" indent="-284163"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register does not get the clock in the cycles when no new data is loaded.</a:t>
            </a:r>
          </a:p>
          <a:p>
            <a:pPr marL="284163" indent="-284163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Elimination of the MUX saves power.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penalty of the clock gating circuit can be amortized over a large number of registers.</a:t>
            </a:r>
          </a:p>
          <a:p>
            <a:pPr>
              <a:buFont typeface="Wingdings" pitchFamily="2" charset="2"/>
              <a:buChar char="Ø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284163" indent="-284163">
              <a:buFont typeface="Wingdings" pitchFamily="2" charset="2"/>
              <a:buChar char="Ø"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The  power saving per clock gate is much less, but there is much more scope than module level gating.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Challenges in Massively Gated Clocks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219200"/>
            <a:ext cx="8458200" cy="5334000"/>
          </a:xfrm>
        </p:spPr>
        <p:txBody>
          <a:bodyPr/>
          <a:lstStyle/>
          <a:p>
            <a:pPr algn="just">
              <a:buFont typeface="Wingdings" pitchFamily="2" charset="2"/>
              <a:buChar char="Ø"/>
            </a:pPr>
            <a:r>
              <a:rPr lang="en-US" dirty="0" smtClean="0"/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Provides many more opportunities and it lends itself to automated insertion and can result in massively clock gated designs.</a:t>
            </a:r>
          </a:p>
          <a:p>
            <a:pPr algn="just">
              <a:buFont typeface="Wingdings" pitchFamily="2" charset="2"/>
              <a:buChar char="Ø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Massively clock gated design issues: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Clock Latency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Effect of clock skew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Clock tree synthesis</a:t>
            </a:r>
          </a:p>
          <a:p>
            <a:pPr algn="just"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Clock gating leads to additional complexity to synthesis and analysis tools making testing and verification difficult.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Clock Latency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914400"/>
            <a:ext cx="8229600" cy="57150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When a single clock gate drives a large number of registers, it may not have enough drive strength, requiring clock tree at the output.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enable signal must be ready before the clock arrives at the gating logic.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must be addressed during synthesis.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Clock latency at the clock gate must be smaller than that at the registers and the difference is the delay of the clock gate.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Either a worst case estimate of clock tree synthesis delay or restriction the fan out of the clock gates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5635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Effect of Clock Skew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914400"/>
            <a:ext cx="8534400" cy="5715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Clock skew between the latch and 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the AND gate may lead to 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glitches at the gated clock output.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is essential to ensure that glitches are not introduced, which may lead to circuit malfunction due to spurious loading of registers.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clock skew between the latch and the AND gate should be less than the clock-to-output delay of the latch.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Relative placement of the latch and the AND gate imposes stringent constraint on the clock-tree synthesis tool.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381000"/>
            <a:ext cx="37338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4873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Clock Gating in the clock tree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762000"/>
            <a:ext cx="8458200" cy="5791200"/>
          </a:xfrm>
        </p:spPr>
        <p:txBody>
          <a:bodyPr/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Clock tree amounts to a significant portion of the total dynamic power consumption.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leads to tradeoff between the physical capacitance that is prevented from switching and the number of unnecessary transitions.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Disabling at higher up in the tree prevents larger capacitance from switching but the gating condition is rarely satisfied.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Having multiple gating points along a path may be beneficial.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228-053934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381000"/>
            <a:ext cx="8382000" cy="5486400"/>
          </a:xfrm>
        </p:spPr>
      </p:pic>
      <p:sp>
        <p:nvSpPr>
          <p:cNvPr id="5" name="TextBox 4"/>
          <p:cNvSpPr txBox="1"/>
          <p:nvPr/>
        </p:nvSpPr>
        <p:spPr>
          <a:xfrm>
            <a:off x="0" y="5715001"/>
            <a:ext cx="43434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Gating clock close to the root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19600" y="5867400"/>
            <a:ext cx="61054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Clock gating close to the registers:</a:t>
            </a: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Optimized for clock skew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Screenshot_20180228-053904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533400" y="914400"/>
            <a:ext cx="8153400" cy="5410200"/>
          </a:xfrm>
        </p:spPr>
      </p:pic>
      <p:sp>
        <p:nvSpPr>
          <p:cNvPr id="5" name="TextBox 4"/>
          <p:cNvSpPr txBox="1"/>
          <p:nvPr/>
        </p:nvSpPr>
        <p:spPr>
          <a:xfrm>
            <a:off x="533400" y="457200"/>
            <a:ext cx="47547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Clock Gating in the clock tree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382000" cy="6858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Cell Level Clock Gating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685800"/>
            <a:ext cx="8458200" cy="61722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Cell designer introduces cell level clock gating.</a:t>
            </a:r>
          </a:p>
          <a:p>
            <a:pPr algn="just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	Example: A register bank is designed such that it receives clocks when new data needs to be loaded.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Memory bank can be clocked only during active access cycles.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is simple without any design flow issue, but may not be efficient in terms of area and power.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There is area overhead and all registers are to be predesigned with clock gating.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Does not allow sharing of clock gating logic across many registers.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 reduction in switching in the capacitance of the clock gate in the register.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638"/>
            <a:ext cx="8153400" cy="48736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762000"/>
            <a:ext cx="8382000" cy="5715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combination of explicit clock gating cells and automated insertion makes clock gating a simple and reliable way of power reduction.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 change in the RTL is required.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Pokhrel implemented a 180 nm chip with and without clock gating [ Physical and silicon measures of low power clock gating success: an apple to Apple case study, SNUG 2007.]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20% reduction in area (due to removal of MUXs)</a:t>
            </a: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34% to 43% power savings (clock buffers after the clock gating cells)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>
                <a:latin typeface="Times New Roman" pitchFamily="18" charset="0"/>
                <a:cs typeface="Times New Roman" pitchFamily="18" charset="0"/>
              </a:rPr>
              <a:t>Ajit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Pal, “Low power VLSI Circuits and Systems” Springer, 2015.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646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50190</TotalTime>
  <Words>961</Words>
  <Application>Microsoft Office PowerPoint</Application>
  <PresentationFormat>On-screen Show (4:3)</PresentationFormat>
  <Paragraphs>130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Franklin Gothic Book</vt:lpstr>
      <vt:lpstr>Perpetua</vt:lpstr>
      <vt:lpstr>Times New Roman</vt:lpstr>
      <vt:lpstr>Wingdings</vt:lpstr>
      <vt:lpstr>Wingdings 2</vt:lpstr>
      <vt:lpstr>Equity</vt:lpstr>
      <vt:lpstr>Low Power System Design (PVL 207)</vt:lpstr>
      <vt:lpstr>Minimizing switched capacitance</vt:lpstr>
      <vt:lpstr>Clock Gating</vt:lpstr>
      <vt:lpstr>Clock Gating</vt:lpstr>
      <vt:lpstr>Clock gating principle</vt:lpstr>
      <vt:lpstr>Improved clock gating circuit</vt:lpstr>
      <vt:lpstr>Clock Gating Granularity</vt:lpstr>
      <vt:lpstr>Module level clock gating</vt:lpstr>
      <vt:lpstr>Register Level Clock Gating</vt:lpstr>
      <vt:lpstr>Register level Clock Gating</vt:lpstr>
      <vt:lpstr>Challenges in Massively Gated Clocks</vt:lpstr>
      <vt:lpstr>Clock Latency</vt:lpstr>
      <vt:lpstr>Effect of Clock Skew</vt:lpstr>
      <vt:lpstr>Clock Gating in the clock tree</vt:lpstr>
      <vt:lpstr>PowerPoint Presentation</vt:lpstr>
      <vt:lpstr>PowerPoint Presentation</vt:lpstr>
      <vt:lpstr>Cell Level Clock Gating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Low Power System Design (PVL 207)</dc:title>
  <dc:creator>Shireesh</dc:creator>
  <cp:lastModifiedBy>Lenovo</cp:lastModifiedBy>
  <cp:revision>68</cp:revision>
  <dcterms:created xsi:type="dcterms:W3CDTF">2006-08-16T00:00:00Z</dcterms:created>
  <dcterms:modified xsi:type="dcterms:W3CDTF">2026-04-16T03:54:09Z</dcterms:modified>
</cp:coreProperties>
</file>