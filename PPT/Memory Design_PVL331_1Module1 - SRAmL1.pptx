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1" r:id="rId1"/>
  </p:sldMasterIdLst>
  <p:notesMasterIdLst>
    <p:notesMasterId r:id="rId8"/>
  </p:notesMasterIdLst>
  <p:sldIdLst>
    <p:sldId id="256" r:id="rId2"/>
    <p:sldId id="257" r:id="rId3"/>
    <p:sldId id="270" r:id="rId4"/>
    <p:sldId id="267" r:id="rId5"/>
    <p:sldId id="268" r:id="rId6"/>
    <p:sldId id="27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neesh rajneesh" initials="rr" lastIdx="1" clrIdx="0">
    <p:extLst>
      <p:ext uri="{19B8F6BF-5375-455C-9EA6-DF929625EA0E}">
        <p15:presenceInfo xmlns:p15="http://schemas.microsoft.com/office/powerpoint/2012/main" userId="c4fa929643a7a2c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5" autoAdjust="0"/>
    <p:restoredTop sz="74305" autoAdjust="0"/>
  </p:normalViewPr>
  <p:slideViewPr>
    <p:cSldViewPr snapToGrid="0">
      <p:cViewPr varScale="1">
        <p:scale>
          <a:sx n="47" d="100"/>
          <a:sy n="47" d="100"/>
        </p:scale>
        <p:origin x="1344" y="48"/>
      </p:cViewPr>
      <p:guideLst/>
    </p:cSldViewPr>
  </p:slideViewPr>
  <p:notesTextViewPr>
    <p:cViewPr>
      <p:scale>
        <a:sx n="1" d="1"/>
        <a:sy n="1" d="1"/>
      </p:scale>
      <p:origin x="0" y="-198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C3E900-CDD6-400F-B8EB-080BAD321EB8}" type="datetimeFigureOut">
              <a:rPr lang="en-IN" smtClean="0"/>
              <a:t>26-02-2021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AF1C19-2E8E-40E1-B714-EEC44F16D428}" type="slidenum">
              <a:rPr lang="en-IN" smtClean="0"/>
              <a:t>‹#›</a:t>
            </a:fld>
            <a:endParaRPr lang="en-IN"/>
          </a:p>
        </p:txBody>
      </p:sp>
    </p:spTree>
    <p:extLst>
      <p:ext uri="{BB962C8B-B14F-4D97-AF65-F5344CB8AC3E}">
        <p14:creationId xmlns:p14="http://schemas.microsoft.com/office/powerpoint/2010/main" val="259613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n.wikipedia.org/wiki/Hard_disk_drive" TargetMode="External"/><Relationship Id="rId2" Type="http://schemas.openxmlformats.org/officeDocument/2006/relationships/slide" Target="../slides/slide3.xml"/><Relationship Id="rId1" Type="http://schemas.openxmlformats.org/officeDocument/2006/relationships/notesMaster" Target="../notesMasters/notesMaster1.xml"/><Relationship Id="rId5" Type="http://schemas.openxmlformats.org/officeDocument/2006/relationships/hyperlink" Target="https://en.wikipedia.org/wiki/Secondary_storage" TargetMode="External"/><Relationship Id="rId4" Type="http://schemas.openxmlformats.org/officeDocument/2006/relationships/hyperlink" Target="https://en.wikipedia.org/wiki/Disk_storage"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whatis.techtarget.com/definition/operating-system-OS" TargetMode="External"/><Relationship Id="rId3" Type="http://schemas.openxmlformats.org/officeDocument/2006/relationships/hyperlink" Target="https://en.wikipedia.org/wiki/Data_storage_device" TargetMode="External"/><Relationship Id="rId7" Type="http://schemas.openxmlformats.org/officeDocument/2006/relationships/hyperlink" Target="https://searchstorage.techtarget.com/definition/RAM-random-access-memory"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hatis.techtarget.com/definition/SRAM-static-random-access-memory" TargetMode="External"/><Relationship Id="rId5" Type="http://schemas.openxmlformats.org/officeDocument/2006/relationships/hyperlink" Target="https://whatis.techtarget.com/definition/search-engine" TargetMode="External"/><Relationship Id="rId10" Type="http://schemas.openxmlformats.org/officeDocument/2006/relationships/hyperlink" Target="https://whatis.techtarget.com/definition/parallel" TargetMode="External"/><Relationship Id="rId4" Type="http://schemas.openxmlformats.org/officeDocument/2006/relationships/hyperlink" Target="https://en.wikipedia.org/wiki/Random_access_memory" TargetMode="External"/><Relationship Id="rId9" Type="http://schemas.openxmlformats.org/officeDocument/2006/relationships/hyperlink" Target="https://searchnetworking.techtarget.com/definition/addres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1</a:t>
            </a:fld>
            <a:endParaRPr lang="en-IN"/>
          </a:p>
        </p:txBody>
      </p:sp>
    </p:spTree>
    <p:extLst>
      <p:ext uri="{BB962C8B-B14F-4D97-AF65-F5344CB8AC3E}">
        <p14:creationId xmlns:p14="http://schemas.microsoft.com/office/powerpoint/2010/main" val="2338556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module 1 we will cover six topics. We will start from the basics of semiconductor memory in which we will cover brief history, growth and different types of semiconductor memory. Next I will tell you about internal organization of memory chip in which we discuss I/O interface circuit and peripheral circuits.</a:t>
            </a:r>
          </a:p>
          <a:p>
            <a:r>
              <a:rPr lang="en-IN" dirty="0"/>
              <a:t>After that SRAM and DRAM would be dealt in detail. Non-</a:t>
            </a:r>
            <a:r>
              <a:rPr lang="en-IN" dirty="0" err="1"/>
              <a:t>voltalie</a:t>
            </a:r>
            <a:r>
              <a:rPr lang="en-IN" dirty="0"/>
              <a:t> memory technology i.e. Ferroelectric and Flash Memory would be cover in the last part of the module 1.</a:t>
            </a:r>
          </a:p>
        </p:txBody>
      </p:sp>
      <p:sp>
        <p:nvSpPr>
          <p:cNvPr id="4" name="Slide Number Placeholder 3"/>
          <p:cNvSpPr>
            <a:spLocks noGrp="1"/>
          </p:cNvSpPr>
          <p:nvPr>
            <p:ph type="sldNum" sz="quarter" idx="5"/>
          </p:nvPr>
        </p:nvSpPr>
        <p:spPr/>
        <p:txBody>
          <a:bodyPr/>
          <a:lstStyle/>
          <a:p>
            <a:fld id="{FCAF1C19-2E8E-40E1-B714-EEC44F16D428}" type="slidenum">
              <a:rPr lang="en-IN" smtClean="0"/>
              <a:t>2</a:t>
            </a:fld>
            <a:endParaRPr lang="en-IN"/>
          </a:p>
        </p:txBody>
      </p:sp>
    </p:spTree>
    <p:extLst>
      <p:ext uri="{BB962C8B-B14F-4D97-AF65-F5344CB8AC3E}">
        <p14:creationId xmlns:p14="http://schemas.microsoft.com/office/powerpoint/2010/main" val="3403673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the Figure 1 you can see that four men required to push 5 MB of memory in 1956 [5MB is equivalent to 1 song on your mobile]. This memory is basically magnetic disk storage. The same magnetic disk storage technology is used in PCs currently. However, nowadays its far more compact and denser as compare to the memory shown in Fig. 1 . It is called HDD  and it carry </a:t>
            </a:r>
            <a:r>
              <a:rPr lang="en-US" sz="1200" b="0" i="0" kern="1200" dirty="0" err="1">
                <a:solidFill>
                  <a:schemeClr val="tx1"/>
                </a:solidFill>
                <a:effectLst/>
                <a:latin typeface="+mn-lt"/>
                <a:ea typeface="+mn-ea"/>
                <a:cs typeface="+mn-cs"/>
              </a:rPr>
              <a:t>upto</a:t>
            </a:r>
            <a:r>
              <a:rPr lang="en-US" sz="1200" b="0" i="0" kern="1200" dirty="0">
                <a:solidFill>
                  <a:schemeClr val="tx1"/>
                </a:solidFill>
                <a:effectLst/>
                <a:latin typeface="+mn-lt"/>
                <a:ea typeface="+mn-ea"/>
                <a:cs typeface="+mn-cs"/>
              </a:rPr>
              <a:t> 2 TB of information. So you can imagine how much we have progressed in memory design. The memory shown in this picture was going to used for IBM 305 RAMAC (Random Access Method of Accounting and Control) which was the first commercial computer that used a moving-head </a:t>
            </a:r>
            <a:r>
              <a:rPr lang="en-US" sz="1200" b="0" i="0" u="none" strike="noStrike" kern="1200" dirty="0">
                <a:solidFill>
                  <a:schemeClr val="tx1"/>
                </a:solidFill>
                <a:effectLst/>
                <a:latin typeface="+mn-lt"/>
                <a:ea typeface="+mn-ea"/>
                <a:cs typeface="+mn-cs"/>
                <a:hlinkClick r:id="rId3" tooltip="Hard disk drive"/>
              </a:rPr>
              <a:t>hard disk drive</a:t>
            </a:r>
            <a:r>
              <a:rPr lang="en-US" sz="1200" b="0" i="0" kern="1200" dirty="0">
                <a:solidFill>
                  <a:schemeClr val="tx1"/>
                </a:solidFill>
                <a:effectLst/>
                <a:latin typeface="+mn-lt"/>
                <a:ea typeface="+mn-ea"/>
                <a:cs typeface="+mn-cs"/>
              </a:rPr>
              <a:t> (magnetic </a:t>
            </a:r>
            <a:r>
              <a:rPr lang="en-US" sz="1200" b="0" i="0" u="none" strike="noStrike" kern="1200" dirty="0">
                <a:solidFill>
                  <a:schemeClr val="tx1"/>
                </a:solidFill>
                <a:effectLst/>
                <a:latin typeface="+mn-lt"/>
                <a:ea typeface="+mn-ea"/>
                <a:cs typeface="+mn-cs"/>
                <a:hlinkClick r:id="rId4" tooltip="Disk storage"/>
              </a:rPr>
              <a:t>disk storage</a:t>
            </a:r>
            <a:r>
              <a:rPr lang="en-US" sz="1200" b="0" i="0" kern="1200" dirty="0">
                <a:solidFill>
                  <a:schemeClr val="tx1"/>
                </a:solidFill>
                <a:effectLst/>
                <a:latin typeface="+mn-lt"/>
                <a:ea typeface="+mn-ea"/>
                <a:cs typeface="+mn-cs"/>
              </a:rPr>
              <a:t>) for </a:t>
            </a:r>
            <a:r>
              <a:rPr lang="en-US" sz="1200" b="0" i="0" u="none" strike="noStrike" kern="1200" dirty="0">
                <a:solidFill>
                  <a:schemeClr val="tx1"/>
                </a:solidFill>
                <a:effectLst/>
                <a:latin typeface="+mn-lt"/>
                <a:ea typeface="+mn-ea"/>
                <a:cs typeface="+mn-cs"/>
                <a:hlinkClick r:id="rId5" tooltip="Secondary storage"/>
              </a:rPr>
              <a:t>secondary storage</a:t>
            </a:r>
            <a:r>
              <a:rPr lang="en-US" sz="1200" b="0" i="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FCAF1C19-2E8E-40E1-B714-EEC44F16D428}" type="slidenum">
              <a:rPr lang="en-IN" smtClean="0"/>
              <a:t>3</a:t>
            </a:fld>
            <a:endParaRPr lang="en-IN"/>
          </a:p>
        </p:txBody>
      </p:sp>
    </p:spTree>
    <p:extLst>
      <p:ext uri="{BB962C8B-B14F-4D97-AF65-F5344CB8AC3E}">
        <p14:creationId xmlns:p14="http://schemas.microsoft.com/office/powerpoint/2010/main" val="1282879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The VLSI memory era truly began when the first production of semiconductor memory was announced by IBM and Intel in 1970. Semiconductor Memory industry progressed exponentially thereafter E.g. DRAM has </a:t>
            </a:r>
            <a:r>
              <a:rPr lang="en-IN" sz="1200" b="0" i="0" u="none" strike="noStrike" kern="1200" baseline="0" dirty="0">
                <a:solidFill>
                  <a:schemeClr val="tx1"/>
                </a:solidFill>
                <a:latin typeface="+mn-lt"/>
                <a:ea typeface="+mn-ea"/>
                <a:cs typeface="+mn-cs"/>
              </a:rPr>
              <a:t>witnessed an </a:t>
            </a:r>
            <a:r>
              <a:rPr lang="en-US" sz="1200" b="0" i="0" u="none" strike="noStrike" kern="1200" baseline="0" dirty="0">
                <a:solidFill>
                  <a:schemeClr val="tx1"/>
                </a:solidFill>
                <a:latin typeface="+mn-lt"/>
                <a:ea typeface="+mn-ea"/>
                <a:cs typeface="+mn-cs"/>
              </a:rPr>
              <a:t>exceptional increase in memory capacity from the 1-Kb level in 1970 to the </a:t>
            </a:r>
            <a:r>
              <a:rPr lang="en-IN" sz="1200" b="0" i="0" u="none" strike="noStrike" kern="1200" baseline="0" dirty="0">
                <a:solidFill>
                  <a:schemeClr val="tx1"/>
                </a:solidFill>
                <a:latin typeface="+mn-lt"/>
                <a:ea typeface="+mn-ea"/>
                <a:cs typeface="+mn-cs"/>
              </a:rPr>
              <a:t>1-Gb level in 2000.</a:t>
            </a:r>
            <a:endParaRPr lang="en-IN" dirty="0"/>
          </a:p>
          <a:p>
            <a:r>
              <a:rPr lang="en-US" sz="1200" b="0" i="0" kern="1200" dirty="0">
                <a:solidFill>
                  <a:schemeClr val="tx1"/>
                </a:solidFill>
                <a:effectLst/>
                <a:latin typeface="+mn-lt"/>
                <a:ea typeface="+mn-ea"/>
                <a:cs typeface="+mn-cs"/>
              </a:rPr>
              <a:t>This growth trend can be observed in fig. 2 (use highlighter to draw line from 1970 to 2000) This fig. represent device count per chip over the years. Solid line represent actual trend whereas dotted lines represent the projection. Starting from the transistor invention in 1947, we have witnessed various milestones in the growth of semiconductor industry which </a:t>
            </a:r>
            <a:r>
              <a:rPr lang="en-US" sz="1200" b="0" i="0" u="none" strike="noStrike" kern="1200" baseline="0" dirty="0">
                <a:solidFill>
                  <a:schemeClr val="tx1"/>
                </a:solidFill>
                <a:latin typeface="+mn-lt"/>
                <a:ea typeface="+mn-ea"/>
                <a:cs typeface="+mn-cs"/>
              </a:rPr>
              <a:t>have paved the way to large-scale integrated circuit (LSI) memories, as shown in this Fig. </a:t>
            </a:r>
            <a:r>
              <a:rPr lang="en-IN" sz="1200" b="0" i="0" u="none" strike="noStrike" kern="1200" baseline="0" dirty="0">
                <a:solidFill>
                  <a:schemeClr val="tx1"/>
                </a:solidFill>
                <a:latin typeface="+mn-lt"/>
                <a:ea typeface="+mn-ea"/>
                <a:cs typeface="+mn-cs"/>
              </a:rPr>
              <a:t>The increase in memory </a:t>
            </a:r>
            <a:r>
              <a:rPr lang="en-US" sz="1200" b="0" i="0" u="none" strike="noStrike" kern="1200" baseline="0" dirty="0">
                <a:solidFill>
                  <a:schemeClr val="tx1"/>
                </a:solidFill>
                <a:latin typeface="+mn-lt"/>
                <a:ea typeface="+mn-ea"/>
                <a:cs typeface="+mn-cs"/>
              </a:rPr>
              <a:t>chip capacity has skyrocketed with the help of the ever-higher-density MOS/CMOS design and technology. The dense memories have given computers, the benefit of a dramatically reduced cost per bit and far superior performance. In fig. 2.b, We can see that Cost has been cut at an annual reduction of around 24%, proving of great benefit to system designers. Currently DRAM bit cost is around 10</a:t>
            </a:r>
            <a:r>
              <a:rPr lang="en-US" sz="1200" b="0" i="0" u="none" strike="noStrike" kern="1200" baseline="30000" dirty="0">
                <a:solidFill>
                  <a:schemeClr val="tx1"/>
                </a:solidFill>
                <a:latin typeface="+mn-lt"/>
                <a:ea typeface="+mn-ea"/>
                <a:cs typeface="+mn-cs"/>
              </a:rPr>
              <a:t>-12</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we talk about current scenario, In 2016, Samsung shipped DRAM of 18nm device. The 8Gbit part is 30% faster and consumes less power than its previous version. It also incorporates the DDR4 interface standard. Here DDR stands for Double-data-rate technology which transfers data twice per clock cycle in the device. DDR4 operates up to 3,200Mbps.</a:t>
            </a:r>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4</a:t>
            </a:fld>
            <a:endParaRPr lang="en-IN"/>
          </a:p>
        </p:txBody>
      </p:sp>
    </p:spTree>
    <p:extLst>
      <p:ext uri="{BB962C8B-B14F-4D97-AF65-F5344CB8AC3E}">
        <p14:creationId xmlns:p14="http://schemas.microsoft.com/office/powerpoint/2010/main" val="544529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semiconductor memory [1.9] now widely used is categorized as RAM (Random Access Memory) and ROM (Read Only Memory), as shown in Fig. 3. RAM permits random write and read operations for any memory cell in a chip. The stored data are usually volatile when the power-supply voltage is turned off. RAM is further classified into DRAM (Dynamic RAM) and SRAM (Static RAM). Due to the advantage of low cost, despite medium speed, DRAM is widely and extensively used for the main memory in personal computers, mainframe computers, and engineering workstations. </a:t>
            </a:r>
          </a:p>
          <a:p>
            <a:r>
              <a:rPr lang="en-US" sz="1200" b="0" i="0" u="none" strike="noStrike" kern="1200" baseline="0" dirty="0">
                <a:solidFill>
                  <a:schemeClr val="tx1"/>
                </a:solidFill>
                <a:latin typeface="+mn-lt"/>
                <a:ea typeface="+mn-ea"/>
                <a:cs typeface="+mn-cs"/>
              </a:rPr>
              <a:t>SRAM, which features high speed and ease of use, despite high cost, is also used for the main memory of supercomputers, the cache memory in mainframe computers, engineering workstations, and microprocessors, and memory in </a:t>
            </a:r>
            <a:r>
              <a:rPr lang="en-IN" sz="1200" b="0" i="0" u="none" strike="noStrike" kern="1200" baseline="0" dirty="0">
                <a:solidFill>
                  <a:schemeClr val="tx1"/>
                </a:solidFill>
                <a:latin typeface="+mn-lt"/>
                <a:ea typeface="+mn-ea"/>
                <a:cs typeface="+mn-cs"/>
              </a:rPr>
              <a:t>handheld equipment.</a:t>
            </a:r>
          </a:p>
          <a:p>
            <a:r>
              <a:rPr lang="en-US" sz="1200" b="0" i="0" kern="1200" dirty="0">
                <a:solidFill>
                  <a:schemeClr val="tx1"/>
                </a:solidFill>
                <a:effectLst/>
                <a:latin typeface="+mn-lt"/>
                <a:ea typeface="+mn-ea"/>
                <a:cs typeface="+mn-cs"/>
              </a:rPr>
              <a:t>Now comes to the non-random access memory.  It is divided into FIFO/LIFO, shift register and CAM. Series access memory is a class of </a:t>
            </a:r>
            <a:r>
              <a:rPr lang="en-US" sz="1200" b="0" i="0" u="none" strike="noStrike" kern="1200" dirty="0">
                <a:solidFill>
                  <a:schemeClr val="tx1"/>
                </a:solidFill>
                <a:effectLst/>
                <a:latin typeface="+mn-lt"/>
                <a:ea typeface="+mn-ea"/>
                <a:cs typeface="+mn-cs"/>
                <a:hlinkClick r:id="rId3" tooltip="Data storage device"/>
              </a:rPr>
              <a:t>data storage devices</a:t>
            </a:r>
            <a:r>
              <a:rPr lang="en-US" sz="1200" b="0" i="0" kern="1200" dirty="0">
                <a:solidFill>
                  <a:schemeClr val="tx1"/>
                </a:solidFill>
                <a:effectLst/>
                <a:latin typeface="+mn-lt"/>
                <a:ea typeface="+mn-ea"/>
                <a:cs typeface="+mn-cs"/>
              </a:rPr>
              <a:t> that read stored data in a sequence e.g. FIFO,LIFO and shift register. This is in contrast to </a:t>
            </a:r>
            <a:r>
              <a:rPr lang="en-US" sz="1200" b="0" i="0" u="none" strike="noStrike" kern="1200" dirty="0">
                <a:solidFill>
                  <a:schemeClr val="tx1"/>
                </a:solidFill>
                <a:effectLst/>
                <a:latin typeface="+mn-lt"/>
                <a:ea typeface="+mn-ea"/>
                <a:cs typeface="+mn-cs"/>
                <a:hlinkClick r:id="rId4" tooltip="Random access memory"/>
              </a:rPr>
              <a:t>random access memory</a:t>
            </a:r>
            <a:r>
              <a:rPr lang="en-US" sz="1200" b="0" i="0" kern="1200" dirty="0">
                <a:solidFill>
                  <a:schemeClr val="tx1"/>
                </a:solidFill>
                <a:effectLst/>
                <a:latin typeface="+mn-lt"/>
                <a:ea typeface="+mn-ea"/>
                <a:cs typeface="+mn-cs"/>
              </a:rPr>
              <a:t> (RAM) where data can be accessed in any order. </a:t>
            </a:r>
          </a:p>
          <a:p>
            <a:r>
              <a:rPr lang="en-US" sz="1200" b="0" i="0" kern="1200" dirty="0">
                <a:solidFill>
                  <a:schemeClr val="tx1"/>
                </a:solidFill>
                <a:effectLst/>
                <a:latin typeface="+mn-lt"/>
                <a:ea typeface="+mn-ea"/>
                <a:cs typeface="+mn-cs"/>
              </a:rPr>
              <a:t>CAM Content-addressable memory is computer memory that operates like a hardware </a:t>
            </a:r>
            <a:r>
              <a:rPr lang="en-US" sz="1200" b="0" i="0" u="sng" kern="1200" dirty="0">
                <a:solidFill>
                  <a:schemeClr val="tx1"/>
                </a:solidFill>
                <a:effectLst/>
                <a:latin typeface="+mn-lt"/>
                <a:ea typeface="+mn-ea"/>
                <a:cs typeface="+mn-cs"/>
                <a:hlinkClick r:id="rId5"/>
              </a:rPr>
              <a:t>search engine</a:t>
            </a:r>
            <a:r>
              <a:rPr lang="en-US" sz="1200" b="0" i="0" kern="1200" dirty="0">
                <a:solidFill>
                  <a:schemeClr val="tx1"/>
                </a:solidFill>
                <a:effectLst/>
                <a:latin typeface="+mn-lt"/>
                <a:ea typeface="+mn-ea"/>
                <a:cs typeface="+mn-cs"/>
              </a:rPr>
              <a:t> for search-intensive applications. CAM is capable of searching its entire contents in a single clock cycle. It does that by pairing the </a:t>
            </a:r>
            <a:r>
              <a:rPr lang="en-US" sz="1200" b="0" i="0" u="sng" kern="1200" dirty="0">
                <a:solidFill>
                  <a:schemeClr val="tx1"/>
                </a:solidFill>
                <a:effectLst/>
                <a:latin typeface="+mn-lt"/>
                <a:ea typeface="+mn-ea"/>
                <a:cs typeface="+mn-cs"/>
                <a:hlinkClick r:id="rId6"/>
              </a:rPr>
              <a:t>SRAM</a:t>
            </a:r>
            <a:r>
              <a:rPr lang="en-US" sz="1200" b="0" i="0" kern="1200" dirty="0">
                <a:solidFill>
                  <a:schemeClr val="tx1"/>
                </a:solidFill>
                <a:effectLst/>
                <a:latin typeface="+mn-lt"/>
                <a:ea typeface="+mn-ea"/>
                <a:cs typeface="+mn-cs"/>
              </a:rPr>
              <a:t>-based memory with additional logic comparison circuitry that that is active on every clock cycle. The way CAM functions is almost the opposite of random access memory (</a:t>
            </a:r>
            <a:r>
              <a:rPr lang="en-US" sz="1200" b="0" i="0" u="sng" kern="1200" dirty="0">
                <a:solidFill>
                  <a:schemeClr val="tx1"/>
                </a:solidFill>
                <a:effectLst/>
                <a:latin typeface="+mn-lt"/>
                <a:ea typeface="+mn-ea"/>
                <a:cs typeface="+mn-cs"/>
                <a:hlinkClick r:id="rId7"/>
              </a:rPr>
              <a:t>RAM</a:t>
            </a:r>
            <a:r>
              <a:rPr lang="en-US" sz="1200" b="0" i="0" kern="1200" dirty="0">
                <a:solidFill>
                  <a:schemeClr val="tx1"/>
                </a:solidFill>
                <a:effectLst/>
                <a:latin typeface="+mn-lt"/>
                <a:ea typeface="+mn-ea"/>
                <a:cs typeface="+mn-cs"/>
              </a:rPr>
              <a:t>). To retrieve data residing on RAM, the </a:t>
            </a:r>
            <a:r>
              <a:rPr lang="en-US" sz="1200" b="0" i="0" u="sng" kern="1200" dirty="0">
                <a:solidFill>
                  <a:schemeClr val="tx1"/>
                </a:solidFill>
                <a:effectLst/>
                <a:latin typeface="+mn-lt"/>
                <a:ea typeface="+mn-ea"/>
                <a:cs typeface="+mn-cs"/>
                <a:hlinkClick r:id="rId8"/>
              </a:rPr>
              <a:t>OS</a:t>
            </a:r>
            <a:r>
              <a:rPr lang="en-US" sz="1200" b="0" i="0" kern="1200" dirty="0">
                <a:solidFill>
                  <a:schemeClr val="tx1"/>
                </a:solidFill>
                <a:effectLst/>
                <a:latin typeface="+mn-lt"/>
                <a:ea typeface="+mn-ea"/>
                <a:cs typeface="+mn-cs"/>
              </a:rPr>
              <a:t> provides the memory </a:t>
            </a:r>
            <a:r>
              <a:rPr lang="en-US" sz="1200" b="0" i="0" u="sng" kern="1200" dirty="0">
                <a:solidFill>
                  <a:schemeClr val="tx1"/>
                </a:solidFill>
                <a:effectLst/>
                <a:latin typeface="+mn-lt"/>
                <a:ea typeface="+mn-ea"/>
                <a:cs typeface="+mn-cs"/>
                <a:hlinkClick r:id="rId9"/>
              </a:rPr>
              <a:t>address</a:t>
            </a:r>
            <a:r>
              <a:rPr lang="en-US" sz="1200" b="0" i="0" kern="1200" dirty="0">
                <a:solidFill>
                  <a:schemeClr val="tx1"/>
                </a:solidFill>
                <a:effectLst/>
                <a:latin typeface="+mn-lt"/>
                <a:ea typeface="+mn-ea"/>
                <a:cs typeface="+mn-cs"/>
              </a:rPr>
              <a:t> where the data is stored. On the other hand, Data stored on CAM can be accessed by searching for the content itself, and the memory retrieves the addresses where that content can be found. Because of its </a:t>
            </a:r>
            <a:r>
              <a:rPr lang="en-US" sz="1200" b="0" i="0" u="sng" kern="1200" dirty="0">
                <a:solidFill>
                  <a:schemeClr val="tx1"/>
                </a:solidFill>
                <a:effectLst/>
                <a:latin typeface="+mn-lt"/>
                <a:ea typeface="+mn-ea"/>
                <a:cs typeface="+mn-cs"/>
                <a:hlinkClick r:id="rId10"/>
              </a:rPr>
              <a:t>parallel</a:t>
            </a:r>
            <a:r>
              <a:rPr lang="en-US" sz="1200" b="0" i="0" kern="1200" dirty="0">
                <a:solidFill>
                  <a:schemeClr val="tx1"/>
                </a:solidFill>
                <a:effectLst/>
                <a:latin typeface="+mn-lt"/>
                <a:ea typeface="+mn-ea"/>
                <a:cs typeface="+mn-cs"/>
              </a:rPr>
              <a:t> nature, CAM is much faster than RAM for searching.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Next is ROM i.e. Read only Memory:-</a:t>
            </a:r>
            <a:r>
              <a:rPr lang="en-US" sz="1200" b="0" i="0" u="none" strike="noStrike" kern="1200" baseline="0" dirty="0">
                <a:solidFill>
                  <a:schemeClr val="tx1"/>
                </a:solidFill>
                <a:latin typeface="+mn-lt"/>
                <a:ea typeface="+mn-ea"/>
                <a:cs typeface="+mn-cs"/>
              </a:rPr>
              <a:t>ROM, dedicated to read operation with non-volatile stored data, is classified into two categories, depending on the process of the write procedure: PROM (Programmable ROM), in which data are written after chip fabrication; and Mask ROM, in which data are written during chip fabrication by the use of a photo mask that contains the write data. PROM is further categorized into two, depending on its erasable or non-erasable characteristics; EPROM (Erasable and Electrically PROM) and EEPROM (Electrically </a:t>
            </a:r>
            <a:r>
              <a:rPr lang="en-IN" sz="1200" b="0" i="0" u="none" strike="noStrike" kern="1200" baseline="0" dirty="0">
                <a:solidFill>
                  <a:schemeClr val="tx1"/>
                </a:solidFill>
                <a:latin typeface="+mn-lt"/>
                <a:ea typeface="+mn-ea"/>
                <a:cs typeface="+mn-cs"/>
              </a:rPr>
              <a:t>Erasable PROM). </a:t>
            </a:r>
            <a:r>
              <a:rPr lang="en-US" sz="1200" b="0" i="0" u="none" strike="noStrike" kern="1200" baseline="0" dirty="0">
                <a:solidFill>
                  <a:schemeClr val="tx1"/>
                </a:solidFill>
                <a:latin typeface="+mn-lt"/>
                <a:ea typeface="+mn-ea"/>
                <a:cs typeface="+mn-cs"/>
              </a:rPr>
              <a:t>EPROM erases the data by exposing the memory cells to ultraviolet rays, while it writes the data by electrical means. In EEPROM, the erase and write operations are both performed by electrical means. There are some drawbacks: </a:t>
            </a:r>
          </a:p>
          <a:p>
            <a:r>
              <a:rPr lang="en-US" sz="1200" b="0" i="0" u="none" strike="noStrike" kern="1200" baseline="0" dirty="0">
                <a:solidFill>
                  <a:schemeClr val="tx1"/>
                </a:solidFill>
                <a:latin typeface="+mn-lt"/>
                <a:ea typeface="+mn-ea"/>
                <a:cs typeface="+mn-cs"/>
              </a:rPr>
              <a:t>the write speed is two to three orders slower than that of RAM, and there is an upper limit on the number of write operations of 10</a:t>
            </a:r>
            <a:r>
              <a:rPr lang="en-US" sz="1200" b="0" i="0" u="none" strike="noStrike" kern="1200" baseline="30000" dirty="0">
                <a:solidFill>
                  <a:schemeClr val="tx1"/>
                </a:solidFill>
                <a:latin typeface="+mn-lt"/>
                <a:ea typeface="+mn-ea"/>
                <a:cs typeface="+mn-cs"/>
              </a:rPr>
              <a:t>4</a:t>
            </a:r>
            <a:r>
              <a:rPr lang="en-US" sz="1200" b="0" i="0" u="none" strike="noStrike" kern="1200" baseline="0" dirty="0">
                <a:solidFill>
                  <a:schemeClr val="tx1"/>
                </a:solidFill>
                <a:latin typeface="+mn-lt"/>
                <a:ea typeface="+mn-ea"/>
                <a:cs typeface="+mn-cs"/>
              </a:rPr>
              <a:t> -10</a:t>
            </a:r>
            <a:r>
              <a:rPr lang="en-US" sz="1200" b="0" i="0" u="none" strike="noStrike" kern="1200" baseline="30000" dirty="0">
                <a:solidFill>
                  <a:schemeClr val="tx1"/>
                </a:solidFill>
                <a:latin typeface="+mn-lt"/>
                <a:ea typeface="+mn-ea"/>
                <a:cs typeface="+mn-cs"/>
              </a:rPr>
              <a:t>5</a:t>
            </a:r>
            <a:r>
              <a:rPr lang="en-US" sz="1200" b="0" i="0" u="none" strike="noStrike" kern="1200" baseline="0" dirty="0">
                <a:solidFill>
                  <a:schemeClr val="tx1"/>
                </a:solidFill>
                <a:latin typeface="+mn-lt"/>
                <a:ea typeface="+mn-ea"/>
                <a:cs typeface="+mn-cs"/>
              </a:rPr>
              <a:t> .</a:t>
            </a:r>
          </a:p>
          <a:p>
            <a:r>
              <a:rPr lang="en-US" sz="1200" b="0" i="0" u="none" strike="noStrike" kern="1200" baseline="0" dirty="0">
                <a:solidFill>
                  <a:schemeClr val="tx1"/>
                </a:solidFill>
                <a:latin typeface="+mn-lt"/>
                <a:ea typeface="+mn-ea"/>
                <a:cs typeface="+mn-cs"/>
              </a:rPr>
              <a:t>Note that Flash memory - a kind of EEPROM - is being intensively developed and has emerged in the market offering the potential of high density and low cost, in some usages, it may </a:t>
            </a:r>
            <a:r>
              <a:rPr lang="en-IN" sz="1200" b="0" i="0" u="none" strike="noStrike" kern="1200" baseline="0" dirty="0">
                <a:solidFill>
                  <a:schemeClr val="tx1"/>
                </a:solidFill>
                <a:latin typeface="+mn-lt"/>
                <a:ea typeface="+mn-ea"/>
                <a:cs typeface="+mn-cs"/>
              </a:rPr>
              <a:t>replace magnetic disk memory.</a:t>
            </a:r>
            <a:endParaRPr lang="en-US" sz="1200" b="0" i="0" kern="1200" dirty="0">
              <a:solidFill>
                <a:schemeClr val="tx1"/>
              </a:solidFill>
              <a:effectLst/>
              <a:latin typeface="+mn-lt"/>
              <a:ea typeface="+mn-ea"/>
              <a:cs typeface="+mn-cs"/>
            </a:endParaRPr>
          </a:p>
          <a:p>
            <a:r>
              <a:rPr lang="en-IN" sz="1200" b="0" i="0" u="none" strike="noStrike" kern="1200" baseline="0" dirty="0">
                <a:solidFill>
                  <a:schemeClr val="tx1"/>
                </a:solidFill>
                <a:latin typeface="+mn-lt"/>
                <a:ea typeface="+mn-ea"/>
                <a:cs typeface="+mn-cs"/>
              </a:rPr>
              <a:t>We have discussed that SRAM and DRAM memories are volatile in nature. However, </a:t>
            </a:r>
            <a:r>
              <a:rPr lang="en-IN" sz="1200" b="0" i="0" u="none" strike="noStrike" kern="1200" baseline="0" dirty="0" err="1">
                <a:solidFill>
                  <a:schemeClr val="tx1"/>
                </a:solidFill>
                <a:latin typeface="+mn-lt"/>
                <a:ea typeface="+mn-ea"/>
                <a:cs typeface="+mn-cs"/>
              </a:rPr>
              <a:t>Nonvolatile</a:t>
            </a:r>
            <a:r>
              <a:rPr lang="en-IN"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RAMs also exist which utilizing the hysteresis characteristics of ferroelectric and magnetic </a:t>
            </a:r>
            <a:r>
              <a:rPr lang="en-IN" sz="1200" b="0" i="0" u="none" strike="noStrike" kern="1200" baseline="0" dirty="0">
                <a:solidFill>
                  <a:schemeClr val="tx1"/>
                </a:solidFill>
                <a:latin typeface="+mn-lt"/>
                <a:ea typeface="+mn-ea"/>
                <a:cs typeface="+mn-cs"/>
              </a:rPr>
              <a:t>materials such as Ferroelectric RAM (or FRAM) and Magnetic RAM.</a:t>
            </a:r>
          </a:p>
          <a:p>
            <a:endParaRPr lang="en-US" sz="1200" b="0" i="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5</a:t>
            </a:fld>
            <a:endParaRPr lang="en-IN"/>
          </a:p>
        </p:txBody>
      </p:sp>
    </p:spTree>
    <p:extLst>
      <p:ext uri="{BB962C8B-B14F-4D97-AF65-F5344CB8AC3E}">
        <p14:creationId xmlns:p14="http://schemas.microsoft.com/office/powerpoint/2010/main" val="957400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Figure shows schematic circuits of memory cells, which store binary information, "I" or "0", on the previously-described memory chips. N-channel MOSFETs (NMOSFETs) are used, due to ease of explanation. A DRAM cell [1.4] comprises a MOSFET, that works as a switch, and a capacitor for storing charges. For example, non-existence of charges (electrons for NMOSFET) at the capacitor corresponds to "1", while existence of charges corresponds to "0". In other words, for the voltage expression, a high stored voltage corresponds to "I" while a low stored voltage corresponds to "0". The write operation is performed by turning on the switch and applying a voltage corresponding to the write data from the data line, DL, to the capacitor. Here, the switch is turned on by applying a sufficiently high voltage to the word line, WL. The read operation is performed by turning on the switch. A resultant signal voltage developed on the data line, depending on the stored data at the capacitor, is discriminated by a detector on the data line. In principle, the cell holds the data without power consumption.</a:t>
            </a:r>
          </a:p>
          <a:p>
            <a:r>
              <a:rPr lang="en-IN" sz="1200" b="0" i="0" u="none" strike="noStrike" kern="1200" baseline="0" dirty="0">
                <a:solidFill>
                  <a:schemeClr val="tx1"/>
                </a:solidFill>
                <a:latin typeface="+mn-lt"/>
                <a:ea typeface="+mn-ea"/>
                <a:cs typeface="+mn-cs"/>
              </a:rPr>
              <a:t>However, a leakage </a:t>
            </a:r>
            <a:r>
              <a:rPr lang="en-US" sz="1200" b="0" i="0" u="none" strike="noStrike" kern="1200" baseline="0" dirty="0">
                <a:solidFill>
                  <a:schemeClr val="tx1"/>
                </a:solidFill>
                <a:latin typeface="+mn-lt"/>
                <a:ea typeface="+mn-ea"/>
                <a:cs typeface="+mn-cs"/>
              </a:rPr>
              <a:t>current at the p-n junction in the storage node degrades an initial high stored voltage, finally causing the loss of information. This loss can be avoided by </a:t>
            </a:r>
            <a:r>
              <a:rPr lang="en-IN" sz="1200" b="0" i="0" u="none" strike="noStrike" kern="1200" baseline="0" dirty="0">
                <a:solidFill>
                  <a:schemeClr val="tx1"/>
                </a:solidFill>
                <a:latin typeface="+mn-lt"/>
                <a:ea typeface="+mn-ea"/>
                <a:cs typeface="+mn-cs"/>
              </a:rPr>
              <a:t>a "refresh" operation.</a:t>
            </a:r>
          </a:p>
          <a:p>
            <a:r>
              <a:rPr lang="en-US" sz="1200" b="0" i="0" u="none" strike="noStrike" kern="1200" baseline="0" dirty="0">
                <a:solidFill>
                  <a:schemeClr val="tx1"/>
                </a:solidFill>
                <a:latin typeface="+mn-lt"/>
                <a:ea typeface="+mn-ea"/>
                <a:cs typeface="+mn-cs"/>
              </a:rPr>
              <a:t>An SRAM cell consists of a flip-flop circuit that is constructed between a power supply voltage </a:t>
            </a:r>
            <a:r>
              <a:rPr lang="en-US" sz="1200" b="0" i="1" u="none" strike="noStrike" kern="1200" baseline="0" dirty="0">
                <a:solidFill>
                  <a:schemeClr val="tx1"/>
                </a:solidFill>
                <a:latin typeface="+mn-lt"/>
                <a:ea typeface="+mn-ea"/>
                <a:cs typeface="+mn-cs"/>
              </a:rPr>
              <a:t>(VDD) </a:t>
            </a:r>
            <a:r>
              <a:rPr lang="en-US" sz="1200" b="0" i="0" u="none" strike="noStrike" kern="1200" baseline="0" dirty="0">
                <a:solidFill>
                  <a:schemeClr val="tx1"/>
                </a:solidFill>
                <a:latin typeface="+mn-lt"/>
                <a:ea typeface="+mn-ea"/>
                <a:cs typeface="+mn-cs"/>
              </a:rPr>
              <a:t>and the ground (</a:t>
            </a:r>
            <a:r>
              <a:rPr lang="en-US" sz="1200" b="0" i="0" u="none" strike="noStrike" kern="1200" baseline="0" dirty="0" err="1">
                <a:solidFill>
                  <a:schemeClr val="tx1"/>
                </a:solidFill>
                <a:latin typeface="+mn-lt"/>
                <a:ea typeface="+mn-ea"/>
                <a:cs typeface="+mn-cs"/>
              </a:rPr>
              <a:t>Vss</a:t>
            </a:r>
            <a:r>
              <a:rPr lang="en-US" sz="1200" b="0" i="0" u="none" strike="noStrike" kern="1200" baseline="0" dirty="0">
                <a:solidFill>
                  <a:schemeClr val="tx1"/>
                </a:solidFill>
                <a:latin typeface="+mn-lt"/>
                <a:ea typeface="+mn-ea"/>
                <a:cs typeface="+mn-cs"/>
              </a:rPr>
              <a:t>) , and two switching </a:t>
            </a:r>
            <a:r>
              <a:rPr lang="en-IN" sz="1200" b="0" i="0" u="none" strike="noStrike" kern="1200" baseline="0" dirty="0">
                <a:solidFill>
                  <a:schemeClr val="tx1"/>
                </a:solidFill>
                <a:latin typeface="+mn-lt"/>
                <a:ea typeface="+mn-ea"/>
                <a:cs typeface="+mn-cs"/>
              </a:rPr>
              <a:t>MOSFETs. Complementary information is stored at nodes N1 and N2. That means If “1” is stored at N1 the N2 should hold the “0” value. </a:t>
            </a:r>
            <a:r>
              <a:rPr lang="en-US" sz="1200" b="0" i="0" u="none" strike="noStrike" kern="1200" baseline="0" dirty="0">
                <a:solidFill>
                  <a:schemeClr val="tx1"/>
                </a:solidFill>
                <a:latin typeface="+mn-lt"/>
                <a:ea typeface="+mn-ea"/>
                <a:cs typeface="+mn-cs"/>
              </a:rPr>
              <a:t>No refresh operation is needed, because the leakage currents at N1 and N2 , if any, are compensated by a static current from the power supply, as long as </a:t>
            </a:r>
            <a:r>
              <a:rPr lang="en-US" sz="1200" b="0" i="1" u="none" strike="noStrike" kern="1200" baseline="0" dirty="0">
                <a:solidFill>
                  <a:schemeClr val="tx1"/>
                </a:solidFill>
                <a:latin typeface="+mn-lt"/>
                <a:ea typeface="+mn-ea"/>
                <a:cs typeface="+mn-cs"/>
              </a:rPr>
              <a:t>VDD </a:t>
            </a:r>
            <a:r>
              <a:rPr lang="en-US" sz="1200" b="0" i="0" u="none" strike="noStrike" kern="1200" baseline="0" dirty="0">
                <a:solidFill>
                  <a:schemeClr val="tx1"/>
                </a:solidFill>
                <a:latin typeface="+mn-lt"/>
                <a:ea typeface="+mn-ea"/>
                <a:cs typeface="+mn-cs"/>
              </a:rPr>
              <a:t>is supplied. Thus it allows ease of use, although the use of more FETs in a cell increases the memory cell area to more than four times that of DRAM.</a:t>
            </a:r>
          </a:p>
          <a:p>
            <a:r>
              <a:rPr lang="en-US" sz="1200" b="0" i="0" u="none" strike="noStrike" kern="1200" baseline="0" dirty="0">
                <a:solidFill>
                  <a:schemeClr val="tx1"/>
                </a:solidFill>
                <a:latin typeface="+mn-lt"/>
                <a:ea typeface="+mn-ea"/>
                <a:cs typeface="+mn-cs"/>
              </a:rPr>
              <a:t>Unlike RAMs, a PROM cell needs an additional erase operation, because it must be initialized to a state of non-existence of electrons by extracting electrons from the floating gate (i.e. the storage node). </a:t>
            </a:r>
            <a:r>
              <a:rPr lang="en-IN" sz="1200" b="0" i="0" u="none" strike="noStrike" kern="1200" baseline="0" dirty="0">
                <a:solidFill>
                  <a:schemeClr val="tx1"/>
                </a:solidFill>
                <a:latin typeface="+mn-lt"/>
                <a:ea typeface="+mn-ea"/>
                <a:cs typeface="+mn-cs"/>
              </a:rPr>
              <a:t>The succeeding write </a:t>
            </a:r>
            <a:r>
              <a:rPr lang="en-US" sz="1200" b="0" i="0" u="none" strike="noStrike" kern="1200" baseline="0" dirty="0">
                <a:solidFill>
                  <a:schemeClr val="tx1"/>
                </a:solidFill>
                <a:latin typeface="+mn-lt"/>
                <a:ea typeface="+mn-ea"/>
                <a:cs typeface="+mn-cs"/>
              </a:rPr>
              <a:t>operation is achieved by injecting electrons (for writing 0) to the floating gate </a:t>
            </a:r>
            <a:r>
              <a:rPr lang="en-IN" sz="1200" b="0" i="0" u="none" strike="noStrike" kern="1200" baseline="0" dirty="0">
                <a:solidFill>
                  <a:schemeClr val="tx1"/>
                </a:solidFill>
                <a:latin typeface="+mn-lt"/>
                <a:ea typeface="+mn-ea"/>
                <a:cs typeface="+mn-cs"/>
              </a:rPr>
              <a:t>or not doing so (for writing 1). When we inject the electron into the floating gate “0” is written on node and we don’t inject electron “1” is written on the node. </a:t>
            </a:r>
            <a:r>
              <a:rPr lang="en-US" sz="1200" b="0" i="0" u="none" strike="noStrike" kern="1200" baseline="0" dirty="0">
                <a:solidFill>
                  <a:schemeClr val="tx1"/>
                </a:solidFill>
                <a:latin typeface="+mn-lt"/>
                <a:ea typeface="+mn-ea"/>
                <a:cs typeface="+mn-cs"/>
              </a:rPr>
              <a:t>Note that, in principle, the electrons injected never discharge because they are stored at the floating gate and surrounded </a:t>
            </a:r>
            <a:r>
              <a:rPr lang="en-IN" sz="1200" b="0" i="0" u="none" strike="noStrike" kern="1200" baseline="0" dirty="0">
                <a:solidFill>
                  <a:schemeClr val="tx1"/>
                </a:solidFill>
                <a:latin typeface="+mn-lt"/>
                <a:ea typeface="+mn-ea"/>
                <a:cs typeface="+mn-cs"/>
              </a:rPr>
              <a:t>by pure insulators. </a:t>
            </a:r>
          </a:p>
          <a:p>
            <a:r>
              <a:rPr lang="en-US" sz="1200" b="0" i="0" u="none" strike="noStrike" kern="1200" baseline="0" dirty="0">
                <a:solidFill>
                  <a:schemeClr val="tx1"/>
                </a:solidFill>
                <a:latin typeface="+mn-lt"/>
                <a:ea typeface="+mn-ea"/>
                <a:cs typeface="+mn-cs"/>
              </a:rPr>
              <a:t>In an EPROM chip, the stored data of all of the cells are simultaneously erased by means of exposing the memory cells on the chip to ultraviolet rays through the crystal glass lid of the chip package. In an EEPROM chip, the data are electrically erased by a tunnel current. The erase operation is normally done for every unit of 8 bits. In particular, an EEPROM in which all the data in a chip are simultaneously erased is called Flash memory. Which you have might performed during the programming of microcontroller in your graduation. </a:t>
            </a:r>
          </a:p>
          <a:p>
            <a:r>
              <a:rPr lang="en-US" sz="1200" b="0" i="0" u="none" strike="noStrike" kern="1200" baseline="0" dirty="0">
                <a:solidFill>
                  <a:schemeClr val="tx1"/>
                </a:solidFill>
                <a:latin typeface="+mn-lt"/>
                <a:ea typeface="+mn-ea"/>
                <a:cs typeface="+mn-cs"/>
              </a:rPr>
              <a:t>So, in this lecture we have started the discussion from history of memory cell design and then went through different types of memory design. In the last we have  briefly discussed the working of different memory cells. In the next lecture we will discuss about internal organization of memory chips. Thank you.</a:t>
            </a:r>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6</a:t>
            </a:fld>
            <a:endParaRPr lang="en-IN"/>
          </a:p>
        </p:txBody>
      </p:sp>
    </p:spTree>
    <p:extLst>
      <p:ext uri="{BB962C8B-B14F-4D97-AF65-F5344CB8AC3E}">
        <p14:creationId xmlns:p14="http://schemas.microsoft.com/office/powerpoint/2010/main" val="784425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EA1E-98C4-4A2E-AAC3-800E357DC9FE}"/>
              </a:ext>
            </a:extLst>
          </p:cNvPr>
          <p:cNvSpPr>
            <a:spLocks noGrp="1"/>
          </p:cNvSpPr>
          <p:nvPr>
            <p:ph type="ctrTitle"/>
          </p:nvPr>
        </p:nvSpPr>
        <p:spPr>
          <a:xfrm>
            <a:off x="1517904" y="1517904"/>
            <a:ext cx="9144000" cy="2798064"/>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A96B1FA-5AE6-4D57-B37B-4AA0216007F8}"/>
              </a:ext>
            </a:extLst>
          </p:cNvPr>
          <p:cNvSpPr>
            <a:spLocks noGrp="1"/>
          </p:cNvSpPr>
          <p:nvPr>
            <p:ph type="subTitle" idx="1"/>
          </p:nvPr>
        </p:nvSpPr>
        <p:spPr>
          <a:xfrm>
            <a:off x="1517904" y="4572000"/>
            <a:ext cx="9144000" cy="1527048"/>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Slide Number Placeholder 5">
            <a:extLst>
              <a:ext uri="{FF2B5EF4-FFF2-40B4-BE49-F238E27FC236}">
                <a16:creationId xmlns:a16="http://schemas.microsoft.com/office/drawing/2014/main" id="{C36EEE61-627A-4800-A6F9-DC76A128D2E1}"/>
              </a:ext>
            </a:extLst>
          </p:cNvPr>
          <p:cNvSpPr>
            <a:spLocks noGrp="1"/>
          </p:cNvSpPr>
          <p:nvPr>
            <p:ph type="sldNum" sz="quarter" idx="12"/>
          </p:nvPr>
        </p:nvSpPr>
        <p:spPr>
          <a:xfrm>
            <a:off x="10899648" y="6400800"/>
            <a:ext cx="530352" cy="365125"/>
          </a:xfrm>
        </p:spPr>
        <p:txBody>
          <a:bodyPr/>
          <a:lstStyle/>
          <a:p>
            <a:fld id="{CB1E4CB7-CB13-4810-BF18-BE31AFC64F93}" type="slidenum">
              <a:rPr lang="en-US" smtClean="0"/>
              <a:t>‹#›</a:t>
            </a:fld>
            <a:endParaRPr lang="en-US"/>
          </a:p>
        </p:txBody>
      </p:sp>
      <p:sp>
        <p:nvSpPr>
          <p:cNvPr id="11" name="Footer Placeholder 4">
            <a:extLst>
              <a:ext uri="{FF2B5EF4-FFF2-40B4-BE49-F238E27FC236}">
                <a16:creationId xmlns:a16="http://schemas.microsoft.com/office/drawing/2014/main" id="{C4B2833B-6EF5-488C-A525-493F57EE5487}"/>
              </a:ext>
            </a:extLst>
          </p:cNvPr>
          <p:cNvSpPr>
            <a:spLocks noGrp="1"/>
          </p:cNvSpPr>
          <p:nvPr>
            <p:ph type="ftr" sz="quarter" idx="11"/>
          </p:nvPr>
        </p:nvSpPr>
        <p:spPr>
          <a:xfrm>
            <a:off x="758951" y="6400800"/>
            <a:ext cx="10140697" cy="457200"/>
          </a:xfrm>
        </p:spPr>
        <p:txBody>
          <a:bodyPr/>
          <a:lstStyle/>
          <a:p>
            <a:r>
              <a:rPr lang="en-US" sz="1200" b="1">
                <a:latin typeface="Arial" panose="020B0604020202020204" pitchFamily="34" charset="0"/>
                <a:cs typeface="Arial" panose="020B0604020202020204" pitchFamily="34" charset="0"/>
              </a:rPr>
              <a:t>Rajneesh Sharma                                                         Memory Design and Testing (PVL331)</a:t>
            </a:r>
            <a:endParaRPr 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1951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5BB2-C09C-49B0-BAFA-DE1801CD3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A47C21-944D-47FE-9519-A25518837115}"/>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6905C53-CF7C-4936-9E35-1BEBD683626E}"/>
              </a:ext>
            </a:extLst>
          </p:cNvPr>
          <p:cNvSpPr>
            <a:spLocks noGrp="1"/>
          </p:cNvSpPr>
          <p:nvPr>
            <p:ph type="sldNum" sz="quarter" idx="12"/>
          </p:nvPr>
        </p:nvSpPr>
        <p:spPr/>
        <p:txBody>
          <a:bodyPr/>
          <a:lstStyle/>
          <a:p>
            <a:fld id="{CB1E4CB7-CB13-4810-BF18-BE31AFC64F93}" type="slidenum">
              <a:rPr lang="en-US" smtClean="0"/>
              <a:t>‹#›</a:t>
            </a:fld>
            <a:endParaRPr lang="en-US"/>
          </a:p>
        </p:txBody>
      </p:sp>
      <p:sp>
        <p:nvSpPr>
          <p:cNvPr id="7" name="Footer Placeholder 4">
            <a:extLst>
              <a:ext uri="{FF2B5EF4-FFF2-40B4-BE49-F238E27FC236}">
                <a16:creationId xmlns:a16="http://schemas.microsoft.com/office/drawing/2014/main" id="{EA4A601F-F1CA-49DD-89C0-A7A6C9092D7E}"/>
              </a:ext>
            </a:extLst>
          </p:cNvPr>
          <p:cNvSpPr>
            <a:spLocks noGrp="1"/>
          </p:cNvSpPr>
          <p:nvPr>
            <p:ph type="ftr" sz="quarter" idx="11"/>
          </p:nvPr>
        </p:nvSpPr>
        <p:spPr>
          <a:xfrm>
            <a:off x="758951" y="6400800"/>
            <a:ext cx="10140697" cy="457200"/>
          </a:xfrm>
        </p:spPr>
        <p:txBody>
          <a:bodyPr/>
          <a:lstStyle/>
          <a:p>
            <a:r>
              <a:rPr lang="en-US" sz="1200" b="1">
                <a:latin typeface="Arial" panose="020B0604020202020204" pitchFamily="34" charset="0"/>
                <a:cs typeface="Arial" panose="020B0604020202020204" pitchFamily="34" charset="0"/>
              </a:rPr>
              <a:t>Rajneesh Sharma                                                         Memory Design and Testing (PVL331)</a:t>
            </a:r>
            <a:endParaRPr 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6903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46C78-A717-4E1F-A742-FD5AECA03B4B}"/>
              </a:ext>
            </a:extLst>
          </p:cNvPr>
          <p:cNvSpPr>
            <a:spLocks noGrp="1"/>
          </p:cNvSpPr>
          <p:nvPr>
            <p:ph type="title"/>
          </p:nvPr>
        </p:nvSpPr>
        <p:spPr>
          <a:xfrm>
            <a:off x="1517904" y="1517904"/>
            <a:ext cx="91440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DA1270D-CCAE-4437-A0C0-052D111DFC80}"/>
              </a:ext>
            </a:extLst>
          </p:cNvPr>
          <p:cNvSpPr>
            <a:spLocks noGrp="1"/>
          </p:cNvSpPr>
          <p:nvPr>
            <p:ph type="body" idx="1"/>
          </p:nvPr>
        </p:nvSpPr>
        <p:spPr>
          <a:xfrm>
            <a:off x="1517904" y="4572000"/>
            <a:ext cx="91440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737767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446AA-9418-4C3E-901B-8E2806122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997482-2CA6-4707-976E-6FD4B57BFE66}"/>
              </a:ext>
            </a:extLst>
          </p:cNvPr>
          <p:cNvSpPr>
            <a:spLocks noGrp="1"/>
          </p:cNvSpPr>
          <p:nvPr>
            <p:ph sz="half" idx="1"/>
          </p:nvPr>
        </p:nvSpPr>
        <p:spPr>
          <a:xfrm>
            <a:off x="1517904"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909652-DD12-479C-B639-9452CBA8C019}"/>
              </a:ext>
            </a:extLst>
          </p:cNvPr>
          <p:cNvSpPr>
            <a:spLocks noGrp="1"/>
          </p:cNvSpPr>
          <p:nvPr>
            <p:ph sz="half" idx="2"/>
          </p:nvPr>
        </p:nvSpPr>
        <p:spPr>
          <a:xfrm>
            <a:off x="6336792"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EC7A6-AFB1-4989-A0B4-B422D5B2C69C}"/>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F8D2117C-B497-4647-A66B-1887750FB538}"/>
              </a:ext>
            </a:extLst>
          </p:cNvPr>
          <p:cNvSpPr>
            <a:spLocks noGrp="1"/>
          </p:cNvSpPr>
          <p:nvPr>
            <p:ph type="ftr" sz="quarter" idx="11"/>
          </p:nvPr>
        </p:nvSpPr>
        <p:spPr/>
        <p:txBody>
          <a:bodyPr/>
          <a:lstStyle/>
          <a:p>
            <a:r>
              <a:rPr lang="en-US"/>
              <a:t>Rajneesh Sharma                                                         Memory Design and Testing (PVL331)</a:t>
            </a:r>
            <a:endParaRPr lang="en-US" dirty="0"/>
          </a:p>
        </p:txBody>
      </p:sp>
      <p:sp>
        <p:nvSpPr>
          <p:cNvPr id="7" name="Slide Number Placeholder 6">
            <a:extLst>
              <a:ext uri="{FF2B5EF4-FFF2-40B4-BE49-F238E27FC236}">
                <a16:creationId xmlns:a16="http://schemas.microsoft.com/office/drawing/2014/main" id="{79E8C7AF-5092-416B-B61C-F41D3C573E0C}"/>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4087415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90CDE0-3FEB-42A0-8BCC-7DADE7D4A621}"/>
              </a:ext>
            </a:extLst>
          </p:cNvPr>
          <p:cNvSpPr>
            <a:spLocks noGrp="1"/>
          </p:cNvSpPr>
          <p:nvPr>
            <p:ph type="body" idx="1"/>
          </p:nvPr>
        </p:nvSpPr>
        <p:spPr>
          <a:xfrm>
            <a:off x="1517905"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778B8B-E9A3-44BE-85A6-3E316659A9B4}"/>
              </a:ext>
            </a:extLst>
          </p:cNvPr>
          <p:cNvSpPr>
            <a:spLocks noGrp="1"/>
          </p:cNvSpPr>
          <p:nvPr>
            <p:ph sz="half" idx="2"/>
          </p:nvPr>
        </p:nvSpPr>
        <p:spPr>
          <a:xfrm>
            <a:off x="1517904"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0BF1BCA-A435-4779-A6FE-15207141F519}"/>
              </a:ext>
            </a:extLst>
          </p:cNvPr>
          <p:cNvSpPr>
            <a:spLocks noGrp="1"/>
          </p:cNvSpPr>
          <p:nvPr>
            <p:ph type="body" sz="quarter" idx="3"/>
          </p:nvPr>
        </p:nvSpPr>
        <p:spPr>
          <a:xfrm>
            <a:off x="6336792"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9B1923-9749-49E3-88FA-75C326E6719A}"/>
              </a:ext>
            </a:extLst>
          </p:cNvPr>
          <p:cNvSpPr>
            <a:spLocks noGrp="1"/>
          </p:cNvSpPr>
          <p:nvPr>
            <p:ph sz="quarter" idx="4"/>
          </p:nvPr>
        </p:nvSpPr>
        <p:spPr>
          <a:xfrm>
            <a:off x="6336792"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F3A70F0-5AFA-4C5A-812B-220C6A38DB6B}"/>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76AF721-83FE-4B57-B910-C395D23FDE31}"/>
              </a:ext>
            </a:extLst>
          </p:cNvPr>
          <p:cNvSpPr>
            <a:spLocks noGrp="1"/>
          </p:cNvSpPr>
          <p:nvPr>
            <p:ph type="ftr" sz="quarter" idx="11"/>
          </p:nvPr>
        </p:nvSpPr>
        <p:spPr/>
        <p:txBody>
          <a:bodyPr/>
          <a:lstStyle/>
          <a:p>
            <a:r>
              <a:rPr lang="en-US"/>
              <a:t>Rajneesh Sharma                                                         Memory Design and Testing (PVL331)</a:t>
            </a:r>
          </a:p>
        </p:txBody>
      </p:sp>
      <p:sp>
        <p:nvSpPr>
          <p:cNvPr id="9" name="Slide Number Placeholder 8">
            <a:extLst>
              <a:ext uri="{FF2B5EF4-FFF2-40B4-BE49-F238E27FC236}">
                <a16:creationId xmlns:a16="http://schemas.microsoft.com/office/drawing/2014/main" id="{556A5893-52F1-44A1-AE8E-CF094DB41CFA}"/>
              </a:ext>
            </a:extLst>
          </p:cNvPr>
          <p:cNvSpPr>
            <a:spLocks noGrp="1"/>
          </p:cNvSpPr>
          <p:nvPr>
            <p:ph type="sldNum" sz="quarter" idx="12"/>
          </p:nvPr>
        </p:nvSpPr>
        <p:spPr/>
        <p:txBody>
          <a:bodyPr/>
          <a:lstStyle/>
          <a:p>
            <a:fld id="{CB1E4CB7-CB13-4810-BF18-BE31AFC64F93}" type="slidenum">
              <a:rPr lang="en-US" smtClean="0"/>
              <a:t>‹#›</a:t>
            </a:fld>
            <a:endParaRPr lang="en-US"/>
          </a:p>
        </p:txBody>
      </p:sp>
      <p:sp>
        <p:nvSpPr>
          <p:cNvPr id="10" name="Title 9">
            <a:extLst>
              <a:ext uri="{FF2B5EF4-FFF2-40B4-BE49-F238E27FC236}">
                <a16:creationId xmlns:a16="http://schemas.microsoft.com/office/drawing/2014/main" id="{D9D22302-83E3-4E22-93DF-1E5D463B64C3}"/>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7394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85A6-A4E6-4160-BE43-8146A9894647}"/>
              </a:ext>
            </a:extLst>
          </p:cNvPr>
          <p:cNvSpPr>
            <a:spLocks noGrp="1"/>
          </p:cNvSpPr>
          <p:nvPr>
            <p:ph type="title"/>
          </p:nvPr>
        </p:nvSpPr>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0950BEA6-5E96-4AE9-8D7C-767B14698110}"/>
              </a:ext>
            </a:extLst>
          </p:cNvPr>
          <p:cNvSpPr>
            <a:spLocks noGrp="1"/>
          </p:cNvSpPr>
          <p:nvPr>
            <p:ph type="sldNum" sz="quarter" idx="12"/>
          </p:nvPr>
        </p:nvSpPr>
        <p:spPr>
          <a:xfrm>
            <a:off x="10899648" y="6400800"/>
            <a:ext cx="530352" cy="365125"/>
          </a:xfrm>
        </p:spPr>
        <p:txBody>
          <a:bodyPr/>
          <a:lstStyle/>
          <a:p>
            <a:fld id="{CB1E4CB7-CB13-4810-BF18-BE31AFC64F93}" type="slidenum">
              <a:rPr lang="en-US" smtClean="0"/>
              <a:t>‹#›</a:t>
            </a:fld>
            <a:endParaRPr lang="en-US"/>
          </a:p>
        </p:txBody>
      </p:sp>
      <p:sp>
        <p:nvSpPr>
          <p:cNvPr id="7" name="Footer Placeholder 4">
            <a:extLst>
              <a:ext uri="{FF2B5EF4-FFF2-40B4-BE49-F238E27FC236}">
                <a16:creationId xmlns:a16="http://schemas.microsoft.com/office/drawing/2014/main" id="{7F4CD5B1-D7F0-46EF-A288-E45E176AF265}"/>
              </a:ext>
            </a:extLst>
          </p:cNvPr>
          <p:cNvSpPr>
            <a:spLocks noGrp="1"/>
          </p:cNvSpPr>
          <p:nvPr>
            <p:ph type="ftr" sz="quarter" idx="11"/>
          </p:nvPr>
        </p:nvSpPr>
        <p:spPr>
          <a:xfrm>
            <a:off x="758951" y="6400800"/>
            <a:ext cx="10140697" cy="457200"/>
          </a:xfrm>
        </p:spPr>
        <p:txBody>
          <a:bodyPr/>
          <a:lstStyle/>
          <a:p>
            <a:r>
              <a:rPr lang="en-US" sz="1200" b="1">
                <a:latin typeface="Arial" panose="020B0604020202020204" pitchFamily="34" charset="0"/>
                <a:cs typeface="Arial" panose="020B0604020202020204" pitchFamily="34" charset="0"/>
              </a:rPr>
              <a:t>Rajneesh Sharma                                                         Memory Design and Testing (PVL331)</a:t>
            </a:r>
            <a:endParaRPr 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5983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r>
              <a:rPr lang="en-US"/>
              <a:t>Rajneesh Sharma                                                         Memory Design and Testing (PVL331)</a:t>
            </a:r>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474316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F683-796D-458C-9B32-A385D604DBFC}"/>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FB1F0BD-641B-4148-BCB3-2704218C80B8}"/>
              </a:ext>
            </a:extLst>
          </p:cNvPr>
          <p:cNvSpPr>
            <a:spLocks noGrp="1"/>
          </p:cNvSpPr>
          <p:nvPr>
            <p:ph idx="1"/>
          </p:nvPr>
        </p:nvSpPr>
        <p:spPr>
          <a:xfrm>
            <a:off x="5330952" y="1517904"/>
            <a:ext cx="5330952" cy="45811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B28C843-B846-4456-9720-71B7D4FF4062}"/>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A3A03-31BD-4E7E-879A-A1C71849703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EA39078-7D38-4851-A363-B6BC179A50EE}"/>
              </a:ext>
            </a:extLst>
          </p:cNvPr>
          <p:cNvSpPr>
            <a:spLocks noGrp="1"/>
          </p:cNvSpPr>
          <p:nvPr>
            <p:ph type="ftr" sz="quarter" idx="11"/>
          </p:nvPr>
        </p:nvSpPr>
        <p:spPr/>
        <p:txBody>
          <a:bodyPr/>
          <a:lstStyle/>
          <a:p>
            <a:r>
              <a:rPr lang="en-US"/>
              <a:t>Rajneesh Sharma                                                         Memory Design and Testing (PVL331)</a:t>
            </a:r>
          </a:p>
        </p:txBody>
      </p:sp>
      <p:sp>
        <p:nvSpPr>
          <p:cNvPr id="7" name="Slide Number Placeholder 6">
            <a:extLst>
              <a:ext uri="{FF2B5EF4-FFF2-40B4-BE49-F238E27FC236}">
                <a16:creationId xmlns:a16="http://schemas.microsoft.com/office/drawing/2014/main" id="{4E1FF25E-A25D-47AA-94EB-580A74F01F1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68286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83B4-9B31-4F73-9767-163636522F3A}"/>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C7CFC30-8163-47A0-A97F-3F2C3A3BE73A}"/>
              </a:ext>
            </a:extLst>
          </p:cNvPr>
          <p:cNvSpPr>
            <a:spLocks noGrp="1"/>
          </p:cNvSpPr>
          <p:nvPr>
            <p:ph type="pic" idx="1"/>
          </p:nvPr>
        </p:nvSpPr>
        <p:spPr>
          <a:xfrm>
            <a:off x="5349240" y="764032"/>
            <a:ext cx="6089904" cy="5330952"/>
          </a:xfr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AF1B390-0C23-466E-987C-26420A5F098D}"/>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C9CA7C-B9D0-4A72-8061-1E02AA15FE8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53EFC84-C9FE-4BFA-9B4E-4516A1362550}"/>
              </a:ext>
            </a:extLst>
          </p:cNvPr>
          <p:cNvSpPr>
            <a:spLocks noGrp="1"/>
          </p:cNvSpPr>
          <p:nvPr>
            <p:ph type="ftr" sz="quarter" idx="11"/>
          </p:nvPr>
        </p:nvSpPr>
        <p:spPr/>
        <p:txBody>
          <a:bodyPr/>
          <a:lstStyle/>
          <a:p>
            <a:r>
              <a:rPr lang="en-US"/>
              <a:t>Rajneesh Sharma                                                         Memory Design and Testing (PVL331)</a:t>
            </a:r>
          </a:p>
        </p:txBody>
      </p:sp>
      <p:sp>
        <p:nvSpPr>
          <p:cNvPr id="7" name="Slide Number Placeholder 6">
            <a:extLst>
              <a:ext uri="{FF2B5EF4-FFF2-40B4-BE49-F238E27FC236}">
                <a16:creationId xmlns:a16="http://schemas.microsoft.com/office/drawing/2014/main" id="{C801A469-3EFC-4F94-8482-378582E1C14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250510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9454-6F74-46A8-B299-4AF451BFB928}"/>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6F55CA9-A0BD-4609-9307-BAF987B262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25E4293-851E-4FA2-BFF2-B646A42369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9A907F5-F26D-4A91-8D70-AB54F8B43D3F}"/>
              </a:ext>
            </a:extLst>
          </p:cNvPr>
          <p:cNvSpPr>
            <a:spLocks noGrp="1"/>
          </p:cNvSpPr>
          <p:nvPr>
            <p:ph type="ftr" sz="quarter" idx="11"/>
          </p:nvPr>
        </p:nvSpPr>
        <p:spPr/>
        <p:txBody>
          <a:bodyPr/>
          <a:lstStyle/>
          <a:p>
            <a:r>
              <a:rPr lang="en-US"/>
              <a:t>Rajneesh Sharma                                                         Memory Design and Testing (PVL331)</a:t>
            </a:r>
          </a:p>
        </p:txBody>
      </p:sp>
      <p:sp>
        <p:nvSpPr>
          <p:cNvPr id="6" name="Slide Number Placeholder 5">
            <a:extLst>
              <a:ext uri="{FF2B5EF4-FFF2-40B4-BE49-F238E27FC236}">
                <a16:creationId xmlns:a16="http://schemas.microsoft.com/office/drawing/2014/main" id="{778ACBD8-D942-449E-A2B8-358CD1365C0A}"/>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022952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A50897-0C2E-420B-9A38-A8D5C1D72786}"/>
              </a:ext>
            </a:extLst>
          </p:cNvPr>
          <p:cNvSpPr>
            <a:spLocks noGrp="1"/>
          </p:cNvSpPr>
          <p:nvPr>
            <p:ph type="title" orient="vert"/>
          </p:nvPr>
        </p:nvSpPr>
        <p:spPr>
          <a:xfrm>
            <a:off x="8450317" y="1517904"/>
            <a:ext cx="2220731" cy="454678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EDB2173-32A5-4677-A08F-DAB8FD430D1A}"/>
              </a:ext>
            </a:extLst>
          </p:cNvPr>
          <p:cNvSpPr>
            <a:spLocks noGrp="1"/>
          </p:cNvSpPr>
          <p:nvPr>
            <p:ph type="body" orient="vert" idx="1"/>
          </p:nvPr>
        </p:nvSpPr>
        <p:spPr>
          <a:xfrm>
            <a:off x="1517904" y="1517904"/>
            <a:ext cx="6562553" cy="45467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3DB124D-B801-4A6A-9DAF-EBC1B98FE4F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DAF8DF-2544-45A5-B62B-BB7948FCCA45}"/>
              </a:ext>
            </a:extLst>
          </p:cNvPr>
          <p:cNvSpPr>
            <a:spLocks noGrp="1"/>
          </p:cNvSpPr>
          <p:nvPr>
            <p:ph type="ftr" sz="quarter" idx="11"/>
          </p:nvPr>
        </p:nvSpPr>
        <p:spPr/>
        <p:txBody>
          <a:bodyPr/>
          <a:lstStyle/>
          <a:p>
            <a:r>
              <a:rPr lang="en-US"/>
              <a:t>Rajneesh Sharma                                                         Memory Design and Testing (PVL331)</a:t>
            </a:r>
          </a:p>
        </p:txBody>
      </p:sp>
      <p:sp>
        <p:nvSpPr>
          <p:cNvPr id="6" name="Slide Number Placeholder 5">
            <a:extLst>
              <a:ext uri="{FF2B5EF4-FFF2-40B4-BE49-F238E27FC236}">
                <a16:creationId xmlns:a16="http://schemas.microsoft.com/office/drawing/2014/main" id="{04AC232D-131E-4BE6-8E2E-BAF5A30846D6}"/>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63810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B1D84C-7934-4E5B-B6E4-A1D6EC299551}"/>
              </a:ext>
            </a:extLst>
          </p:cNvPr>
          <p:cNvSpPr>
            <a:spLocks noGrp="1"/>
          </p:cNvSpPr>
          <p:nvPr>
            <p:ph type="title"/>
          </p:nvPr>
        </p:nvSpPr>
        <p:spPr>
          <a:xfrm>
            <a:off x="1517904" y="1517904"/>
            <a:ext cx="9144000" cy="13441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F6A990F-40AC-447A-964A-840C94A6471A}"/>
              </a:ext>
            </a:extLst>
          </p:cNvPr>
          <p:cNvSpPr>
            <a:spLocks noGrp="1"/>
          </p:cNvSpPr>
          <p:nvPr>
            <p:ph type="body" idx="1"/>
          </p:nvPr>
        </p:nvSpPr>
        <p:spPr>
          <a:xfrm>
            <a:off x="1517904" y="2971800"/>
            <a:ext cx="9144000" cy="31272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D832A1-FFBA-48B6-B2D0-E5414F12838B}"/>
              </a:ext>
            </a:extLst>
          </p:cNvPr>
          <p:cNvSpPr>
            <a:spLocks noGrp="1"/>
          </p:cNvSpPr>
          <p:nvPr>
            <p:ph type="dt" sz="half" idx="2"/>
          </p:nvPr>
        </p:nvSpPr>
        <p:spPr>
          <a:xfrm>
            <a:off x="8805672" y="6400800"/>
            <a:ext cx="1865376" cy="365125"/>
          </a:xfrm>
          <a:prstGeom prst="rect">
            <a:avLst/>
          </a:prstGeom>
        </p:spPr>
        <p:txBody>
          <a:bodyPr vert="horz" lIns="91440" tIns="45720" rIns="91440" bIns="45720" rtlCol="0" anchor="ctr"/>
          <a:lstStyle>
            <a:lvl1pPr algn="r">
              <a:defRPr sz="1000">
                <a:solidFill>
                  <a:schemeClr val="tx1"/>
                </a:solidFill>
              </a:defRPr>
            </a:lvl1pPr>
          </a:lstStyle>
          <a:p>
            <a:pPr algn="r"/>
            <a:endParaRPr lang="en-US" dirty="0"/>
          </a:p>
        </p:txBody>
      </p:sp>
      <p:sp>
        <p:nvSpPr>
          <p:cNvPr id="5" name="Footer Placeholder 4">
            <a:extLst>
              <a:ext uri="{FF2B5EF4-FFF2-40B4-BE49-F238E27FC236}">
                <a16:creationId xmlns:a16="http://schemas.microsoft.com/office/drawing/2014/main" id="{0F933EC1-4EE2-4453-841C-CFDFE708948E}"/>
              </a:ext>
            </a:extLst>
          </p:cNvPr>
          <p:cNvSpPr>
            <a:spLocks noGrp="1"/>
          </p:cNvSpPr>
          <p:nvPr>
            <p:ph type="ftr" sz="quarter" idx="3"/>
          </p:nvPr>
        </p:nvSpPr>
        <p:spPr>
          <a:xfrm>
            <a:off x="758952" y="6400800"/>
            <a:ext cx="6099048" cy="365125"/>
          </a:xfrm>
          <a:prstGeom prst="rect">
            <a:avLst/>
          </a:prstGeom>
        </p:spPr>
        <p:txBody>
          <a:bodyPr vert="horz" lIns="91440" tIns="45720" rIns="91440" bIns="45720" rtlCol="0" anchor="ctr"/>
          <a:lstStyle>
            <a:lvl1pPr algn="l">
              <a:defRPr sz="1000">
                <a:solidFill>
                  <a:schemeClr val="tx1"/>
                </a:solidFill>
              </a:defRPr>
            </a:lvl1pPr>
          </a:lstStyle>
          <a:p>
            <a:r>
              <a:rPr lang="en-US" sz="1000"/>
              <a:t>Rajneesh Sharma                                                         Memory Design and Testing (PVL331)</a:t>
            </a:r>
            <a:endParaRPr lang="en-US" sz="1000" dirty="0"/>
          </a:p>
        </p:txBody>
      </p:sp>
      <p:sp>
        <p:nvSpPr>
          <p:cNvPr id="6" name="Slide Number Placeholder 5">
            <a:extLst>
              <a:ext uri="{FF2B5EF4-FFF2-40B4-BE49-F238E27FC236}">
                <a16:creationId xmlns:a16="http://schemas.microsoft.com/office/drawing/2014/main" id="{C3CEBA78-E732-44EF-BA0B-FC42F7931311}"/>
              </a:ext>
            </a:extLst>
          </p:cNvPr>
          <p:cNvSpPr>
            <a:spLocks noGrp="1"/>
          </p:cNvSpPr>
          <p:nvPr>
            <p:ph type="sldNum" sz="quarter" idx="4"/>
          </p:nvPr>
        </p:nvSpPr>
        <p:spPr>
          <a:xfrm>
            <a:off x="10899648" y="6400800"/>
            <a:ext cx="530352" cy="365125"/>
          </a:xfrm>
          <a:prstGeom prst="rect">
            <a:avLst/>
          </a:prstGeom>
        </p:spPr>
        <p:txBody>
          <a:bodyPr vert="horz" lIns="91440" tIns="45720" rIns="91440" bIns="45720" rtlCol="0" anchor="ctr"/>
          <a:lstStyle>
            <a:lvl1pPr algn="r">
              <a:defRPr sz="1000" b="1">
                <a:solidFill>
                  <a:schemeClr val="tx1"/>
                </a:solidFill>
              </a:defRPr>
            </a:lvl1pPr>
          </a:lstStyle>
          <a:p>
            <a:fld id="{CB1E4CB7-CB13-4810-BF18-BE31AFC64F93}" type="slidenum">
              <a:rPr lang="en-US" smtClean="0"/>
              <a:pPr/>
              <a:t>‹#›</a:t>
            </a:fld>
            <a:endParaRPr lang="en-US" sz="1000" dirty="0"/>
          </a:p>
        </p:txBody>
      </p:sp>
      <p:sp>
        <p:nvSpPr>
          <p:cNvPr id="8" name="Freeform: Shape 7">
            <a:extLst>
              <a:ext uri="{FF2B5EF4-FFF2-40B4-BE49-F238E27FC236}">
                <a16:creationId xmlns:a16="http://schemas.microsoft.com/office/drawing/2014/main" id="{49306479-8C4D-4E4A-A330-DFC80A8A01BE}"/>
              </a:ext>
            </a:extLst>
          </p:cNvPr>
          <p:cNvSpPr/>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85205217"/>
      </p:ext>
    </p:extLst>
  </p:cSld>
  <p:clrMap bg1="lt1" tx1="dk1" bg2="lt2" tx2="dk2" accent1="accent1" accent2="accent2" accent3="accent3" accent4="accent4" accent5="accent5" accent6="accent6" hlink="hlink" folHlink="folHlink"/>
  <p:sldLayoutIdLst>
    <p:sldLayoutId id="2147483814" r:id="rId1"/>
    <p:sldLayoutId id="2147483813" r:id="rId2"/>
    <p:sldLayoutId id="214748381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hf hdr="0" ftr="0" dt="0"/>
  <p:txStyles>
    <p:title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p:titleStyle>
    <p:body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45BA4C-9B54-4496-821F-9E0985CA9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734260-EF36-4EEA-8A9E-0C9A537523A8}"/>
              </a:ext>
            </a:extLst>
          </p:cNvPr>
          <p:cNvSpPr>
            <a:spLocks noGrp="1"/>
          </p:cNvSpPr>
          <p:nvPr>
            <p:ph type="ctrTitle"/>
          </p:nvPr>
        </p:nvSpPr>
        <p:spPr>
          <a:xfrm>
            <a:off x="762000" y="743804"/>
            <a:ext cx="4102609" cy="3793482"/>
          </a:xfrm>
        </p:spPr>
        <p:txBody>
          <a:bodyPr anchor="ctr">
            <a:normAutofit/>
          </a:bodyPr>
          <a:lstStyle/>
          <a:p>
            <a:pPr algn="l"/>
            <a:r>
              <a:rPr lang="en-IN" sz="5600"/>
              <a:t>Memory Design and Testing </a:t>
            </a:r>
            <a:br>
              <a:rPr lang="en-IN" sz="5600"/>
            </a:br>
            <a:r>
              <a:rPr lang="en-IN" sz="5600"/>
              <a:t>(PVL 331)</a:t>
            </a:r>
          </a:p>
        </p:txBody>
      </p:sp>
      <p:sp>
        <p:nvSpPr>
          <p:cNvPr id="3" name="Subtitle 2">
            <a:extLst>
              <a:ext uri="{FF2B5EF4-FFF2-40B4-BE49-F238E27FC236}">
                <a16:creationId xmlns:a16="http://schemas.microsoft.com/office/drawing/2014/main" id="{A50A5E8A-BE21-478D-9022-4FEA944E5502}"/>
              </a:ext>
            </a:extLst>
          </p:cNvPr>
          <p:cNvSpPr>
            <a:spLocks noGrp="1"/>
          </p:cNvSpPr>
          <p:nvPr>
            <p:ph type="subTitle" idx="1"/>
          </p:nvPr>
        </p:nvSpPr>
        <p:spPr>
          <a:xfrm>
            <a:off x="762000" y="4691564"/>
            <a:ext cx="4102609" cy="1422631"/>
          </a:xfrm>
        </p:spPr>
        <p:txBody>
          <a:bodyPr>
            <a:normAutofit/>
          </a:bodyPr>
          <a:lstStyle/>
          <a:p>
            <a:pPr algn="l">
              <a:lnSpc>
                <a:spcPct val="95000"/>
              </a:lnSpc>
            </a:pPr>
            <a:r>
              <a:rPr lang="en-IN" sz="1900" dirty="0" err="1"/>
              <a:t>Dr.</a:t>
            </a:r>
            <a:r>
              <a:rPr lang="en-IN" sz="1900" dirty="0"/>
              <a:t> Rajneesh Sharma </a:t>
            </a:r>
          </a:p>
          <a:p>
            <a:pPr algn="l">
              <a:lnSpc>
                <a:spcPct val="95000"/>
              </a:lnSpc>
            </a:pPr>
            <a:r>
              <a:rPr lang="en-IN" sz="1900" dirty="0"/>
              <a:t>Assistant Professor </a:t>
            </a:r>
          </a:p>
          <a:p>
            <a:pPr algn="l">
              <a:lnSpc>
                <a:spcPct val="95000"/>
              </a:lnSpc>
            </a:pPr>
            <a:r>
              <a:rPr lang="en-IN" sz="1900" dirty="0"/>
              <a:t>Thapar Institute of Engineering &amp; Technology, </a:t>
            </a:r>
            <a:r>
              <a:rPr lang="en-IN" sz="1900"/>
              <a:t>Patiala </a:t>
            </a:r>
            <a:endParaRPr lang="en-IN" sz="1900" dirty="0"/>
          </a:p>
        </p:txBody>
      </p:sp>
      <p:pic>
        <p:nvPicPr>
          <p:cNvPr id="4" name="Picture 3" descr="CPU with binary numbers and blueprint">
            <a:extLst>
              <a:ext uri="{FF2B5EF4-FFF2-40B4-BE49-F238E27FC236}">
                <a16:creationId xmlns:a16="http://schemas.microsoft.com/office/drawing/2014/main" id="{629F7A6B-9A43-49C2-9640-1ACC3E046B0A}"/>
              </a:ext>
            </a:extLst>
          </p:cNvPr>
          <p:cNvPicPr>
            <a:picLocks noChangeAspect="1"/>
          </p:cNvPicPr>
          <p:nvPr/>
        </p:nvPicPr>
        <p:blipFill rotWithShape="1">
          <a:blip r:embed="rId3"/>
          <a:srcRect l="24888" r="18987"/>
          <a:stretch/>
        </p:blipFill>
        <p:spPr>
          <a:xfrm>
            <a:off x="5349241" y="10"/>
            <a:ext cx="6842759" cy="6857990"/>
          </a:xfrm>
          <a:prstGeom prst="rect">
            <a:avLst/>
          </a:prstGeom>
        </p:spPr>
      </p:pic>
    </p:spTree>
    <p:extLst>
      <p:ext uri="{BB962C8B-B14F-4D97-AF65-F5344CB8AC3E}">
        <p14:creationId xmlns:p14="http://schemas.microsoft.com/office/powerpoint/2010/main" val="749010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8975AA-B382-4395-ABBB-80C89750D4EA}"/>
              </a:ext>
            </a:extLst>
          </p:cNvPr>
          <p:cNvSpPr>
            <a:spLocks noGrp="1"/>
          </p:cNvSpPr>
          <p:nvPr>
            <p:ph type="title"/>
          </p:nvPr>
        </p:nvSpPr>
        <p:spPr>
          <a:xfrm>
            <a:off x="111760" y="72454"/>
            <a:ext cx="7101840" cy="686500"/>
          </a:xfrm>
        </p:spPr>
        <p:txBody>
          <a:bodyPr>
            <a:normAutofit fontScale="90000"/>
          </a:bodyPr>
          <a:lstStyle/>
          <a:p>
            <a:pPr algn="ctr"/>
            <a:r>
              <a:rPr lang="en-IN" dirty="0">
                <a:cs typeface="Aharoni" panose="02010803020104030203" pitchFamily="2" charset="-79"/>
              </a:rPr>
              <a:t>Module 1</a:t>
            </a:r>
          </a:p>
        </p:txBody>
      </p:sp>
      <p:sp>
        <p:nvSpPr>
          <p:cNvPr id="3" name="Content Placeholder 2">
            <a:extLst>
              <a:ext uri="{FF2B5EF4-FFF2-40B4-BE49-F238E27FC236}">
                <a16:creationId xmlns:a16="http://schemas.microsoft.com/office/drawing/2014/main" id="{042EC30B-5C82-4894-8C0D-2E669DC2D10C}"/>
              </a:ext>
            </a:extLst>
          </p:cNvPr>
          <p:cNvSpPr>
            <a:spLocks noGrp="1"/>
          </p:cNvSpPr>
          <p:nvPr>
            <p:ph idx="1"/>
          </p:nvPr>
        </p:nvSpPr>
        <p:spPr>
          <a:xfrm>
            <a:off x="640080" y="1595120"/>
            <a:ext cx="9899904" cy="4598417"/>
          </a:xfrm>
        </p:spPr>
        <p:txBody>
          <a:bodyPr>
            <a:normAutofit/>
          </a:bodyPr>
          <a:lstStyle/>
          <a:p>
            <a:pPr algn="just">
              <a:lnSpc>
                <a:spcPct val="150000"/>
              </a:lnSpc>
              <a:buClr>
                <a:srgbClr val="002060"/>
              </a:buClr>
              <a:buSzPct val="175000"/>
              <a:buFont typeface="Arial" panose="020B0604020202020204" pitchFamily="34" charset="0"/>
              <a:buChar char="•"/>
            </a:pPr>
            <a:r>
              <a:rPr lang="en-IN" b="1" dirty="0">
                <a:latin typeface="Arial" panose="020B0604020202020204" pitchFamily="34" charset="0"/>
                <a:cs typeface="Arial" panose="020B0604020202020204" pitchFamily="34" charset="0"/>
              </a:rPr>
              <a:t>Basics of Semiconductor Memory</a:t>
            </a:r>
          </a:p>
          <a:p>
            <a:pPr algn="just">
              <a:lnSpc>
                <a:spcPct val="150000"/>
              </a:lnSpc>
              <a:buClr>
                <a:srgbClr val="002060"/>
              </a:buClr>
              <a:buSzPct val="175000"/>
              <a:buFont typeface="Arial" panose="020B0604020202020204" pitchFamily="34" charset="0"/>
              <a:buChar char="•"/>
            </a:pPr>
            <a:r>
              <a:rPr lang="en-IN" b="1" dirty="0">
                <a:latin typeface="Arial" panose="020B0604020202020204" pitchFamily="34" charset="0"/>
                <a:cs typeface="Arial" panose="020B0604020202020204" pitchFamily="34" charset="0"/>
              </a:rPr>
              <a:t>Internal Organization of Memory Chips</a:t>
            </a:r>
          </a:p>
          <a:p>
            <a:pPr algn="just">
              <a:lnSpc>
                <a:spcPct val="150000"/>
              </a:lnSpc>
              <a:buClr>
                <a:srgbClr val="002060"/>
              </a:buClr>
              <a:buSzPct val="175000"/>
              <a:buFont typeface="Arial" panose="020B0604020202020204" pitchFamily="34" charset="0"/>
              <a:buChar char="•"/>
            </a:pPr>
            <a:r>
              <a:rPr lang="en-IN" b="1" dirty="0">
                <a:latin typeface="Arial" panose="020B0604020202020204" pitchFamily="34" charset="0"/>
                <a:cs typeface="Arial" panose="020B0604020202020204" pitchFamily="34" charset="0"/>
              </a:rPr>
              <a:t>SRAM Cell</a:t>
            </a:r>
          </a:p>
          <a:p>
            <a:pPr algn="just">
              <a:lnSpc>
                <a:spcPct val="150000"/>
              </a:lnSpc>
              <a:buClr>
                <a:srgbClr val="002060"/>
              </a:buClr>
              <a:buSzPct val="175000"/>
              <a:buFont typeface="Arial" panose="020B0604020202020204" pitchFamily="34" charset="0"/>
              <a:buChar char="•"/>
            </a:pPr>
            <a:r>
              <a:rPr lang="en-IN" b="1" dirty="0">
                <a:latin typeface="Arial" panose="020B0604020202020204" pitchFamily="34" charset="0"/>
                <a:cs typeface="Arial" panose="020B0604020202020204" pitchFamily="34" charset="0"/>
              </a:rPr>
              <a:t>DRAM cell</a:t>
            </a:r>
          </a:p>
          <a:p>
            <a:pPr algn="just">
              <a:lnSpc>
                <a:spcPct val="150000"/>
              </a:lnSpc>
              <a:buClr>
                <a:srgbClr val="002060"/>
              </a:buClr>
              <a:buSzPct val="175000"/>
              <a:buFont typeface="Arial" panose="020B0604020202020204" pitchFamily="34" charset="0"/>
              <a:buChar char="•"/>
            </a:pPr>
            <a:r>
              <a:rPr lang="en-IN" b="1" dirty="0">
                <a:latin typeface="Arial" panose="020B0604020202020204" pitchFamily="34" charset="0"/>
                <a:cs typeface="Arial" panose="020B0604020202020204" pitchFamily="34" charset="0"/>
              </a:rPr>
              <a:t>Ferroelectric Memory</a:t>
            </a:r>
          </a:p>
          <a:p>
            <a:pPr algn="just">
              <a:lnSpc>
                <a:spcPct val="150000"/>
              </a:lnSpc>
              <a:buClr>
                <a:srgbClr val="002060"/>
              </a:buClr>
              <a:buSzPct val="175000"/>
              <a:buFont typeface="Arial" panose="020B0604020202020204" pitchFamily="34" charset="0"/>
              <a:buChar char="•"/>
            </a:pPr>
            <a:r>
              <a:rPr lang="en-IN" b="1" dirty="0">
                <a:latin typeface="Arial" panose="020B0604020202020204" pitchFamily="34" charset="0"/>
                <a:cs typeface="Arial" panose="020B0604020202020204" pitchFamily="34" charset="0"/>
              </a:rPr>
              <a:t>Flash Memory Cell</a:t>
            </a:r>
          </a:p>
        </p:txBody>
      </p:sp>
      <p:sp>
        <p:nvSpPr>
          <p:cNvPr id="6" name="Slide Number Placeholder 5">
            <a:extLst>
              <a:ext uri="{FF2B5EF4-FFF2-40B4-BE49-F238E27FC236}">
                <a16:creationId xmlns:a16="http://schemas.microsoft.com/office/drawing/2014/main" id="{A501836A-3BA5-4A07-B8E1-5E8E25B35567}"/>
              </a:ext>
            </a:extLst>
          </p:cNvPr>
          <p:cNvSpPr>
            <a:spLocks noGrp="1"/>
          </p:cNvSpPr>
          <p:nvPr>
            <p:ph type="sldNum" sz="quarter" idx="12"/>
          </p:nvPr>
        </p:nvSpPr>
        <p:spPr/>
        <p:txBody>
          <a:bodyPr/>
          <a:lstStyle/>
          <a:p>
            <a:fld id="{CB1E4CB7-CB13-4810-BF18-BE31AFC64F93}" type="slidenum">
              <a:rPr lang="en-US" smtClean="0"/>
              <a:t>2</a:t>
            </a:fld>
            <a:endParaRPr lang="en-US"/>
          </a:p>
        </p:txBody>
      </p:sp>
      <p:sp>
        <p:nvSpPr>
          <p:cNvPr id="15" name="Footer Placeholder 4">
            <a:extLst>
              <a:ext uri="{FF2B5EF4-FFF2-40B4-BE49-F238E27FC236}">
                <a16:creationId xmlns:a16="http://schemas.microsoft.com/office/drawing/2014/main" id="{9BF9BD51-9B94-47AE-841E-544575BF2D2D}"/>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Tree>
    <p:extLst>
      <p:ext uri="{BB962C8B-B14F-4D97-AF65-F5344CB8AC3E}">
        <p14:creationId xmlns:p14="http://schemas.microsoft.com/office/powerpoint/2010/main" val="336171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May be an image of 1 person">
            <a:extLst>
              <a:ext uri="{FF2B5EF4-FFF2-40B4-BE49-F238E27FC236}">
                <a16:creationId xmlns:a16="http://schemas.microsoft.com/office/drawing/2014/main" id="{E4F90795-4718-4390-91DA-5E38BD9D44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8716" y="883855"/>
            <a:ext cx="5220795" cy="498097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26C6481-2DF0-44CB-868E-AA111FD4FC9D}"/>
              </a:ext>
            </a:extLst>
          </p:cNvPr>
          <p:cNvSpPr txBox="1"/>
          <p:nvPr/>
        </p:nvSpPr>
        <p:spPr>
          <a:xfrm>
            <a:off x="266490" y="6029260"/>
            <a:ext cx="11084682" cy="338554"/>
          </a:xfrm>
          <a:prstGeom prst="rect">
            <a:avLst/>
          </a:prstGeom>
          <a:noFill/>
        </p:spPr>
        <p:txBody>
          <a:bodyPr wrap="square" rtlCol="0">
            <a:spAutoFit/>
          </a:bodyPr>
          <a:lstStyle/>
          <a:p>
            <a:pPr algn="ctr"/>
            <a:r>
              <a:rPr lang="en-IN" sz="1600" dirty="0">
                <a:latin typeface="Arial" panose="020B0604020202020204" pitchFamily="34" charset="0"/>
                <a:cs typeface="Arial" panose="020B0604020202020204" pitchFamily="34" charset="0"/>
              </a:rPr>
              <a:t>Fig. 1 In </a:t>
            </a:r>
            <a:r>
              <a:rPr lang="en-US" sz="1600" dirty="0">
                <a:latin typeface="Arial" panose="020B0604020202020204" pitchFamily="34" charset="0"/>
                <a:cs typeface="Arial" panose="020B0604020202020204" pitchFamily="34" charset="0"/>
              </a:rPr>
              <a:t>1956, it took four men and a truck to transport 5MB of memory [IBM, 2016 ]</a:t>
            </a:r>
            <a:endParaRPr lang="en-IN" sz="1600" dirty="0">
              <a:latin typeface="Arial" panose="020B0604020202020204" pitchFamily="34" charset="0"/>
              <a:cs typeface="Arial" panose="020B0604020202020204" pitchFamily="34" charset="0"/>
            </a:endParaRPr>
          </a:p>
        </p:txBody>
      </p:sp>
      <p:sp>
        <p:nvSpPr>
          <p:cNvPr id="14" name="Title 1">
            <a:extLst>
              <a:ext uri="{FF2B5EF4-FFF2-40B4-BE49-F238E27FC236}">
                <a16:creationId xmlns:a16="http://schemas.microsoft.com/office/drawing/2014/main" id="{EA774C37-05F2-4E74-ABEE-C815AE40D42B}"/>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Basics of Semiconductor Memory</a:t>
            </a:r>
          </a:p>
        </p:txBody>
      </p:sp>
      <p:sp>
        <p:nvSpPr>
          <p:cNvPr id="9" name="Slide Number Placeholder 8">
            <a:extLst>
              <a:ext uri="{FF2B5EF4-FFF2-40B4-BE49-F238E27FC236}">
                <a16:creationId xmlns:a16="http://schemas.microsoft.com/office/drawing/2014/main" id="{4AD1949A-D2B4-4A4F-B790-BADB770686E8}"/>
              </a:ext>
            </a:extLst>
          </p:cNvPr>
          <p:cNvSpPr>
            <a:spLocks noGrp="1"/>
          </p:cNvSpPr>
          <p:nvPr>
            <p:ph type="sldNum" sz="quarter" idx="12"/>
          </p:nvPr>
        </p:nvSpPr>
        <p:spPr/>
        <p:txBody>
          <a:bodyPr/>
          <a:lstStyle/>
          <a:p>
            <a:fld id="{CB1E4CB7-CB13-4810-BF18-BE31AFC64F93}" type="slidenum">
              <a:rPr lang="en-US" smtClean="0"/>
              <a:t>3</a:t>
            </a:fld>
            <a:endParaRPr lang="en-US"/>
          </a:p>
        </p:txBody>
      </p:sp>
      <p:sp>
        <p:nvSpPr>
          <p:cNvPr id="19" name="Footer Placeholder 4">
            <a:extLst>
              <a:ext uri="{FF2B5EF4-FFF2-40B4-BE49-F238E27FC236}">
                <a16:creationId xmlns:a16="http://schemas.microsoft.com/office/drawing/2014/main" id="{791F4C3F-560C-4ADB-A598-F3E149D645FC}"/>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Tree>
    <p:extLst>
      <p:ext uri="{BB962C8B-B14F-4D97-AF65-F5344CB8AC3E}">
        <p14:creationId xmlns:p14="http://schemas.microsoft.com/office/powerpoint/2010/main" val="3967911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Content Placeholder 6">
            <a:extLst>
              <a:ext uri="{FF2B5EF4-FFF2-40B4-BE49-F238E27FC236}">
                <a16:creationId xmlns:a16="http://schemas.microsoft.com/office/drawing/2014/main" id="{5F25C014-9224-44B1-AB60-A7FECAD4C9FC}"/>
              </a:ext>
            </a:extLst>
          </p:cNvPr>
          <p:cNvPicPr>
            <a:picLocks noGrp="1" noChangeAspect="1"/>
          </p:cNvPicPr>
          <p:nvPr>
            <p:ph idx="1"/>
          </p:nvPr>
        </p:nvPicPr>
        <p:blipFill>
          <a:blip r:embed="rId3"/>
          <a:stretch>
            <a:fillRect/>
          </a:stretch>
        </p:blipFill>
        <p:spPr>
          <a:xfrm>
            <a:off x="13032" y="1211245"/>
            <a:ext cx="6200993" cy="4597400"/>
          </a:xfrm>
          <a:prstGeom prst="rect">
            <a:avLst/>
          </a:prstGeom>
        </p:spPr>
      </p:pic>
      <p:sp>
        <p:nvSpPr>
          <p:cNvPr id="9" name="Title 1">
            <a:extLst>
              <a:ext uri="{FF2B5EF4-FFF2-40B4-BE49-F238E27FC236}">
                <a16:creationId xmlns:a16="http://schemas.microsoft.com/office/drawing/2014/main" id="{A79D58E3-8C09-4DC4-AA6F-CB8E51FB7CAC}"/>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Basics of Semiconductor Memory</a:t>
            </a:r>
          </a:p>
        </p:txBody>
      </p:sp>
      <p:sp>
        <p:nvSpPr>
          <p:cNvPr id="13" name="TextBox 12">
            <a:extLst>
              <a:ext uri="{FF2B5EF4-FFF2-40B4-BE49-F238E27FC236}">
                <a16:creationId xmlns:a16="http://schemas.microsoft.com/office/drawing/2014/main" id="{B93846C9-0315-4057-B951-4BE45B1F1AA7}"/>
              </a:ext>
            </a:extLst>
          </p:cNvPr>
          <p:cNvSpPr txBox="1"/>
          <p:nvPr/>
        </p:nvSpPr>
        <p:spPr>
          <a:xfrm>
            <a:off x="3808476" y="5808645"/>
            <a:ext cx="5240409" cy="338554"/>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Fig. 2 (a) Trend in device count per chip (b) Cost per Bit</a:t>
            </a:r>
          </a:p>
        </p:txBody>
      </p:sp>
      <p:sp>
        <p:nvSpPr>
          <p:cNvPr id="8" name="Slide Number Placeholder 7">
            <a:extLst>
              <a:ext uri="{FF2B5EF4-FFF2-40B4-BE49-F238E27FC236}">
                <a16:creationId xmlns:a16="http://schemas.microsoft.com/office/drawing/2014/main" id="{7FEA825C-11E7-430D-A7A0-DF3C77ABA66C}"/>
              </a:ext>
            </a:extLst>
          </p:cNvPr>
          <p:cNvSpPr>
            <a:spLocks noGrp="1"/>
          </p:cNvSpPr>
          <p:nvPr>
            <p:ph type="sldNum" sz="quarter" idx="12"/>
          </p:nvPr>
        </p:nvSpPr>
        <p:spPr/>
        <p:txBody>
          <a:bodyPr/>
          <a:lstStyle/>
          <a:p>
            <a:fld id="{CB1E4CB7-CB13-4810-BF18-BE31AFC64F93}" type="slidenum">
              <a:rPr lang="en-US" smtClean="0"/>
              <a:t>4</a:t>
            </a:fld>
            <a:endParaRPr lang="en-US"/>
          </a:p>
        </p:txBody>
      </p:sp>
      <p:sp>
        <p:nvSpPr>
          <p:cNvPr id="19" name="Footer Placeholder 4">
            <a:extLst>
              <a:ext uri="{FF2B5EF4-FFF2-40B4-BE49-F238E27FC236}">
                <a16:creationId xmlns:a16="http://schemas.microsoft.com/office/drawing/2014/main" id="{12A8126D-4F38-41E6-BED2-64EF182D355C}"/>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pic>
        <p:nvPicPr>
          <p:cNvPr id="3" name="Picture 2">
            <a:extLst>
              <a:ext uri="{FF2B5EF4-FFF2-40B4-BE49-F238E27FC236}">
                <a16:creationId xmlns:a16="http://schemas.microsoft.com/office/drawing/2014/main" id="{D8020BBA-4045-4DDF-9F2D-F8C80553772E}"/>
              </a:ext>
            </a:extLst>
          </p:cNvPr>
          <p:cNvPicPr>
            <a:picLocks noChangeAspect="1"/>
          </p:cNvPicPr>
          <p:nvPr/>
        </p:nvPicPr>
        <p:blipFill>
          <a:blip r:embed="rId4"/>
          <a:stretch>
            <a:fillRect/>
          </a:stretch>
        </p:blipFill>
        <p:spPr>
          <a:xfrm>
            <a:off x="6493811" y="1424353"/>
            <a:ext cx="5625403" cy="4012228"/>
          </a:xfrm>
          <a:prstGeom prst="rect">
            <a:avLst/>
          </a:prstGeom>
        </p:spPr>
      </p:pic>
    </p:spTree>
    <p:extLst>
      <p:ext uri="{BB962C8B-B14F-4D97-AF65-F5344CB8AC3E}">
        <p14:creationId xmlns:p14="http://schemas.microsoft.com/office/powerpoint/2010/main" val="3513131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D0E85B7F-C997-41A1-8B9A-4097F52B2846}"/>
              </a:ext>
            </a:extLst>
          </p:cNvPr>
          <p:cNvSpPr txBox="1">
            <a:spLocks/>
          </p:cNvSpPr>
          <p:nvPr/>
        </p:nvSpPr>
        <p:spPr>
          <a:xfrm>
            <a:off x="111760" y="72454"/>
            <a:ext cx="7101840" cy="686500"/>
          </a:xfrm>
          <a:prstGeom prst="rect">
            <a:avLst/>
          </a:prstGeom>
        </p:spPr>
        <p:txBody>
          <a:bodyPr vert="horz" lIns="91440" tIns="45720" rIns="91440" bIns="45720" rtlCol="0" anchor="t">
            <a:noAutofit/>
          </a:bodyPr>
          <a:lst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a:lstStyle>
          <a:p>
            <a:pPr algn="just"/>
            <a:r>
              <a:rPr lang="en-IN" sz="3400">
                <a:cs typeface="Aharoni" panose="02010803020104030203" pitchFamily="2" charset="-79"/>
              </a:rPr>
              <a:t>Basics of Semiconductor Memory</a:t>
            </a:r>
            <a:endParaRPr lang="en-IN" sz="3400" dirty="0">
              <a:cs typeface="Aharoni" panose="02010803020104030203" pitchFamily="2" charset="-79"/>
            </a:endParaRPr>
          </a:p>
        </p:txBody>
      </p:sp>
      <p:pic>
        <p:nvPicPr>
          <p:cNvPr id="8" name="Picture 7">
            <a:extLst>
              <a:ext uri="{FF2B5EF4-FFF2-40B4-BE49-F238E27FC236}">
                <a16:creationId xmlns:a16="http://schemas.microsoft.com/office/drawing/2014/main" id="{3D91042B-49F3-4A8B-B1C8-F1DCA82918C2}"/>
              </a:ext>
            </a:extLst>
          </p:cNvPr>
          <p:cNvPicPr>
            <a:picLocks noChangeAspect="1"/>
          </p:cNvPicPr>
          <p:nvPr/>
        </p:nvPicPr>
        <p:blipFill>
          <a:blip r:embed="rId3"/>
          <a:stretch>
            <a:fillRect/>
          </a:stretch>
        </p:blipFill>
        <p:spPr>
          <a:xfrm>
            <a:off x="1362673" y="1271752"/>
            <a:ext cx="8747326" cy="4405728"/>
          </a:xfrm>
          <a:prstGeom prst="rect">
            <a:avLst/>
          </a:prstGeom>
        </p:spPr>
      </p:pic>
      <p:sp>
        <p:nvSpPr>
          <p:cNvPr id="10" name="TextBox 9">
            <a:extLst>
              <a:ext uri="{FF2B5EF4-FFF2-40B4-BE49-F238E27FC236}">
                <a16:creationId xmlns:a16="http://schemas.microsoft.com/office/drawing/2014/main" id="{8D4E450B-27F0-4BFF-9ACA-C2B0F60AB785}"/>
              </a:ext>
            </a:extLst>
          </p:cNvPr>
          <p:cNvSpPr txBox="1"/>
          <p:nvPr/>
        </p:nvSpPr>
        <p:spPr>
          <a:xfrm>
            <a:off x="3808476" y="5808645"/>
            <a:ext cx="3181640" cy="338554"/>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Fig.3 Overview of Memory Types</a:t>
            </a:r>
          </a:p>
        </p:txBody>
      </p:sp>
      <p:sp>
        <p:nvSpPr>
          <p:cNvPr id="11" name="Slide Number Placeholder 10">
            <a:extLst>
              <a:ext uri="{FF2B5EF4-FFF2-40B4-BE49-F238E27FC236}">
                <a16:creationId xmlns:a16="http://schemas.microsoft.com/office/drawing/2014/main" id="{7499C17B-8973-4A1E-B4A8-E685079652C2}"/>
              </a:ext>
            </a:extLst>
          </p:cNvPr>
          <p:cNvSpPr>
            <a:spLocks noGrp="1"/>
          </p:cNvSpPr>
          <p:nvPr>
            <p:ph type="sldNum" sz="quarter" idx="12"/>
          </p:nvPr>
        </p:nvSpPr>
        <p:spPr/>
        <p:txBody>
          <a:bodyPr/>
          <a:lstStyle/>
          <a:p>
            <a:fld id="{CB1E4CB7-CB13-4810-BF18-BE31AFC64F93}" type="slidenum">
              <a:rPr lang="en-US" smtClean="0"/>
              <a:t>5</a:t>
            </a:fld>
            <a:endParaRPr lang="en-US"/>
          </a:p>
        </p:txBody>
      </p:sp>
      <p:sp>
        <p:nvSpPr>
          <p:cNvPr id="19" name="Footer Placeholder 4">
            <a:extLst>
              <a:ext uri="{FF2B5EF4-FFF2-40B4-BE49-F238E27FC236}">
                <a16:creationId xmlns:a16="http://schemas.microsoft.com/office/drawing/2014/main" id="{F74FF02F-AD7E-4E1A-BDDD-1C0E8E663D19}"/>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Tree>
    <p:extLst>
      <p:ext uri="{BB962C8B-B14F-4D97-AF65-F5344CB8AC3E}">
        <p14:creationId xmlns:p14="http://schemas.microsoft.com/office/powerpoint/2010/main" val="3437631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D0E85B7F-C997-41A1-8B9A-4097F52B2846}"/>
              </a:ext>
            </a:extLst>
          </p:cNvPr>
          <p:cNvSpPr txBox="1">
            <a:spLocks/>
          </p:cNvSpPr>
          <p:nvPr/>
        </p:nvSpPr>
        <p:spPr>
          <a:xfrm>
            <a:off x="111760" y="72454"/>
            <a:ext cx="7101840" cy="686500"/>
          </a:xfrm>
          <a:prstGeom prst="rect">
            <a:avLst/>
          </a:prstGeom>
        </p:spPr>
        <p:txBody>
          <a:bodyPr vert="horz" lIns="91440" tIns="45720" rIns="91440" bIns="45720" rtlCol="0" anchor="t">
            <a:noAutofit/>
          </a:bodyPr>
          <a:lst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a:lstStyle>
          <a:p>
            <a:pPr algn="just"/>
            <a:r>
              <a:rPr lang="en-IN" sz="3400">
                <a:cs typeface="Aharoni" panose="02010803020104030203" pitchFamily="2" charset="-79"/>
              </a:rPr>
              <a:t>Basics of Semiconductor Memory</a:t>
            </a:r>
            <a:endParaRPr lang="en-IN" sz="3400" dirty="0">
              <a:cs typeface="Aharoni" panose="02010803020104030203" pitchFamily="2" charset="-79"/>
            </a:endParaRPr>
          </a:p>
        </p:txBody>
      </p:sp>
      <p:sp>
        <p:nvSpPr>
          <p:cNvPr id="10" name="TextBox 9">
            <a:extLst>
              <a:ext uri="{FF2B5EF4-FFF2-40B4-BE49-F238E27FC236}">
                <a16:creationId xmlns:a16="http://schemas.microsoft.com/office/drawing/2014/main" id="{8D4E450B-27F0-4BFF-9ACA-C2B0F60AB785}"/>
              </a:ext>
            </a:extLst>
          </p:cNvPr>
          <p:cNvSpPr txBox="1"/>
          <p:nvPr/>
        </p:nvSpPr>
        <p:spPr>
          <a:xfrm>
            <a:off x="3492779" y="4390516"/>
            <a:ext cx="5697394" cy="369332"/>
          </a:xfrm>
          <a:prstGeom prst="rect">
            <a:avLst/>
          </a:prstGeom>
          <a:noFill/>
        </p:spPr>
        <p:txBody>
          <a:bodyPr wrap="none" rtlCol="0">
            <a:spAutoFit/>
          </a:bodyPr>
          <a:lstStyle/>
          <a:p>
            <a:pPr algn="ctr"/>
            <a:r>
              <a:rPr lang="en-IN" sz="1600" dirty="0">
                <a:latin typeface="Arial" panose="020B0604020202020204" pitchFamily="34" charset="0"/>
                <a:cs typeface="Arial" panose="020B0604020202020204" pitchFamily="34" charset="0"/>
              </a:rPr>
              <a:t>Memory Cell circuits; (a) DRAM; (b) SRAM; (</a:t>
            </a:r>
            <a:r>
              <a:rPr lang="en-IN" sz="1600">
                <a:latin typeface="Arial" panose="020B0604020202020204" pitchFamily="34" charset="0"/>
                <a:cs typeface="Arial" panose="020B0604020202020204" pitchFamily="34" charset="0"/>
              </a:rPr>
              <a:t>c) </a:t>
            </a:r>
            <a:r>
              <a:rPr lang="en-IN" sz="1600" dirty="0">
                <a:latin typeface="Arial" panose="020B0604020202020204" pitchFamily="34" charset="0"/>
                <a:cs typeface="Arial" panose="020B0604020202020204" pitchFamily="34" charset="0"/>
              </a:rPr>
              <a:t>EEPROM</a:t>
            </a:r>
            <a:r>
              <a:rPr lang="en-IN" dirty="0"/>
              <a:t>;</a:t>
            </a:r>
            <a:r>
              <a:rPr lang="en-IN" sz="1600" dirty="0">
                <a:latin typeface="Arial" panose="020B0604020202020204" pitchFamily="34" charset="0"/>
                <a:cs typeface="Arial" panose="020B0604020202020204" pitchFamily="34" charset="0"/>
              </a:rPr>
              <a:t> </a:t>
            </a:r>
          </a:p>
        </p:txBody>
      </p:sp>
      <p:sp>
        <p:nvSpPr>
          <p:cNvPr id="11" name="Slide Number Placeholder 10">
            <a:extLst>
              <a:ext uri="{FF2B5EF4-FFF2-40B4-BE49-F238E27FC236}">
                <a16:creationId xmlns:a16="http://schemas.microsoft.com/office/drawing/2014/main" id="{7499C17B-8973-4A1E-B4A8-E685079652C2}"/>
              </a:ext>
            </a:extLst>
          </p:cNvPr>
          <p:cNvSpPr>
            <a:spLocks noGrp="1"/>
          </p:cNvSpPr>
          <p:nvPr>
            <p:ph type="sldNum" sz="quarter" idx="12"/>
          </p:nvPr>
        </p:nvSpPr>
        <p:spPr/>
        <p:txBody>
          <a:bodyPr/>
          <a:lstStyle/>
          <a:p>
            <a:fld id="{CB1E4CB7-CB13-4810-BF18-BE31AFC64F93}" type="slidenum">
              <a:rPr lang="en-US" smtClean="0"/>
              <a:t>6</a:t>
            </a:fld>
            <a:endParaRPr lang="en-US"/>
          </a:p>
        </p:txBody>
      </p:sp>
      <p:sp>
        <p:nvSpPr>
          <p:cNvPr id="19" name="Footer Placeholder 4">
            <a:extLst>
              <a:ext uri="{FF2B5EF4-FFF2-40B4-BE49-F238E27FC236}">
                <a16:creationId xmlns:a16="http://schemas.microsoft.com/office/drawing/2014/main" id="{F74FF02F-AD7E-4E1A-BDDD-1C0E8E663D19}"/>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pic>
        <p:nvPicPr>
          <p:cNvPr id="2" name="Picture 1">
            <a:extLst>
              <a:ext uri="{FF2B5EF4-FFF2-40B4-BE49-F238E27FC236}">
                <a16:creationId xmlns:a16="http://schemas.microsoft.com/office/drawing/2014/main" id="{44647D96-38A9-4335-B400-61D8583FB1D6}"/>
              </a:ext>
            </a:extLst>
          </p:cNvPr>
          <p:cNvPicPr>
            <a:picLocks noChangeAspect="1"/>
          </p:cNvPicPr>
          <p:nvPr/>
        </p:nvPicPr>
        <p:blipFill rotWithShape="1">
          <a:blip r:embed="rId3"/>
          <a:srcRect r="17350"/>
          <a:stretch/>
        </p:blipFill>
        <p:spPr>
          <a:xfrm>
            <a:off x="2419839" y="1054231"/>
            <a:ext cx="7843277" cy="3144713"/>
          </a:xfrm>
          <a:prstGeom prst="rect">
            <a:avLst/>
          </a:prstGeom>
        </p:spPr>
      </p:pic>
    </p:spTree>
    <p:extLst>
      <p:ext uri="{BB962C8B-B14F-4D97-AF65-F5344CB8AC3E}">
        <p14:creationId xmlns:p14="http://schemas.microsoft.com/office/powerpoint/2010/main" val="84781809"/>
      </p:ext>
    </p:extLst>
  </p:cSld>
  <p:clrMapOvr>
    <a:masterClrMapping/>
  </p:clrMapOvr>
</p:sld>
</file>

<file path=ppt/theme/theme1.xml><?xml version="1.0" encoding="utf-8"?>
<a:theme xmlns:a="http://schemas.openxmlformats.org/drawingml/2006/main" name="PrismaticVTI">
  <a:themeElements>
    <a:clrScheme name="AnalogousFromDarkSeedLeftStep">
      <a:dk1>
        <a:srgbClr val="000000"/>
      </a:dk1>
      <a:lt1>
        <a:srgbClr val="FFFFFF"/>
      </a:lt1>
      <a:dk2>
        <a:srgbClr val="1C2031"/>
      </a:dk2>
      <a:lt2>
        <a:srgbClr val="F0F3F1"/>
      </a:lt2>
      <a:accent1>
        <a:srgbClr val="DD3397"/>
      </a:accent1>
      <a:accent2>
        <a:srgbClr val="CA21CB"/>
      </a:accent2>
      <a:accent3>
        <a:srgbClr val="9533DD"/>
      </a:accent3>
      <a:accent4>
        <a:srgbClr val="4A31CF"/>
      </a:accent4>
      <a:accent5>
        <a:srgbClr val="335FDD"/>
      </a:accent5>
      <a:accent6>
        <a:srgbClr val="2194CB"/>
      </a:accent6>
      <a:hlink>
        <a:srgbClr val="3F4BBF"/>
      </a:hlink>
      <a:folHlink>
        <a:srgbClr val="7F7F7F"/>
      </a:folHlink>
    </a:clrScheme>
    <a:fontScheme name="Custom 166">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ismaticVTI" id="{DA44D624-A564-4DE8-8446-0CD5C485C979}" vid="{8B2B1550-B69C-4156-BAEC-B2E559F94BD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17479</TotalTime>
  <Words>1984</Words>
  <Application>Microsoft Office PowerPoint</Application>
  <PresentationFormat>Widescreen</PresentationFormat>
  <Paragraphs>57</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Aharoni</vt:lpstr>
      <vt:lpstr>Arial</vt:lpstr>
      <vt:lpstr>Avenir Next LT Pro</vt:lpstr>
      <vt:lpstr>Calibri</vt:lpstr>
      <vt:lpstr>PrismaticVTI</vt:lpstr>
      <vt:lpstr>Memory Design and Testing  (PVL 331)</vt:lpstr>
      <vt:lpstr>Module 1</vt:lpstr>
      <vt:lpstr>Basics of Semiconductor Memory</vt:lpstr>
      <vt:lpstr>Basics of Semiconductor Memory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Design and Testing  (PVL 331)</dc:title>
  <dc:creator>rajneesh rajneesh</dc:creator>
  <cp:lastModifiedBy>Rajneesh Sharma</cp:lastModifiedBy>
  <cp:revision>133</cp:revision>
  <dcterms:created xsi:type="dcterms:W3CDTF">2021-02-04T08:02:34Z</dcterms:created>
  <dcterms:modified xsi:type="dcterms:W3CDTF">2021-02-26T05:00:25Z</dcterms:modified>
</cp:coreProperties>
</file>