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1" r:id="rId1"/>
  </p:sldMasterIdLst>
  <p:notesMasterIdLst>
    <p:notesMasterId r:id="rId14"/>
  </p:notesMasterIdLst>
  <p:sldIdLst>
    <p:sldId id="256" r:id="rId2"/>
    <p:sldId id="269" r:id="rId3"/>
    <p:sldId id="272" r:id="rId4"/>
    <p:sldId id="273" r:id="rId5"/>
    <p:sldId id="274" r:id="rId6"/>
    <p:sldId id="275" r:id="rId7"/>
    <p:sldId id="266" r:id="rId8"/>
    <p:sldId id="276" r:id="rId9"/>
    <p:sldId id="278" r:id="rId10"/>
    <p:sldId id="279" r:id="rId11"/>
    <p:sldId id="281" r:id="rId12"/>
    <p:sldId id="28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neesh rajneesh" initials="rr" lastIdx="1" clrIdx="0">
    <p:extLst>
      <p:ext uri="{19B8F6BF-5375-455C-9EA6-DF929625EA0E}">
        <p15:presenceInfo xmlns:p15="http://schemas.microsoft.com/office/powerpoint/2012/main" userId="c4fa929643a7a2c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4305" autoAdjust="0"/>
  </p:normalViewPr>
  <p:slideViewPr>
    <p:cSldViewPr snapToGrid="0">
      <p:cViewPr varScale="1">
        <p:scale>
          <a:sx n="65" d="100"/>
          <a:sy n="65" d="100"/>
        </p:scale>
        <p:origin x="6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2-18T05:52:44.807"/>
    </inkml:context>
    <inkml:brush xml:id="br0">
      <inkml:brushProperty name="width" value="0.05292" units="cm"/>
      <inkml:brushProperty name="height" value="0.05292" units="cm"/>
      <inkml:brushProperty name="color" value="#FF0000"/>
    </inkml:brush>
  </inkml:definitions>
  <inkml:trace contextRef="#ctx0" brushRef="#br0">9665 8777 0,'0'0'1,"-26"0"20,26 26-17,-25-26 4,25 25-4</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1-02-18T05:52:44.807"/>
    </inkml:context>
    <inkml:brush xml:id="br0">
      <inkml:brushProperty name="width" value="0.05292" units="cm"/>
      <inkml:brushProperty name="height" value="0.05292" units="cm"/>
      <inkml:brushProperty name="color" value="#FF0000"/>
    </inkml:brush>
  </inkml:definitions>
  <inkml:trace contextRef="#ctx0" brushRef="#br0">9665 8777 0,'0'0'1,"-26"0"20,26 26-17,-25-26 4,25 25-4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3T10:08:26.066"/>
    </inkml:context>
    <inkml:brush xml:id="br0">
      <inkml:brushProperty name="width" value="0.05" units="cm"/>
      <inkml:brushProperty name="height" value="0.05" units="cm"/>
      <inkml:brushProperty name="color" value="#E71224"/>
    </inkml:brush>
  </inkml:definitions>
  <inkml:trace contextRef="#ctx0" brushRef="#br0">1 76 536,'0'0'16,"0"0"16,0 0 7,0 0 6,0 0-12,0 0-3,0 0-17,0 0-4,0 0 1,0 0-1,0 0 20,0 0 33,0 0 26,0 0-5,0 0 10,0 0-31,0 0 5,0 0 35,0 0 27,0 0 47,0 0 6,0 0-5,0 0-31,0 0-41,2 0-11,60 0 230,-61 0-322,0 0 0,0 0 0,-1 0 1,1 0-1,0 1 0,0-1 0,0 0 0,-1 0 1,1 1-1,0-1 0,-1 0 0,1 1 0,0-1 1,-1 0-1,1 1 0,0-1 0,-1 1 0,1-1 1,-1 1-1,1 0 0,-1-1 0,1 1 0,-1-1 0,1 1 1,-1 0-1,1 0 0,-1-1 0,0 1 0,0 0 1,1 1-1,-1-2-1,0 1 1,1 0-1,-1 0 0,0 0 1,1-1-1,-1 1 1,1 0-1,-1-1 0,0 1 1,1 0-1,0-1 1,-1 1-1,1 0 0,-1-1 1,1 1-1,0-1 1,-1 1-1,1-1 0,0 1 1,0-1-1,-1 0 1,1 1-1,0-1 0,0 0 1,0 0-1,0 0 1,-1 1-1,1-1 0,0 0 1,1 0-1,387 0 921,-383-1-899,0 1 1,-1-1-1,1 0 1,-1 0-1,0 0 1,1-1-1,-1 0 1,6-3-1,-6 2-3,0 1 0,0 0 1,1 1-1,-1-1 0,0 1 0,0 0 0,1 0 0,6 0 0,13 2 46,-17 0-56,0-1 1,1 0 0,-1 0 0,1-1 0,15-3-1,-14 1-4,-3 0-1,-1 1-1,1 0 1,0 0-1,1 1 1,-1 0-1,12 0 1,4 1 17,64 0-41,93-12 0,230-32 164,-369 41 508,-53 3-655,-9-1-2,1 2-1,-33 3 1,33 5 17,18-8-9,0 0 0,-1 1-1,1-1 1,0 0-1,-1-1 1,1 1 0,0 0-1,-1-1 1,1 1 0,-1-1-1,-2 0 1,-22-1 12,16 0-26,0 1-1,0 0 0,0 1 1,-13 2-1,-1 1 58,-1 0 1,-1-2-1,-33-2 1,-39 4 52,-29 1 43,127-5-205,1 0-16,0 0-10,0 0 31,0 0 35,6 0 9,101 0 100,457 0-1069,-620 0 985,16 3 48,-52 11 0,-14 2 63,-247 7 963,352-23-1155,1 0-39,0 0-43,0 0-58,0 0-78,6 0-83,17 0-73,-22 0 426,-1 0 1,1 0-1,-1 0 1,1 0-1,-1 0 0,1 0 1,-1 0-1,1-1 1,-1 1-1,1 0 0,-1 0 1,1 0-1,-1 0 1,1-1-1,-1 1 0,0 0 1,1 0-1,-1-1 1,1 1-1,-1 0 0,0-1 1,1 0-1,19-16-688,-19 16 679,-1 1 0,1 0 0,-1-1 0,0 1 0,1 0 1,-1-1-1,1 1 0,-1 0 0,1-1 0,-1 1 1,1 0-1,-1 0 0,1 0 0,-1-1 0,1 1 1,0 0-1,-1 0 0,1 0 0,-1 0 0,1 0 0,-1 0 1,2 0-1,32-3-719,-31 1 686,0 1-1,0 0 0,-1-1 0,1 0 0,0 0 1,-1 1-1,1-2 0,2-2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3T10:08:28.392"/>
    </inkml:context>
    <inkml:brush xml:id="br0">
      <inkml:brushProperty name="width" value="0.05" units="cm"/>
      <inkml:brushProperty name="height" value="0.05" units="cm"/>
      <inkml:brushProperty name="color" value="#E71224"/>
    </inkml:brush>
  </inkml:definitions>
  <inkml:trace contextRef="#ctx0" brushRef="#br0">55 6 12,'0'0'13,"-4"0"3,-43 0 882,43 0-858,4 0 0,0 0-14,0 0-24,0 0 8,0 0 0,0 0-18,0 0 11,0 0 13,0 0 11,0 0 9,0 0 21,0 0 2,0 0 14,0 0-6,0 0-9,0 0 8,0 0-1,0 0 18,0 0-4,0 0 11,0 0-7,0 0-17,0 0-16,0 0-27,0 0 3,0 0-2,0 0 14,0 0-6,0 0 14,0 0 5,0 0-24,0 0 0,0 0-34,0 0-7,0 0 16,0 0-6,0 0 5,0 0-9,0 0 0,0 0 2,0 0-4,0 0 6,0 0 17,0 0-9,0 0-5,0 0 17,0 0 17,0 0 42,0 0 20,0 0 30,0 0 6,0 0-19,0 0-14,0 0-26,0 0 0,0 0-16,0 0-28,0 0-16,0 0-15,0 0-9,0 0-5,0 0-3,0 0-18,0 0 12,0 0 12,0 0-5,0 0-6,0 0 28,0 0 4,0 0 3,0 0 0,0 0 3,0 0-14,0 0 13,0 0-14,0 0 1,0 0-30,0 0 12,0 0 20,0 0 0,0 0 28,0 0 19,7 0-20,103 0 46,494 0 561,-648 0-689,-545 0 493,644 0-376,878 0 156,-932 0-205,-1 0 11,-7 0 3,-35 0-20,-9-1 10,9-1-1,1 2-1,-50 6 1,65-1-21,9-1-5,-1-2 1,-26 2-1,-9-4 14,-78 10 0,103-8 5,0 0-1,-35-3 1,13 0-6,49 1-12,1 0 0,21 1 18,5-2 19,17 1 44,103 0-109,-142-1 31,0 1 0,0 0 0,0-1-1,0 0 1,0 0 0,0 0 0,-1-1-1,1 1 1,5-4 0,-6 3 5,1 0 0,-1 1 1,1-1-1,0 1 0,0 0 1,-1 0-1,1 0 0,0 0 1,6 1-1,66 0-637,-76 0 91,0-9-1217,0 8 882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3T10:08:33.129"/>
    </inkml:context>
    <inkml:brush xml:id="br0">
      <inkml:brushProperty name="width" value="0.05" units="cm"/>
      <inkml:brushProperty name="height" value="0.05" units="cm"/>
      <inkml:brushProperty name="color" value="#E71224"/>
    </inkml:brush>
  </inkml:definitions>
  <inkml:trace contextRef="#ctx0" brushRef="#br0">77 1 236,'-67'0'1043,"66"0"-1029,1 1 0,-1-1 0,0 0 0,1 1 0,-1-1 0,1 1-1,-1-1 1,1 1 0,-1-1 0,1 1 0,-1-1 0,1 1 0,0-1-1,-1 1 1,1 0 0,0-1 0,-1 1 0,1-1 0,0 1 0,0 0-1,0-1 1,-1 1 0,1 0 0,0 0 0,0-1 0,0 1-1,0 0 1,0-1 0,0 1 0,1 1 0,-2 1 1275,4-3-1273,0 0 0,0 0 0,1 1 1,-1-1-1,0 0 0,0 1 0,5 2 1,6 14 116,-11-16-119,1 1-1,0-1 1,-1-1-1,1 1 1,0 0 0,0-1-1,-1 0 1,1 0 0,0 0-1,4-1 1,-1 1 4,1-1 1,-1 2-1,0-1 1,11 3-1,-3 1-1,-7-1-4,1-1-1,-1 0 1,1-1-1,-1 0 1,10 1-1,213 9 192,-24 16-193,-164-21-2456,-43-6 1788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3T10:08:37.994"/>
    </inkml:context>
    <inkml:brush xml:id="br0">
      <inkml:brushProperty name="width" value="0.05" units="cm"/>
      <inkml:brushProperty name="height" value="0.05" units="cm"/>
      <inkml:brushProperty name="color" value="#E71224"/>
    </inkml:brush>
  </inkml:definitions>
  <inkml:trace contextRef="#ctx0" brushRef="#br0">22 1 1176,'-22'0'962,"31"0"-232,42 0-514,294 0-341,-385 0 112,36 0 12,0 0-1,0 0 0,0 1 1,1-1-1,-1 1 1,-7 2-1,-9 8 6,18-9-1,-1 0 0,1-1 0,0 1 0,-1-1 0,0 0 0,1 0 0,-1 0 0,0 0 0,1 0 0,-1-1 0,0 1 0,0-1 0,-5 0 0,-7 0 9,9-1-2,1 1 1,-1 0 0,0 0 0,1 1 0,-1-1-1,1 1 1,-10 3 0,-3 4 24,14-5-21,0-1 1,0 0 0,0-1 0,0 1 0,-1-1-1,1 1 1,-1-1 0,1-1 0,-8 1 0,7-1 8,0 0 0,0 0 0,1 1 0,-1-1 0,0 1 0,0 0 1,0 0-1,1 0 0,-1 1 0,1 0 0,-1 0 0,-7 5 0,10-7-5,0 1-1,0 0 0,0-1 1,0 1-1,0-1 0,0 1 1,-1-1-1,1 0 0,0 0 1,0 0-1,-3-1 0,-3 1 113,8 1-62,-1 3-82,10-2 254,40-2-236,-3 0-61,-37-1 56,1 0 1,-1 0-1,0-1 1,0-1-1,0 0 1,0 0-1,9-4 0,-11 4 4,1 2 0,0-1-1,0 1 1,0 0-1,0 1 1,0 0 0,0 0-1,9 2 1,7-1-9,-20-1 45,-4 0 10,0 0-37,0 0-64,0 0-10,0 0-38,0 0-86,0 0-27,-6 0-72,-18 0-81,18 0-88,2 0-120,-12 0-105,12 0 64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3T10:08:53.693"/>
    </inkml:context>
    <inkml:brush xml:id="br0">
      <inkml:brushProperty name="width" value="0.05" units="cm"/>
      <inkml:brushProperty name="height" value="0.05" units="cm"/>
      <inkml:brushProperty name="color" value="#E71224"/>
    </inkml:brush>
  </inkml:definitions>
  <inkml:trace contextRef="#ctx0" brushRef="#br0">1 49 5473,'17'0'152,"-4"0"160,-5 0 188,-5 0 112,-3 0-100,0 0-160,0 0-156,0 0-152,0-28-116,0 28-204,0 0-376,0 0-416,0 0-661,0 0-27,0-20 344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3E900-CDD6-400F-B8EB-080BAD321EB8}" type="datetimeFigureOut">
              <a:rPr lang="en-IN" smtClean="0"/>
              <a:t>28-02-2021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AF1C19-2E8E-40E1-B714-EEC44F16D428}" type="slidenum">
              <a:rPr lang="en-IN" smtClean="0"/>
              <a:t>‹#›</a:t>
            </a:fld>
            <a:endParaRPr lang="en-IN"/>
          </a:p>
        </p:txBody>
      </p:sp>
    </p:spTree>
    <p:extLst>
      <p:ext uri="{BB962C8B-B14F-4D97-AF65-F5344CB8AC3E}">
        <p14:creationId xmlns:p14="http://schemas.microsoft.com/office/powerpoint/2010/main" val="259613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a:t>
            </a:fld>
            <a:endParaRPr lang="en-IN"/>
          </a:p>
        </p:txBody>
      </p:sp>
    </p:spTree>
    <p:extLst>
      <p:ext uri="{BB962C8B-B14F-4D97-AF65-F5344CB8AC3E}">
        <p14:creationId xmlns:p14="http://schemas.microsoft.com/office/powerpoint/2010/main" val="2338556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CAF1C19-2E8E-40E1-B714-EEC44F16D428}" type="slidenum">
              <a:rPr lang="en-IN" smtClean="0"/>
              <a:t>2</a:t>
            </a:fld>
            <a:endParaRPr lang="en-IN"/>
          </a:p>
        </p:txBody>
      </p:sp>
    </p:spTree>
    <p:extLst>
      <p:ext uri="{BB962C8B-B14F-4D97-AF65-F5344CB8AC3E}">
        <p14:creationId xmlns:p14="http://schemas.microsoft.com/office/powerpoint/2010/main" val="3588988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3</a:t>
            </a:fld>
            <a:endParaRPr lang="en-IN"/>
          </a:p>
        </p:txBody>
      </p:sp>
    </p:spTree>
    <p:extLst>
      <p:ext uri="{BB962C8B-B14F-4D97-AF65-F5344CB8AC3E}">
        <p14:creationId xmlns:p14="http://schemas.microsoft.com/office/powerpoint/2010/main" val="3060708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Sometimes, the memory cell array is called memory cell matrix, a memory array, or simply an array. The memory cell array can be of 1 Dim, 2Dim or 3 Dim arrangement. Memory cell arrangement for 1D and 2D is shown in Fig. 4. In the 2D memory array, </a:t>
            </a:r>
            <a:r>
              <a:rPr lang="en-IN" sz="1200" b="0" i="0" u="none" strike="noStrike" kern="1200" baseline="0" dirty="0">
                <a:solidFill>
                  <a:schemeClr val="tx1"/>
                </a:solidFill>
                <a:latin typeface="+mn-lt"/>
                <a:ea typeface="+mn-ea"/>
                <a:cs typeface="+mn-cs"/>
              </a:rPr>
              <a:t>The row is also </a:t>
            </a:r>
            <a:r>
              <a:rPr lang="en-US" sz="1200" b="0" i="0" u="none" strike="noStrike" kern="1200" baseline="0" dirty="0">
                <a:solidFill>
                  <a:schemeClr val="tx1"/>
                </a:solidFill>
                <a:latin typeface="+mn-lt"/>
                <a:ea typeface="+mn-ea"/>
                <a:cs typeface="+mn-cs"/>
              </a:rPr>
              <a:t>called the X line or word line, while the column is called the Y line, bit line, </a:t>
            </a:r>
            <a:r>
              <a:rPr lang="en-IN" sz="1200" b="0" i="0" u="none" strike="noStrike" kern="1200" baseline="0" dirty="0">
                <a:solidFill>
                  <a:schemeClr val="tx1"/>
                </a:solidFill>
                <a:latin typeface="+mn-lt"/>
                <a:ea typeface="+mn-ea"/>
                <a:cs typeface="+mn-cs"/>
              </a:rPr>
              <a:t>or data line. Remember this nomenclature because we are going to use it very frequently. Here, </a:t>
            </a:r>
            <a:r>
              <a:rPr lang="en-US" sz="1200" b="0" i="0" u="none" strike="noStrike" kern="1200" baseline="0" dirty="0">
                <a:solidFill>
                  <a:schemeClr val="tx1"/>
                </a:solidFill>
                <a:latin typeface="+mn-lt"/>
                <a:ea typeface="+mn-ea"/>
                <a:cs typeface="+mn-cs"/>
              </a:rPr>
              <a:t>matrix arrangement helps to minimizes the number of driving </a:t>
            </a:r>
            <a:r>
              <a:rPr lang="en-IN" sz="1200" b="0" i="0" u="none" strike="noStrike" kern="1200" baseline="0" dirty="0">
                <a:solidFill>
                  <a:schemeClr val="tx1"/>
                </a:solidFill>
                <a:latin typeface="+mn-lt"/>
                <a:ea typeface="+mn-ea"/>
                <a:cs typeface="+mn-cs"/>
              </a:rPr>
              <a:t>circuits for given memory cells: </a:t>
            </a:r>
            <a:r>
              <a:rPr lang="en-US" sz="1200" b="0" i="0" u="none" strike="noStrike" kern="1200" baseline="0" dirty="0">
                <a:solidFill>
                  <a:schemeClr val="tx1"/>
                </a:solidFill>
                <a:latin typeface="+mn-lt"/>
                <a:ea typeface="+mn-ea"/>
                <a:cs typeface="+mn-cs"/>
              </a:rPr>
              <a:t>the number is calculated as </a:t>
            </a:r>
            <a:r>
              <a:rPr lang="en-US" sz="1200" b="0" i="1" u="none" strike="noStrike" kern="1200" baseline="0" dirty="0">
                <a:solidFill>
                  <a:schemeClr val="tx1"/>
                </a:solidFill>
                <a:latin typeface="+mn-lt"/>
                <a:ea typeface="+mn-ea"/>
                <a:cs typeface="+mn-cs"/>
              </a:rPr>
              <a:t>(2</a:t>
            </a:r>
            <a:r>
              <a:rPr lang="en-US" sz="1200" b="0" i="1" u="none" strike="noStrike" kern="1200" baseline="30000" dirty="0">
                <a:solidFill>
                  <a:schemeClr val="tx1"/>
                </a:solidFill>
                <a:latin typeface="+mn-lt"/>
                <a:ea typeface="+mn-ea"/>
                <a:cs typeface="+mn-cs"/>
              </a:rPr>
              <a:t>N</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2</a:t>
            </a:r>
            <a:r>
              <a:rPr lang="en-US" sz="1200" b="0" i="1" u="none" strike="noStrike" kern="1200" baseline="30000" dirty="0">
                <a:solidFill>
                  <a:schemeClr val="tx1"/>
                </a:solidFill>
                <a:latin typeface="+mn-lt"/>
                <a:ea typeface="+mn-ea"/>
                <a:cs typeface="+mn-cs"/>
              </a:rPr>
              <a:t>M</a:t>
            </a:r>
            <a:r>
              <a:rPr lang="en-US" sz="1200" b="0" i="1" u="none" strike="noStrike" kern="1200" baseline="0" dirty="0">
                <a:solidFill>
                  <a:schemeClr val="tx1"/>
                </a:solidFill>
                <a:latin typeface="+mn-lt"/>
                <a:ea typeface="+mn-ea"/>
                <a:cs typeface="+mn-cs"/>
              </a:rPr>
              <a:t> ) for 2-dimensional arrangement , </a:t>
            </a:r>
            <a:r>
              <a:rPr lang="en-US" sz="1200" b="0" i="0" u="none" strike="noStrike" kern="1200" baseline="0" dirty="0">
                <a:solidFill>
                  <a:schemeClr val="tx1"/>
                </a:solidFill>
                <a:latin typeface="+mn-lt"/>
                <a:ea typeface="+mn-ea"/>
                <a:cs typeface="+mn-cs"/>
              </a:rPr>
              <a:t>and you know this no would be min when N= </a:t>
            </a:r>
            <a:r>
              <a:rPr lang="en-US" sz="1200" b="0" i="1" u="none" strike="noStrike" kern="1200" baseline="0" dirty="0">
                <a:solidFill>
                  <a:schemeClr val="tx1"/>
                </a:solidFill>
                <a:latin typeface="+mn-lt"/>
                <a:ea typeface="+mn-ea"/>
                <a:cs typeface="+mn-cs"/>
              </a:rPr>
              <a:t>M. While it is 2</a:t>
            </a:r>
            <a:r>
              <a:rPr lang="en-US" sz="1200" b="0" i="1" u="none" strike="noStrike" kern="1200" baseline="30000" dirty="0">
                <a:solidFill>
                  <a:schemeClr val="tx1"/>
                </a:solidFill>
                <a:latin typeface="+mn-lt"/>
                <a:ea typeface="+mn-ea"/>
                <a:cs typeface="+mn-cs"/>
              </a:rPr>
              <a:t>N+M </a:t>
            </a:r>
            <a:r>
              <a:rPr lang="en-US" sz="1200" b="0" i="1" u="none" strike="noStrike" kern="1200" baseline="0" dirty="0">
                <a:solidFill>
                  <a:schemeClr val="tx1"/>
                </a:solidFill>
                <a:latin typeface="+mn-lt"/>
                <a:ea typeface="+mn-ea"/>
                <a:cs typeface="+mn-cs"/>
              </a:rPr>
              <a:t>for 1-Dimensional array. So you can see that 2Dim array is used to reduce the no of driver circuit e.g. 1Mbit of memory require only about 2000 circuit in 2D array as compared to 1Million circuit for 1D array.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Here </a:t>
            </a:r>
            <a:r>
              <a:rPr lang="en-US" sz="1200" b="0" i="1" u="none" strike="noStrike" kern="1200" baseline="0" dirty="0">
                <a:solidFill>
                  <a:schemeClr val="tx1"/>
                </a:solidFill>
                <a:latin typeface="+mn-lt"/>
                <a:ea typeface="+mn-ea"/>
                <a:cs typeface="+mn-cs"/>
              </a:rPr>
              <a:t>M </a:t>
            </a:r>
            <a:r>
              <a:rPr lang="en-US" sz="1200" b="0" i="0" u="none" strike="noStrike" kern="1200" baseline="0" dirty="0">
                <a:solidFill>
                  <a:schemeClr val="tx1"/>
                </a:solidFill>
                <a:latin typeface="+mn-lt"/>
                <a:ea typeface="+mn-ea"/>
                <a:cs typeface="+mn-cs"/>
              </a:rPr>
              <a:t>denotes 1024 K, with K = 1024. If </a:t>
            </a:r>
            <a:r>
              <a:rPr lang="en-US" sz="1200" b="0" i="1" u="none" strike="noStrike" kern="1200" baseline="0" dirty="0">
                <a:solidFill>
                  <a:schemeClr val="tx1"/>
                </a:solidFill>
                <a:latin typeface="+mn-lt"/>
                <a:ea typeface="+mn-ea"/>
                <a:cs typeface="+mn-cs"/>
              </a:rPr>
              <a:t>N </a:t>
            </a:r>
            <a:r>
              <a:rPr lang="en-US" sz="1200" b="0" i="0" u="none" strike="noStrike" kern="1200" baseline="0" dirty="0">
                <a:solidFill>
                  <a:schemeClr val="tx1"/>
                </a:solidFill>
                <a:latin typeface="+mn-lt"/>
                <a:ea typeface="+mn-ea"/>
                <a:cs typeface="+mn-cs"/>
              </a:rPr>
              <a:t>+ </a:t>
            </a:r>
            <a:r>
              <a:rPr lang="en-US" sz="1200" b="0" i="1" u="none" strike="noStrike" kern="1200" baseline="0" dirty="0">
                <a:solidFill>
                  <a:schemeClr val="tx1"/>
                </a:solidFill>
                <a:latin typeface="+mn-lt"/>
                <a:ea typeface="+mn-ea"/>
                <a:cs typeface="+mn-cs"/>
              </a:rPr>
              <a:t>M </a:t>
            </a:r>
            <a:r>
              <a:rPr lang="en-US" sz="1200" b="0" i="0" u="none" strike="noStrike" kern="1200" baseline="0" dirty="0">
                <a:solidFill>
                  <a:schemeClr val="tx1"/>
                </a:solidFill>
                <a:latin typeface="+mn-lt"/>
                <a:ea typeface="+mn-ea"/>
                <a:cs typeface="+mn-cs"/>
              </a:rPr>
              <a:t>= 30, we call it a 1 Gbit (1 G or 1 Gb) memory chip, with G = 1024 M.</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4</a:t>
            </a:fld>
            <a:endParaRPr lang="en-IN"/>
          </a:p>
        </p:txBody>
      </p:sp>
    </p:spTree>
    <p:extLst>
      <p:ext uri="{BB962C8B-B14F-4D97-AF65-F5344CB8AC3E}">
        <p14:creationId xmlns:p14="http://schemas.microsoft.com/office/powerpoint/2010/main" val="4088661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we can see the detailed view of 1D array. The signals S0, S1, S2 are the select signals coming from the driver circuit. No. of select signal depends upon the no. of words stored in the memory array. However, we can reduce these select signals using the decoder circuit. Simple binary decoder only require log</a:t>
            </a:r>
            <a:r>
              <a:rPr lang="en-IN" baseline="-25000" dirty="0"/>
              <a:t>2</a:t>
            </a:r>
            <a:r>
              <a:rPr lang="en-IN" dirty="0"/>
              <a:t>(n) select signals instead of n select signals to assess the n words. </a:t>
            </a:r>
          </a:p>
          <a:p>
            <a:r>
              <a:rPr lang="en-IN" dirty="0"/>
              <a:t>1D array is very simple to use, however, it is not suitable for large memory. </a:t>
            </a:r>
          </a:p>
        </p:txBody>
      </p:sp>
      <p:sp>
        <p:nvSpPr>
          <p:cNvPr id="4" name="Slide Number Placeholder 3"/>
          <p:cNvSpPr>
            <a:spLocks noGrp="1"/>
          </p:cNvSpPr>
          <p:nvPr>
            <p:ph type="sldNum" sz="quarter" idx="5"/>
          </p:nvPr>
        </p:nvSpPr>
        <p:spPr/>
        <p:txBody>
          <a:bodyPr/>
          <a:lstStyle/>
          <a:p>
            <a:fld id="{FCAF1C19-2E8E-40E1-B714-EEC44F16D428}" type="slidenum">
              <a:rPr lang="en-IN" smtClean="0"/>
              <a:t>5</a:t>
            </a:fld>
            <a:endParaRPr lang="en-IN"/>
          </a:p>
        </p:txBody>
      </p:sp>
    </p:spTree>
    <p:extLst>
      <p:ext uri="{BB962C8B-B14F-4D97-AF65-F5344CB8AC3E}">
        <p14:creationId xmlns:p14="http://schemas.microsoft.com/office/powerpoint/2010/main" val="1006728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larger memory, we use 2 D array. You can see separate decoder circuits for Row and Column in 2D arrangement. </a:t>
            </a:r>
            <a:r>
              <a:rPr lang="en-US" sz="1200" b="0" i="0" u="none" strike="noStrike" kern="1200" baseline="0" dirty="0">
                <a:solidFill>
                  <a:schemeClr val="tx1"/>
                </a:solidFill>
                <a:latin typeface="+mn-lt"/>
                <a:ea typeface="+mn-ea"/>
                <a:cs typeface="+mn-cs"/>
              </a:rPr>
              <a:t>The column circuitry may contain amplifiers or buffers to sense the data.</a:t>
            </a:r>
            <a:endParaRPr lang="en-IN" dirty="0"/>
          </a:p>
          <a:p>
            <a:r>
              <a:rPr lang="en-US" sz="1200" b="0" i="0" u="none" strike="noStrike" kern="1200" baseline="0" dirty="0">
                <a:solidFill>
                  <a:schemeClr val="tx1"/>
                </a:solidFill>
                <a:latin typeface="+mn-lt"/>
                <a:ea typeface="+mn-ea"/>
                <a:cs typeface="+mn-cs"/>
              </a:rPr>
              <a:t>The row decoder uses the address to activate one of the rows by asserting the </a:t>
            </a:r>
            <a:r>
              <a:rPr lang="en-US" sz="1200" b="0" i="0" u="none" strike="noStrike" kern="1200" baseline="0" dirty="0" err="1">
                <a:solidFill>
                  <a:schemeClr val="tx1"/>
                </a:solidFill>
                <a:latin typeface="+mn-lt"/>
                <a:ea typeface="+mn-ea"/>
                <a:cs typeface="+mn-cs"/>
              </a:rPr>
              <a:t>wordline</a:t>
            </a:r>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A typical memory </a:t>
            </a:r>
            <a:r>
              <a:rPr lang="en-US" sz="1200" b="0" i="0" u="none" strike="noStrike" kern="1200" baseline="0" dirty="0">
                <a:solidFill>
                  <a:schemeClr val="tx1"/>
                </a:solidFill>
                <a:latin typeface="+mn-lt"/>
                <a:ea typeface="+mn-ea"/>
                <a:cs typeface="+mn-cs"/>
              </a:rPr>
              <a:t>array may have millions of words where each word contain only 8 to 64 bits. This would lead to a tall, skinny layout that is hard to fit in the chip floorplan and slow because of the long vertical wires. Therefore, the array is often folded into fewer rows of more columns.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 </a:t>
            </a:r>
            <a:r>
              <a:rPr lang="en-IN" sz="1200" b="0" i="0" u="none" strike="noStrike" kern="1200" baseline="0" dirty="0">
                <a:solidFill>
                  <a:schemeClr val="tx1"/>
                </a:solidFill>
                <a:latin typeface="+mn-lt"/>
                <a:ea typeface="+mn-ea"/>
                <a:cs typeface="+mn-cs"/>
              </a:rPr>
              <a:t>As we have discussed in previous slide that for minimum no of signal require N = M i.e. no. of word = no. of bits in each word. This condition can not be achieved as we do not have word length beyond 64 bits. </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FCAF1C19-2E8E-40E1-B714-EEC44F16D428}" type="slidenum">
              <a:rPr lang="en-IN" smtClean="0"/>
              <a:t>6</a:t>
            </a:fld>
            <a:endParaRPr lang="en-IN"/>
          </a:p>
        </p:txBody>
      </p:sp>
    </p:spTree>
    <p:extLst>
      <p:ext uri="{BB962C8B-B14F-4D97-AF65-F5344CB8AC3E}">
        <p14:creationId xmlns:p14="http://schemas.microsoft.com/office/powerpoint/2010/main" val="2549453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Next is Hierarchical Memory architecture. This architecture is used where more computational or memory is required e.g. RAM. If you have seen RAM of your PCs, You can easily corelate this architecture with the RAM chip. This architecture have advantages like (read 1 and 2). However, we can not keep on increasing the memory blocks as it reduces the overall speed of the memory.</a:t>
            </a:r>
          </a:p>
        </p:txBody>
      </p:sp>
      <p:sp>
        <p:nvSpPr>
          <p:cNvPr id="4" name="Slide Number Placeholder 3"/>
          <p:cNvSpPr>
            <a:spLocks noGrp="1"/>
          </p:cNvSpPr>
          <p:nvPr>
            <p:ph type="sldNum" sz="quarter" idx="5"/>
          </p:nvPr>
        </p:nvSpPr>
        <p:spPr/>
        <p:txBody>
          <a:bodyPr/>
          <a:lstStyle/>
          <a:p>
            <a:fld id="{FCAF1C19-2E8E-40E1-B714-EEC44F16D428}" type="slidenum">
              <a:rPr lang="en-IN" smtClean="0"/>
              <a:t>7</a:t>
            </a:fld>
            <a:endParaRPr lang="en-IN"/>
          </a:p>
        </p:txBody>
      </p:sp>
    </p:spTree>
    <p:extLst>
      <p:ext uri="{BB962C8B-B14F-4D97-AF65-F5344CB8AC3E}">
        <p14:creationId xmlns:p14="http://schemas.microsoft.com/office/powerpoint/2010/main" val="20965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 can also design RAM and ROM as a 3 dimensional array. </a:t>
            </a:r>
          </a:p>
          <a:p>
            <a:r>
              <a:rPr lang="en-IN" dirty="0"/>
              <a:t>In 3D SRAM memory array, Rows and columns are stacked on each other with depth of Z. In this case I/O interface circuit and peripheral circuit become more complicated.</a:t>
            </a:r>
          </a:p>
          <a:p>
            <a:r>
              <a:rPr lang="en-US" sz="1200" b="0" i="0" kern="1200" dirty="0">
                <a:solidFill>
                  <a:schemeClr val="tx1"/>
                </a:solidFill>
                <a:effectLst/>
                <a:latin typeface="+mn-lt"/>
                <a:ea typeface="+mn-ea"/>
                <a:cs typeface="+mn-cs"/>
              </a:rPr>
              <a:t>In the </a:t>
            </a:r>
            <a:r>
              <a:rPr lang="en-US" sz="1200" b="1" i="0" kern="1200" dirty="0">
                <a:solidFill>
                  <a:schemeClr val="tx1"/>
                </a:solidFill>
                <a:effectLst/>
                <a:latin typeface="+mn-lt"/>
                <a:ea typeface="+mn-ea"/>
                <a:cs typeface="+mn-cs"/>
              </a:rPr>
              <a:t>Figure 7.b</a:t>
            </a:r>
            <a:r>
              <a:rPr lang="en-US" sz="1200" b="0" i="0" kern="1200" dirty="0">
                <a:solidFill>
                  <a:schemeClr val="tx1"/>
                </a:solidFill>
                <a:effectLst/>
                <a:latin typeface="+mn-lt"/>
                <a:ea typeface="+mn-ea"/>
                <a:cs typeface="+mn-cs"/>
              </a:rPr>
              <a:t> 3D ROM array is shown. Here, memory cells form memory levels 1 and 2 which are then stacked on top of each other. Within each memory level, address lines form a cross-point array and the memory cells are located at their intersections. If it has a low resistance, the memory cell represents '1'; otherwise it represents '0'. The bottom of the 3D-ROM die is known as substrate and it contains transistor circuits for reading/programming the memory cells. The first 3D-ROM product was a 3D-OTP (one-time-programmable) developed by Matrix Semiconductor. In 2005, Matrix released a 1Gb 3D-OTP at the 130nm node. Recently, In 2017, Intel released a 128Gb 3D-ROM at the 20-nanometer (nm) node. You can find many patents on 3D memory in the recent time.</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8</a:t>
            </a:fld>
            <a:endParaRPr lang="en-IN"/>
          </a:p>
        </p:txBody>
      </p:sp>
    </p:spTree>
    <p:extLst>
      <p:ext uri="{BB962C8B-B14F-4D97-AF65-F5344CB8AC3E}">
        <p14:creationId xmlns:p14="http://schemas.microsoft.com/office/powerpoint/2010/main" val="619504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9</a:t>
            </a:fld>
            <a:endParaRPr lang="en-IN"/>
          </a:p>
        </p:txBody>
      </p:sp>
    </p:spTree>
    <p:extLst>
      <p:ext uri="{BB962C8B-B14F-4D97-AF65-F5344CB8AC3E}">
        <p14:creationId xmlns:p14="http://schemas.microsoft.com/office/powerpoint/2010/main" val="3613038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block bridges between the memory array and the r/o interface circuit so that they can communicate with each other. It sends write data to a memory cell in the memory array under the control of the interface circuit, or sends read data from the memory cell to the interface circuit. A typical circuit here is a decoder, which is composed of many logic circuits. It selects a logic circuit corresponding to one row or one column, based on a logical set of </a:t>
            </a:r>
            <a:r>
              <a:rPr lang="en-US" sz="1200" b="0" i="1" u="none" strike="noStrike" kern="1200" baseline="0" dirty="0">
                <a:solidFill>
                  <a:schemeClr val="tx1"/>
                </a:solidFill>
                <a:latin typeface="+mn-lt"/>
                <a:ea typeface="+mn-ea"/>
                <a:cs typeface="+mn-cs"/>
              </a:rPr>
              <a:t>N </a:t>
            </a:r>
            <a:r>
              <a:rPr lang="en-US" sz="1200" b="0" i="0" u="none" strike="noStrike" kern="1200" baseline="0" dirty="0">
                <a:solidFill>
                  <a:schemeClr val="tx1"/>
                </a:solidFill>
                <a:latin typeface="+mn-lt"/>
                <a:ea typeface="+mn-ea"/>
                <a:cs typeface="+mn-cs"/>
              </a:rPr>
              <a:t>or M address signals from address buffers in the interface circuit. Then, a row or column is driven by a driver, which is connected to the output of the logic circuit. Here, an </a:t>
            </a:r>
            <a:r>
              <a:rPr lang="en-US" sz="1200" b="0" i="0" u="none" strike="noStrike" kern="1200" baseline="0" dirty="0" err="1">
                <a:solidFill>
                  <a:schemeClr val="tx1"/>
                </a:solidFill>
                <a:latin typeface="+mn-lt"/>
                <a:ea typeface="+mn-ea"/>
                <a:cs typeface="+mn-cs"/>
              </a:rPr>
              <a:t>i</a:t>
            </a:r>
            <a:r>
              <a:rPr lang="en-US" sz="1200" b="0" i="0" u="none" strike="noStrike" kern="1200" baseline="0" dirty="0">
                <a:solidFill>
                  <a:schemeClr val="tx1"/>
                </a:solidFill>
                <a:latin typeface="+mn-lt"/>
                <a:ea typeface="+mn-ea"/>
                <a:cs typeface="+mn-cs"/>
              </a:rPr>
              <a:t>/o control circuit in the figure controls the transfer of the write or read data in the memory array.</a:t>
            </a:r>
          </a:p>
          <a:p>
            <a:r>
              <a:rPr lang="en-US" sz="1200" b="0" i="0" u="none" strike="noStrike" kern="1200" baseline="0" dirty="0">
                <a:solidFill>
                  <a:schemeClr val="tx1"/>
                </a:solidFill>
                <a:latin typeface="+mn-lt"/>
                <a:ea typeface="+mn-ea"/>
                <a:cs typeface="+mn-cs"/>
              </a:rPr>
              <a:t>Sense amplifier </a:t>
            </a:r>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10</a:t>
            </a:fld>
            <a:endParaRPr lang="en-IN"/>
          </a:p>
        </p:txBody>
      </p:sp>
    </p:spTree>
    <p:extLst>
      <p:ext uri="{BB962C8B-B14F-4D97-AF65-F5344CB8AC3E}">
        <p14:creationId xmlns:p14="http://schemas.microsoft.com/office/powerpoint/2010/main" val="33447534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converts external signals, such as addresses, docks, control signals, and data inputs, to the corresponding internal signals that activate the peripheral circuit. </a:t>
            </a:r>
            <a:r>
              <a:rPr lang="en-US" sz="1200" b="1" i="0" u="none" strike="noStrike" kern="1200" baseline="0" dirty="0">
                <a:solidFill>
                  <a:schemeClr val="tx1"/>
                </a:solidFill>
                <a:latin typeface="+mn-lt"/>
                <a:ea typeface="+mn-ea"/>
                <a:cs typeface="+mn-cs"/>
              </a:rPr>
              <a:t>In </a:t>
            </a:r>
            <a:r>
              <a:rPr lang="en-US" sz="1200" b="0" i="0" u="none" strike="noStrike" kern="1200" baseline="0" dirty="0">
                <a:solidFill>
                  <a:schemeClr val="tx1"/>
                </a:solidFill>
                <a:latin typeface="+mn-lt"/>
                <a:ea typeface="+mn-ea"/>
                <a:cs typeface="+mn-cs"/>
              </a:rPr>
              <a:t>addition, it outputs read data from the array as the data output of the chip. Address buffers in the 1/0 interface circuit generate </a:t>
            </a:r>
            <a:r>
              <a:rPr lang="en-US" sz="1200" b="0" i="1" u="none" strike="noStrike" kern="1200" baseline="0" dirty="0">
                <a:solidFill>
                  <a:schemeClr val="tx1"/>
                </a:solidFill>
                <a:latin typeface="+mn-lt"/>
                <a:ea typeface="+mn-ea"/>
                <a:cs typeface="+mn-cs"/>
              </a:rPr>
              <a:t>N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M </a:t>
            </a:r>
            <a:r>
              <a:rPr lang="en-US" sz="1200" b="0" i="0" u="none" strike="noStrike" kern="1200" baseline="0" dirty="0">
                <a:solidFill>
                  <a:schemeClr val="tx1"/>
                </a:solidFill>
                <a:latin typeface="+mn-lt"/>
                <a:ea typeface="+mn-ea"/>
                <a:cs typeface="+mn-cs"/>
              </a:rPr>
              <a:t>sets of complementary row and column address signals </a:t>
            </a:r>
            <a:r>
              <a:rPr lang="en-IN" sz="1200" b="0" i="0" u="none" strike="noStrike" kern="1200" baseline="0" dirty="0">
                <a:solidFill>
                  <a:schemeClr val="tx1"/>
                </a:solidFill>
                <a:latin typeface="+mn-lt"/>
                <a:ea typeface="+mn-ea"/>
                <a:cs typeface="+mn-cs"/>
              </a:rPr>
              <a:t>respectively. </a:t>
            </a:r>
            <a:r>
              <a:rPr lang="en-US" sz="1200" b="0" i="0" u="none" strike="noStrike" kern="1200" baseline="0" dirty="0">
                <a:solidFill>
                  <a:schemeClr val="tx1"/>
                </a:solidFill>
                <a:latin typeface="+mn-lt"/>
                <a:ea typeface="+mn-ea"/>
                <a:cs typeface="+mn-cs"/>
              </a:rPr>
              <a:t>Data input and output buffers, a write control buffer, and control dock circuits are also typical components of the 1/0 interface circuit. Note that, in general, ROM does not need data </a:t>
            </a:r>
            <a:r>
              <a:rPr lang="en-IN" sz="1200" b="0" i="0" u="none" strike="noStrike" kern="1200" baseline="0" dirty="0">
                <a:solidFill>
                  <a:schemeClr val="tx1"/>
                </a:solidFill>
                <a:latin typeface="+mn-lt"/>
                <a:ea typeface="+mn-ea"/>
                <a:cs typeface="+mn-cs"/>
              </a:rPr>
              <a:t>input buffers.</a:t>
            </a:r>
          </a:p>
          <a:p>
            <a:endParaRPr lang="en-IN" sz="1200" b="0" i="0" u="none" strike="noStrike" kern="1200" baseline="0" dirty="0">
              <a:solidFill>
                <a:schemeClr val="tx1"/>
              </a:solidFill>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11</a:t>
            </a:fld>
            <a:endParaRPr lang="en-IN"/>
          </a:p>
        </p:txBody>
      </p:sp>
    </p:spTree>
    <p:extLst>
      <p:ext uri="{BB962C8B-B14F-4D97-AF65-F5344CB8AC3E}">
        <p14:creationId xmlns:p14="http://schemas.microsoft.com/office/powerpoint/2010/main" val="1448329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converts external signals, such as addresses, docks, control signals, and data inputs, to the corresponding internal signals that activate the peripheral circuit. </a:t>
            </a:r>
            <a:r>
              <a:rPr lang="en-US" sz="1200" b="1" i="0" u="none" strike="noStrike" kern="1200" baseline="0" dirty="0">
                <a:solidFill>
                  <a:schemeClr val="tx1"/>
                </a:solidFill>
                <a:latin typeface="+mn-lt"/>
                <a:ea typeface="+mn-ea"/>
                <a:cs typeface="+mn-cs"/>
              </a:rPr>
              <a:t>In </a:t>
            </a:r>
            <a:r>
              <a:rPr lang="en-US" sz="1200" b="0" i="0" u="none" strike="noStrike" kern="1200" baseline="0" dirty="0">
                <a:solidFill>
                  <a:schemeClr val="tx1"/>
                </a:solidFill>
                <a:latin typeface="+mn-lt"/>
                <a:ea typeface="+mn-ea"/>
                <a:cs typeface="+mn-cs"/>
              </a:rPr>
              <a:t>addition, it outputs read data from the array as the data output of the chip. Address buffers in the 1/0 interface circuit generate </a:t>
            </a:r>
            <a:r>
              <a:rPr lang="en-US" sz="1200" b="0" i="1" u="none" strike="noStrike" kern="1200" baseline="0" dirty="0">
                <a:solidFill>
                  <a:schemeClr val="tx1"/>
                </a:solidFill>
                <a:latin typeface="+mn-lt"/>
                <a:ea typeface="+mn-ea"/>
                <a:cs typeface="+mn-cs"/>
              </a:rPr>
              <a:t>N </a:t>
            </a:r>
            <a:r>
              <a:rPr lang="en-US" sz="1200" b="0" i="0" u="none" strike="noStrike" kern="1200" baseline="0" dirty="0">
                <a:solidFill>
                  <a:schemeClr val="tx1"/>
                </a:solidFill>
                <a:latin typeface="+mn-lt"/>
                <a:ea typeface="+mn-ea"/>
                <a:cs typeface="+mn-cs"/>
              </a:rPr>
              <a:t>and </a:t>
            </a:r>
            <a:r>
              <a:rPr lang="en-US" sz="1200" b="0" i="1" u="none" strike="noStrike" kern="1200" baseline="0" dirty="0">
                <a:solidFill>
                  <a:schemeClr val="tx1"/>
                </a:solidFill>
                <a:latin typeface="+mn-lt"/>
                <a:ea typeface="+mn-ea"/>
                <a:cs typeface="+mn-cs"/>
              </a:rPr>
              <a:t>M </a:t>
            </a:r>
            <a:r>
              <a:rPr lang="en-US" sz="1200" b="0" i="0" u="none" strike="noStrike" kern="1200" baseline="0" dirty="0">
                <a:solidFill>
                  <a:schemeClr val="tx1"/>
                </a:solidFill>
                <a:latin typeface="+mn-lt"/>
                <a:ea typeface="+mn-ea"/>
                <a:cs typeface="+mn-cs"/>
              </a:rPr>
              <a:t>sets of complementary row and column address signals </a:t>
            </a:r>
            <a:r>
              <a:rPr lang="en-IN" sz="1200" b="0" i="0" u="none" strike="noStrike" kern="1200" baseline="0" dirty="0">
                <a:solidFill>
                  <a:schemeClr val="tx1"/>
                </a:solidFill>
                <a:latin typeface="+mn-lt"/>
                <a:ea typeface="+mn-ea"/>
                <a:cs typeface="+mn-cs"/>
              </a:rPr>
              <a:t>respectively. </a:t>
            </a:r>
            <a:r>
              <a:rPr lang="en-US" sz="1200" b="0" i="0" u="none" strike="noStrike" kern="1200" baseline="0" dirty="0">
                <a:solidFill>
                  <a:schemeClr val="tx1"/>
                </a:solidFill>
                <a:latin typeface="+mn-lt"/>
                <a:ea typeface="+mn-ea"/>
                <a:cs typeface="+mn-cs"/>
              </a:rPr>
              <a:t>Data input and output buffers, a write control buffer, and control dock circuits are also typical components of the 1/0 interface circuit. Note that, in general, ROM does not need data </a:t>
            </a:r>
            <a:r>
              <a:rPr lang="en-IN" sz="1200" b="0" i="0" u="none" strike="noStrike" kern="1200" baseline="0" dirty="0">
                <a:solidFill>
                  <a:schemeClr val="tx1"/>
                </a:solidFill>
                <a:latin typeface="+mn-lt"/>
                <a:ea typeface="+mn-ea"/>
                <a:cs typeface="+mn-cs"/>
              </a:rPr>
              <a:t>input buffers.</a:t>
            </a:r>
          </a:p>
          <a:p>
            <a:endParaRPr lang="en-IN" sz="1200" b="0" i="0" u="none" strike="noStrike" kern="1200" baseline="0" dirty="0">
              <a:solidFill>
                <a:schemeClr val="tx1"/>
              </a:solidFill>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FCAF1C19-2E8E-40E1-B714-EEC44F16D428}" type="slidenum">
              <a:rPr lang="en-IN" smtClean="0"/>
              <a:t>12</a:t>
            </a:fld>
            <a:endParaRPr lang="en-IN"/>
          </a:p>
        </p:txBody>
      </p:sp>
    </p:spTree>
    <p:extLst>
      <p:ext uri="{BB962C8B-B14F-4D97-AF65-F5344CB8AC3E}">
        <p14:creationId xmlns:p14="http://schemas.microsoft.com/office/powerpoint/2010/main" val="2707507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EA1E-98C4-4A2E-AAC3-800E357DC9FE}"/>
              </a:ext>
            </a:extLst>
          </p:cNvPr>
          <p:cNvSpPr>
            <a:spLocks noGrp="1"/>
          </p:cNvSpPr>
          <p:nvPr>
            <p:ph type="ctrTitle"/>
          </p:nvPr>
        </p:nvSpPr>
        <p:spPr>
          <a:xfrm>
            <a:off x="1517904" y="1517904"/>
            <a:ext cx="9144000" cy="2798064"/>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A96B1FA-5AE6-4D57-B37B-4AA0216007F8}"/>
              </a:ext>
            </a:extLst>
          </p:cNvPr>
          <p:cNvSpPr>
            <a:spLocks noGrp="1"/>
          </p:cNvSpPr>
          <p:nvPr>
            <p:ph type="subTitle" idx="1"/>
          </p:nvPr>
        </p:nvSpPr>
        <p:spPr>
          <a:xfrm>
            <a:off x="1517904" y="4572000"/>
            <a:ext cx="9144000" cy="1527048"/>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Slide Number Placeholder 5">
            <a:extLst>
              <a:ext uri="{FF2B5EF4-FFF2-40B4-BE49-F238E27FC236}">
                <a16:creationId xmlns:a16="http://schemas.microsoft.com/office/drawing/2014/main" id="{C36EEE61-627A-4800-A6F9-DC76A128D2E1}"/>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11" name="Footer Placeholder 4">
            <a:extLst>
              <a:ext uri="{FF2B5EF4-FFF2-40B4-BE49-F238E27FC236}">
                <a16:creationId xmlns:a16="http://schemas.microsoft.com/office/drawing/2014/main" id="{C4B2833B-6EF5-488C-A525-493F57EE5487}"/>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951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5BB2-C09C-49B0-BAFA-DE1801CD3E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A47C21-944D-47FE-9519-A2551883711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6905C53-CF7C-4936-9E35-1BEBD683626E}"/>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EA4A601F-F1CA-49DD-89C0-A7A6C9092D7E}"/>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690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46C78-A717-4E1F-A742-FD5AECA03B4B}"/>
              </a:ext>
            </a:extLst>
          </p:cNvPr>
          <p:cNvSpPr>
            <a:spLocks noGrp="1"/>
          </p:cNvSpPr>
          <p:nvPr>
            <p:ph type="title"/>
          </p:nvPr>
        </p:nvSpPr>
        <p:spPr>
          <a:xfrm>
            <a:off x="1517904" y="1517904"/>
            <a:ext cx="91440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DA1270D-CCAE-4437-A0C0-052D111DFC80}"/>
              </a:ext>
            </a:extLst>
          </p:cNvPr>
          <p:cNvSpPr>
            <a:spLocks noGrp="1"/>
          </p:cNvSpPr>
          <p:nvPr>
            <p:ph type="body" idx="1"/>
          </p:nvPr>
        </p:nvSpPr>
        <p:spPr>
          <a:xfrm>
            <a:off x="1517904" y="4572000"/>
            <a:ext cx="91440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73776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46AA-9418-4C3E-901B-8E2806122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997482-2CA6-4707-976E-6FD4B57BFE66}"/>
              </a:ext>
            </a:extLst>
          </p:cNvPr>
          <p:cNvSpPr>
            <a:spLocks noGrp="1"/>
          </p:cNvSpPr>
          <p:nvPr>
            <p:ph sz="half" idx="1"/>
          </p:nvPr>
        </p:nvSpPr>
        <p:spPr>
          <a:xfrm>
            <a:off x="1517904"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909652-DD12-479C-B639-9452CBA8C019}"/>
              </a:ext>
            </a:extLst>
          </p:cNvPr>
          <p:cNvSpPr>
            <a:spLocks noGrp="1"/>
          </p:cNvSpPr>
          <p:nvPr>
            <p:ph sz="half" idx="2"/>
          </p:nvPr>
        </p:nvSpPr>
        <p:spPr>
          <a:xfrm>
            <a:off x="6336792" y="2980944"/>
            <a:ext cx="4334256" cy="3118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EC7A6-AFB1-4989-A0B4-B422D5B2C69C}"/>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8D2117C-B497-4647-A66B-1887750FB538}"/>
              </a:ext>
            </a:extLst>
          </p:cNvPr>
          <p:cNvSpPr>
            <a:spLocks noGrp="1"/>
          </p:cNvSpPr>
          <p:nvPr>
            <p:ph type="ftr" sz="quarter" idx="11"/>
          </p:nvPr>
        </p:nvSpPr>
        <p:spPr/>
        <p:txBody>
          <a:bodyPr/>
          <a:lstStyle/>
          <a:p>
            <a:r>
              <a:rPr lang="en-US"/>
              <a:t>Rajneesh Sharma                                                         Memory Design and Testing (PVL331)</a:t>
            </a:r>
            <a:endParaRPr lang="en-US" dirty="0"/>
          </a:p>
        </p:txBody>
      </p:sp>
      <p:sp>
        <p:nvSpPr>
          <p:cNvPr id="7" name="Slide Number Placeholder 6">
            <a:extLst>
              <a:ext uri="{FF2B5EF4-FFF2-40B4-BE49-F238E27FC236}">
                <a16:creationId xmlns:a16="http://schemas.microsoft.com/office/drawing/2014/main" id="{79E8C7AF-5092-416B-B61C-F41D3C573E0C}"/>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4087415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90CDE0-3FEB-42A0-8BCC-7DADE7D4A621}"/>
              </a:ext>
            </a:extLst>
          </p:cNvPr>
          <p:cNvSpPr>
            <a:spLocks noGrp="1"/>
          </p:cNvSpPr>
          <p:nvPr>
            <p:ph type="body" idx="1"/>
          </p:nvPr>
        </p:nvSpPr>
        <p:spPr>
          <a:xfrm>
            <a:off x="1517905"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778B8B-E9A3-44BE-85A6-3E316659A9B4}"/>
              </a:ext>
            </a:extLst>
          </p:cNvPr>
          <p:cNvSpPr>
            <a:spLocks noGrp="1"/>
          </p:cNvSpPr>
          <p:nvPr>
            <p:ph sz="half" idx="2"/>
          </p:nvPr>
        </p:nvSpPr>
        <p:spPr>
          <a:xfrm>
            <a:off x="1517904"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0BF1BCA-A435-4779-A6FE-15207141F519}"/>
              </a:ext>
            </a:extLst>
          </p:cNvPr>
          <p:cNvSpPr>
            <a:spLocks noGrp="1"/>
          </p:cNvSpPr>
          <p:nvPr>
            <p:ph type="body" sz="quarter" idx="3"/>
          </p:nvPr>
        </p:nvSpPr>
        <p:spPr>
          <a:xfrm>
            <a:off x="6336792" y="2944368"/>
            <a:ext cx="4334256" cy="606026"/>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9B1923-9749-49E3-88FA-75C326E6719A}"/>
              </a:ext>
            </a:extLst>
          </p:cNvPr>
          <p:cNvSpPr>
            <a:spLocks noGrp="1"/>
          </p:cNvSpPr>
          <p:nvPr>
            <p:ph sz="quarter" idx="4"/>
          </p:nvPr>
        </p:nvSpPr>
        <p:spPr>
          <a:xfrm>
            <a:off x="6336792" y="3644987"/>
            <a:ext cx="4334256" cy="2449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F3A70F0-5AFA-4C5A-812B-220C6A38DB6B}"/>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76AF721-83FE-4B57-B910-C395D23FDE31}"/>
              </a:ext>
            </a:extLst>
          </p:cNvPr>
          <p:cNvSpPr>
            <a:spLocks noGrp="1"/>
          </p:cNvSpPr>
          <p:nvPr>
            <p:ph type="ftr" sz="quarter" idx="11"/>
          </p:nvPr>
        </p:nvSpPr>
        <p:spPr/>
        <p:txBody>
          <a:bodyPr/>
          <a:lstStyle/>
          <a:p>
            <a:r>
              <a:rPr lang="en-US"/>
              <a:t>Rajneesh Sharma                                                         Memory Design and Testing (PVL331)</a:t>
            </a:r>
          </a:p>
        </p:txBody>
      </p:sp>
      <p:sp>
        <p:nvSpPr>
          <p:cNvPr id="9" name="Slide Number Placeholder 8">
            <a:extLst>
              <a:ext uri="{FF2B5EF4-FFF2-40B4-BE49-F238E27FC236}">
                <a16:creationId xmlns:a16="http://schemas.microsoft.com/office/drawing/2014/main" id="{556A5893-52F1-44A1-AE8E-CF094DB41CFA}"/>
              </a:ext>
            </a:extLst>
          </p:cNvPr>
          <p:cNvSpPr>
            <a:spLocks noGrp="1"/>
          </p:cNvSpPr>
          <p:nvPr>
            <p:ph type="sldNum" sz="quarter" idx="12"/>
          </p:nvPr>
        </p:nvSpPr>
        <p:spPr/>
        <p:txBody>
          <a:bodyPr/>
          <a:lstStyle/>
          <a:p>
            <a:fld id="{CB1E4CB7-CB13-4810-BF18-BE31AFC64F93}" type="slidenum">
              <a:rPr lang="en-US" smtClean="0"/>
              <a:t>‹#›</a:t>
            </a:fld>
            <a:endParaRPr lang="en-US"/>
          </a:p>
        </p:txBody>
      </p:sp>
      <p:sp>
        <p:nvSpPr>
          <p:cNvPr id="10" name="Title 9">
            <a:extLst>
              <a:ext uri="{FF2B5EF4-FFF2-40B4-BE49-F238E27FC236}">
                <a16:creationId xmlns:a16="http://schemas.microsoft.com/office/drawing/2014/main" id="{D9D22302-83E3-4E22-93DF-1E5D463B64C3}"/>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7394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85A6-A4E6-4160-BE43-8146A9894647}"/>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0950BEA6-5E96-4AE9-8D7C-767B14698110}"/>
              </a:ext>
            </a:extLst>
          </p:cNvPr>
          <p:cNvSpPr>
            <a:spLocks noGrp="1"/>
          </p:cNvSpPr>
          <p:nvPr>
            <p:ph type="sldNum" sz="quarter" idx="12"/>
          </p:nvPr>
        </p:nvSpPr>
        <p:spPr>
          <a:xfrm>
            <a:off x="10899648" y="6400800"/>
            <a:ext cx="530352" cy="365125"/>
          </a:xfrm>
        </p:spPr>
        <p:txBody>
          <a:bodyPr/>
          <a:lstStyle/>
          <a:p>
            <a:fld id="{CB1E4CB7-CB13-4810-BF18-BE31AFC64F93}" type="slidenum">
              <a:rPr lang="en-US" smtClean="0"/>
              <a:t>‹#›</a:t>
            </a:fld>
            <a:endParaRPr lang="en-US"/>
          </a:p>
        </p:txBody>
      </p:sp>
      <p:sp>
        <p:nvSpPr>
          <p:cNvPr id="7" name="Footer Placeholder 4">
            <a:extLst>
              <a:ext uri="{FF2B5EF4-FFF2-40B4-BE49-F238E27FC236}">
                <a16:creationId xmlns:a16="http://schemas.microsoft.com/office/drawing/2014/main" id="{7F4CD5B1-D7F0-46EF-A288-E45E176AF265}"/>
              </a:ext>
            </a:extLst>
          </p:cNvPr>
          <p:cNvSpPr>
            <a:spLocks noGrp="1"/>
          </p:cNvSpPr>
          <p:nvPr>
            <p:ph type="ftr" sz="quarter" idx="11"/>
          </p:nvPr>
        </p:nvSpPr>
        <p:spPr>
          <a:xfrm>
            <a:off x="758951" y="6400800"/>
            <a:ext cx="10140697" cy="457200"/>
          </a:xfrm>
        </p:spPr>
        <p:txBody>
          <a:bodyPr/>
          <a:lstStyle/>
          <a:p>
            <a:r>
              <a:rPr lang="en-US" sz="1200" b="1">
                <a:latin typeface="Arial" panose="020B0604020202020204" pitchFamily="34" charset="0"/>
                <a:cs typeface="Arial" panose="020B0604020202020204" pitchFamily="34" charset="0"/>
              </a:rPr>
              <a:t>Rajneesh Sharma                                                         Memory Design and Testing (PVL331)</a:t>
            </a:r>
            <a:endParaRPr lang="en-US" sz="1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98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62271-51F6-4122-9709-D279042F884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52CFE08-03FE-487B-8963-9FAD3049CFFA}"/>
              </a:ext>
            </a:extLst>
          </p:cNvPr>
          <p:cNvSpPr>
            <a:spLocks noGrp="1"/>
          </p:cNvSpPr>
          <p:nvPr>
            <p:ph type="ftr" sz="quarter" idx="11"/>
          </p:nvPr>
        </p:nvSpPr>
        <p:spPr/>
        <p:txBody>
          <a:bodyPr/>
          <a:lstStyle/>
          <a:p>
            <a:r>
              <a:rPr lang="en-US"/>
              <a:t>Rajneesh Sharma                                                         Memory Design and Testing (PVL331)</a:t>
            </a:r>
          </a:p>
        </p:txBody>
      </p:sp>
      <p:sp>
        <p:nvSpPr>
          <p:cNvPr id="4" name="Slide Number Placeholder 3">
            <a:extLst>
              <a:ext uri="{FF2B5EF4-FFF2-40B4-BE49-F238E27FC236}">
                <a16:creationId xmlns:a16="http://schemas.microsoft.com/office/drawing/2014/main" id="{CA935A50-18AE-4CB1-BB10-1CBDD8A7C2C4}"/>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474316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F683-796D-458C-9B32-A385D604DBFC}"/>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FB1F0BD-641B-4148-BCB3-2704218C80B8}"/>
              </a:ext>
            </a:extLst>
          </p:cNvPr>
          <p:cNvSpPr>
            <a:spLocks noGrp="1"/>
          </p:cNvSpPr>
          <p:nvPr>
            <p:ph idx="1"/>
          </p:nvPr>
        </p:nvSpPr>
        <p:spPr>
          <a:xfrm>
            <a:off x="5330952" y="1517904"/>
            <a:ext cx="5330952" cy="45811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B28C843-B846-4456-9720-71B7D4FF4062}"/>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A3A03-31BD-4E7E-879A-A1C71849703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EA39078-7D38-4851-A363-B6BC179A50EE}"/>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4E1FF25E-A25D-47AA-94EB-580A74F01F1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68286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83B4-9B31-4F73-9767-163636522F3A}"/>
              </a:ext>
            </a:extLst>
          </p:cNvPr>
          <p:cNvSpPr>
            <a:spLocks noGrp="1"/>
          </p:cNvSpPr>
          <p:nvPr>
            <p:ph type="title"/>
          </p:nvPr>
        </p:nvSpPr>
        <p:spPr>
          <a:xfrm>
            <a:off x="1517904" y="1517904"/>
            <a:ext cx="3145536" cy="1792224"/>
          </a:xfrm>
        </p:spPr>
        <p:txBody>
          <a:bodyPr anchor="b">
            <a:normAutofit/>
          </a:bodyPr>
          <a:lstStyle>
            <a:lvl1pPr>
              <a:lnSpc>
                <a:spcPct val="100000"/>
              </a:lnSpc>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BC7CFC30-8163-47A0-A97F-3F2C3A3BE73A}"/>
              </a:ext>
            </a:extLst>
          </p:cNvPr>
          <p:cNvSpPr>
            <a:spLocks noGrp="1"/>
          </p:cNvSpPr>
          <p:nvPr>
            <p:ph type="pic" idx="1"/>
          </p:nvPr>
        </p:nvSpPr>
        <p:spPr>
          <a:xfrm>
            <a:off x="5349240" y="764032"/>
            <a:ext cx="6089904" cy="5330952"/>
          </a:xfrm>
          <a:solidFill>
            <a:schemeClr val="bg1">
              <a:lumMod val="9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AF1B390-0C23-466E-987C-26420A5F098D}"/>
              </a:ext>
            </a:extLst>
          </p:cNvPr>
          <p:cNvSpPr>
            <a:spLocks noGrp="1"/>
          </p:cNvSpPr>
          <p:nvPr>
            <p:ph type="body" sz="half" idx="2"/>
          </p:nvPr>
        </p:nvSpPr>
        <p:spPr>
          <a:xfrm>
            <a:off x="1517904" y="3483864"/>
            <a:ext cx="3145536" cy="2615184"/>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C9CA7C-B9D0-4A72-8061-1E02AA15FE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EFC84-C9FE-4BFA-9B4E-4516A1362550}"/>
              </a:ext>
            </a:extLst>
          </p:cNvPr>
          <p:cNvSpPr>
            <a:spLocks noGrp="1"/>
          </p:cNvSpPr>
          <p:nvPr>
            <p:ph type="ftr" sz="quarter" idx="11"/>
          </p:nvPr>
        </p:nvSpPr>
        <p:spPr/>
        <p:txBody>
          <a:bodyPr/>
          <a:lstStyle/>
          <a:p>
            <a:r>
              <a:rPr lang="en-US"/>
              <a:t>Rajneesh Sharma                                                         Memory Design and Testing (PVL331)</a:t>
            </a:r>
          </a:p>
        </p:txBody>
      </p:sp>
      <p:sp>
        <p:nvSpPr>
          <p:cNvPr id="7" name="Slide Number Placeholder 6">
            <a:extLst>
              <a:ext uri="{FF2B5EF4-FFF2-40B4-BE49-F238E27FC236}">
                <a16:creationId xmlns:a16="http://schemas.microsoft.com/office/drawing/2014/main" id="{C801A469-3EFC-4F94-8482-378582E1C14F}"/>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250510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F9454-6F74-46A8-B299-4AF451BFB928}"/>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6F55CA9-A0BD-4609-9307-BAF987B262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25E4293-851E-4FA2-BFF2-B646A42369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9A907F5-F26D-4A91-8D70-AB54F8B43D3F}"/>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778ACBD8-D942-449E-A2B8-358CD1365C0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022952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A50897-0C2E-420B-9A38-A8D5C1D72786}"/>
              </a:ext>
            </a:extLst>
          </p:cNvPr>
          <p:cNvSpPr>
            <a:spLocks noGrp="1"/>
          </p:cNvSpPr>
          <p:nvPr>
            <p:ph type="title" orient="vert"/>
          </p:nvPr>
        </p:nvSpPr>
        <p:spPr>
          <a:xfrm>
            <a:off x="8450317" y="1517904"/>
            <a:ext cx="2220731" cy="454678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EDB2173-32A5-4677-A08F-DAB8FD430D1A}"/>
              </a:ext>
            </a:extLst>
          </p:cNvPr>
          <p:cNvSpPr>
            <a:spLocks noGrp="1"/>
          </p:cNvSpPr>
          <p:nvPr>
            <p:ph type="body" orient="vert" idx="1"/>
          </p:nvPr>
        </p:nvSpPr>
        <p:spPr>
          <a:xfrm>
            <a:off x="1517904" y="1517904"/>
            <a:ext cx="6562553" cy="45467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DB124D-B801-4A6A-9DAF-EBC1B98FE4F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DAF8DF-2544-45A5-B62B-BB7948FCCA45}"/>
              </a:ext>
            </a:extLst>
          </p:cNvPr>
          <p:cNvSpPr>
            <a:spLocks noGrp="1"/>
          </p:cNvSpPr>
          <p:nvPr>
            <p:ph type="ftr" sz="quarter" idx="11"/>
          </p:nvPr>
        </p:nvSpPr>
        <p:spPr/>
        <p:txBody>
          <a:bodyPr/>
          <a:lstStyle/>
          <a:p>
            <a:r>
              <a:rPr lang="en-US"/>
              <a:t>Rajneesh Sharma                                                         Memory Design and Testing (PVL331)</a:t>
            </a:r>
          </a:p>
        </p:txBody>
      </p:sp>
      <p:sp>
        <p:nvSpPr>
          <p:cNvPr id="6" name="Slide Number Placeholder 5">
            <a:extLst>
              <a:ext uri="{FF2B5EF4-FFF2-40B4-BE49-F238E27FC236}">
                <a16:creationId xmlns:a16="http://schemas.microsoft.com/office/drawing/2014/main" id="{04AC232D-131E-4BE6-8E2E-BAF5A30846D6}"/>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63810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B1D84C-7934-4E5B-B6E4-A1D6EC299551}"/>
              </a:ext>
            </a:extLst>
          </p:cNvPr>
          <p:cNvSpPr>
            <a:spLocks noGrp="1"/>
          </p:cNvSpPr>
          <p:nvPr>
            <p:ph type="title"/>
          </p:nvPr>
        </p:nvSpPr>
        <p:spPr>
          <a:xfrm>
            <a:off x="1517904" y="1517904"/>
            <a:ext cx="9144000" cy="13441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F6A990F-40AC-447A-964A-840C94A6471A}"/>
              </a:ext>
            </a:extLst>
          </p:cNvPr>
          <p:cNvSpPr>
            <a:spLocks noGrp="1"/>
          </p:cNvSpPr>
          <p:nvPr>
            <p:ph type="body" idx="1"/>
          </p:nvPr>
        </p:nvSpPr>
        <p:spPr>
          <a:xfrm>
            <a:off x="1517904" y="2971800"/>
            <a:ext cx="9144000" cy="31272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7D832A1-FFBA-48B6-B2D0-E5414F12838B}"/>
              </a:ext>
            </a:extLst>
          </p:cNvPr>
          <p:cNvSpPr>
            <a:spLocks noGrp="1"/>
          </p:cNvSpPr>
          <p:nvPr>
            <p:ph type="dt" sz="half" idx="2"/>
          </p:nvPr>
        </p:nvSpPr>
        <p:spPr>
          <a:xfrm>
            <a:off x="8805672" y="6400800"/>
            <a:ext cx="1865376" cy="365125"/>
          </a:xfrm>
          <a:prstGeom prst="rect">
            <a:avLst/>
          </a:prstGeom>
        </p:spPr>
        <p:txBody>
          <a:bodyPr vert="horz" lIns="91440" tIns="45720" rIns="91440" bIns="45720" rtlCol="0" anchor="ctr"/>
          <a:lstStyle>
            <a:lvl1pPr algn="r">
              <a:defRPr sz="1000">
                <a:solidFill>
                  <a:schemeClr val="tx1"/>
                </a:solidFill>
              </a:defRPr>
            </a:lvl1pPr>
          </a:lstStyle>
          <a:p>
            <a:pPr algn="r"/>
            <a:endParaRPr lang="en-US" dirty="0"/>
          </a:p>
        </p:txBody>
      </p:sp>
      <p:sp>
        <p:nvSpPr>
          <p:cNvPr id="5" name="Footer Placeholder 4">
            <a:extLst>
              <a:ext uri="{FF2B5EF4-FFF2-40B4-BE49-F238E27FC236}">
                <a16:creationId xmlns:a16="http://schemas.microsoft.com/office/drawing/2014/main" id="{0F933EC1-4EE2-4453-841C-CFDFE708948E}"/>
              </a:ext>
            </a:extLst>
          </p:cNvPr>
          <p:cNvSpPr>
            <a:spLocks noGrp="1"/>
          </p:cNvSpPr>
          <p:nvPr>
            <p:ph type="ftr" sz="quarter" idx="3"/>
          </p:nvPr>
        </p:nvSpPr>
        <p:spPr>
          <a:xfrm>
            <a:off x="758952" y="6400800"/>
            <a:ext cx="6099048" cy="365125"/>
          </a:xfrm>
          <a:prstGeom prst="rect">
            <a:avLst/>
          </a:prstGeom>
        </p:spPr>
        <p:txBody>
          <a:bodyPr vert="horz" lIns="91440" tIns="45720" rIns="91440" bIns="45720" rtlCol="0" anchor="ctr"/>
          <a:lstStyle>
            <a:lvl1pPr algn="l">
              <a:defRPr sz="1000">
                <a:solidFill>
                  <a:schemeClr val="tx1"/>
                </a:solidFill>
              </a:defRPr>
            </a:lvl1pPr>
          </a:lstStyle>
          <a:p>
            <a:r>
              <a:rPr lang="en-US" sz="1000"/>
              <a:t>Rajneesh Sharma                                                         Memory Design and Testing (PVL331)</a:t>
            </a:r>
            <a:endParaRPr lang="en-US" sz="1000" dirty="0"/>
          </a:p>
        </p:txBody>
      </p:sp>
      <p:sp>
        <p:nvSpPr>
          <p:cNvPr id="6" name="Slide Number Placeholder 5">
            <a:extLst>
              <a:ext uri="{FF2B5EF4-FFF2-40B4-BE49-F238E27FC236}">
                <a16:creationId xmlns:a16="http://schemas.microsoft.com/office/drawing/2014/main" id="{C3CEBA78-E732-44EF-BA0B-FC42F7931311}"/>
              </a:ext>
            </a:extLst>
          </p:cNvPr>
          <p:cNvSpPr>
            <a:spLocks noGrp="1"/>
          </p:cNvSpPr>
          <p:nvPr>
            <p:ph type="sldNum" sz="quarter" idx="4"/>
          </p:nvPr>
        </p:nvSpPr>
        <p:spPr>
          <a:xfrm>
            <a:off x="10899648" y="6400800"/>
            <a:ext cx="530352" cy="365125"/>
          </a:xfrm>
          <a:prstGeom prst="rect">
            <a:avLst/>
          </a:prstGeom>
        </p:spPr>
        <p:txBody>
          <a:bodyPr vert="horz" lIns="91440" tIns="45720" rIns="91440" bIns="45720" rtlCol="0" anchor="ctr"/>
          <a:lstStyle>
            <a:lvl1pPr algn="r">
              <a:defRPr sz="1000" b="1">
                <a:solidFill>
                  <a:schemeClr val="tx1"/>
                </a:solidFill>
              </a:defRPr>
            </a:lvl1pPr>
          </a:lstStyle>
          <a:p>
            <a:fld id="{CB1E4CB7-CB13-4810-BF18-BE31AFC64F93}" type="slidenum">
              <a:rPr lang="en-US" smtClean="0"/>
              <a:pPr/>
              <a:t>‹#›</a:t>
            </a:fld>
            <a:endParaRPr lang="en-US" sz="1000" dirty="0"/>
          </a:p>
        </p:txBody>
      </p:sp>
      <p:sp>
        <p:nvSpPr>
          <p:cNvPr id="8" name="Freeform: Shape 7">
            <a:extLst>
              <a:ext uri="{FF2B5EF4-FFF2-40B4-BE49-F238E27FC236}">
                <a16:creationId xmlns:a16="http://schemas.microsoft.com/office/drawing/2014/main" id="{49306479-8C4D-4E4A-A330-DFC80A8A01BE}"/>
              </a:ext>
            </a:extLst>
          </p:cNvPr>
          <p:cNvSpPr/>
          <p:nvPr/>
        </p:nvSpPr>
        <p:spPr>
          <a:xfrm>
            <a:off x="0" y="0"/>
            <a:ext cx="12192000" cy="6105524"/>
          </a:xfrm>
          <a:custGeom>
            <a:avLst/>
            <a:gdLst>
              <a:gd name="connsiteX0" fmla="*/ 0 w 12192000"/>
              <a:gd name="connsiteY0" fmla="*/ 0 h 6105524"/>
              <a:gd name="connsiteX1" fmla="*/ 12192000 w 12192000"/>
              <a:gd name="connsiteY1" fmla="*/ 0 h 6105524"/>
              <a:gd name="connsiteX2" fmla="*/ 12192000 w 12192000"/>
              <a:gd name="connsiteY2" fmla="*/ 6105524 h 6105524"/>
              <a:gd name="connsiteX3" fmla="*/ 11435080 w 12192000"/>
              <a:gd name="connsiteY3" fmla="*/ 6105524 h 6105524"/>
              <a:gd name="connsiteX4" fmla="*/ 11435080 w 12192000"/>
              <a:gd name="connsiteY4" fmla="*/ 771523 h 6105524"/>
              <a:gd name="connsiteX5" fmla="*/ 767080 w 12192000"/>
              <a:gd name="connsiteY5" fmla="*/ 771523 h 6105524"/>
              <a:gd name="connsiteX6" fmla="*/ 767080 w 12192000"/>
              <a:gd name="connsiteY6" fmla="*/ 6105524 h 6105524"/>
              <a:gd name="connsiteX7" fmla="*/ 0 w 12192000"/>
              <a:gd name="connsiteY7" fmla="*/ 6105524 h 61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105524">
                <a:moveTo>
                  <a:pt x="0" y="0"/>
                </a:moveTo>
                <a:lnTo>
                  <a:pt x="12192000" y="0"/>
                </a:lnTo>
                <a:lnTo>
                  <a:pt x="12192000" y="6105524"/>
                </a:lnTo>
                <a:lnTo>
                  <a:pt x="11435080" y="6105524"/>
                </a:lnTo>
                <a:lnTo>
                  <a:pt x="11435080" y="771523"/>
                </a:lnTo>
                <a:lnTo>
                  <a:pt x="767080" y="771523"/>
                </a:lnTo>
                <a:lnTo>
                  <a:pt x="767080" y="6105524"/>
                </a:lnTo>
                <a:lnTo>
                  <a:pt x="0" y="6105524"/>
                </a:lnTo>
                <a:close/>
              </a:path>
            </a:pathLst>
          </a:cu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5205217"/>
      </p:ext>
    </p:extLst>
  </p:cSld>
  <p:clrMap bg1="lt1" tx1="dk1" bg2="lt2" tx2="dk2" accent1="accent1" accent2="accent2" accent3="accent3" accent4="accent4" accent5="accent5" accent6="accent6" hlink="hlink" folHlink="folHlink"/>
  <p:sldLayoutIdLst>
    <p:sldLayoutId id="2147483814" r:id="rId1"/>
    <p:sldLayoutId id="2147483813" r:id="rId2"/>
    <p:sldLayoutId id="214748381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hf hdr="0" ftr="0" dt="0"/>
  <p:txStyles>
    <p:title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p:titleStyle>
    <p:bodyStyle>
      <a:lvl1pPr marL="365760" indent="-365760" algn="l" defTabSz="914400" rtl="0" eaLnBrk="1" latinLnBrk="0" hangingPunct="1">
        <a:lnSpc>
          <a:spcPct val="105000"/>
        </a:lnSpc>
        <a:spcBef>
          <a:spcPts val="900"/>
        </a:spcBef>
        <a:buClr>
          <a:schemeClr val="accent5"/>
        </a:buClr>
        <a:buFont typeface="Avenir Next LT Pro" panose="020B0504020202020204" pitchFamily="34" charset="0"/>
        <a:buChar char="+"/>
        <a:defRPr sz="2600" kern="1200">
          <a:solidFill>
            <a:schemeClr val="tx1"/>
          </a:solidFill>
          <a:latin typeface="+mn-lt"/>
          <a:ea typeface="+mn-ea"/>
          <a:cs typeface="+mn-cs"/>
        </a:defRPr>
      </a:lvl1pPr>
      <a:lvl2pPr marL="365760" indent="0" algn="l" defTabSz="914400" rtl="0" eaLnBrk="1" latinLnBrk="0" hangingPunct="1">
        <a:lnSpc>
          <a:spcPct val="105000"/>
        </a:lnSpc>
        <a:spcBef>
          <a:spcPts val="9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640080"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2000" kern="1200">
          <a:solidFill>
            <a:schemeClr val="tx1"/>
          </a:solidFill>
          <a:latin typeface="+mn-lt"/>
          <a:ea typeface="+mn-ea"/>
          <a:cs typeface="+mn-cs"/>
        </a:defRPr>
      </a:lvl3pPr>
      <a:lvl4pPr marL="640080" indent="0" algn="l" defTabSz="914400" rtl="0" eaLnBrk="1" latinLnBrk="0" hangingPunct="1">
        <a:lnSpc>
          <a:spcPct val="105000"/>
        </a:lnSpc>
        <a:spcBef>
          <a:spcPts val="600"/>
        </a:spcBef>
        <a:buFontTx/>
        <a:buNone/>
        <a:defRPr sz="1800" i="1" kern="1200">
          <a:solidFill>
            <a:schemeClr val="tx1">
              <a:lumMod val="75000"/>
              <a:lumOff val="25000"/>
            </a:schemeClr>
          </a:solidFill>
          <a:latin typeface="+mn-lt"/>
          <a:ea typeface="+mn-ea"/>
          <a:cs typeface="+mn-cs"/>
        </a:defRPr>
      </a:lvl4pPr>
      <a:lvl5pPr marL="886968" indent="-274320" algn="l" defTabSz="914400" rtl="0" eaLnBrk="1" latinLnBrk="0" hangingPunct="1">
        <a:lnSpc>
          <a:spcPct val="105000"/>
        </a:lnSpc>
        <a:spcBef>
          <a:spcPts val="600"/>
        </a:spcBef>
        <a:buClr>
          <a:schemeClr val="accent5"/>
        </a:buClr>
        <a:buFont typeface="Avenir Next LT Pro" panose="020B05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customXml" Target="../ink/ink1.xml"/><Relationship Id="rId5" Type="http://schemas.openxmlformats.org/officeDocument/2006/relationships/image" Target="../media/image2.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customXml" Target="../ink/ink5.xml"/><Relationship Id="rId18" Type="http://schemas.openxmlformats.org/officeDocument/2006/relationships/image" Target="../media/image15.png"/><Relationship Id="rId3" Type="http://schemas.openxmlformats.org/officeDocument/2006/relationships/customXml" Target="../ink/ink2.xml"/><Relationship Id="rId7" Type="http://schemas.openxmlformats.org/officeDocument/2006/relationships/image" Target="../media/image10.png"/><Relationship Id="rId12" Type="http://schemas.openxmlformats.org/officeDocument/2006/relationships/image" Target="../media/image12.png"/><Relationship Id="rId17" Type="http://schemas.openxmlformats.org/officeDocument/2006/relationships/customXml" Target="../ink/ink7.xml"/><Relationship Id="rId2" Type="http://schemas.openxmlformats.org/officeDocument/2006/relationships/notesSlide" Target="../notesSlides/notesSlide12.xml"/><Relationship Id="rId16" Type="http://schemas.openxmlformats.org/officeDocument/2006/relationships/image" Target="../media/image14.png"/><Relationship Id="rId1" Type="http://schemas.openxmlformats.org/officeDocument/2006/relationships/slideLayout" Target="../slideLayouts/slideLayout2.xml"/><Relationship Id="rId11" Type="http://schemas.openxmlformats.org/officeDocument/2006/relationships/customXml" Target="../ink/ink4.xml"/><Relationship Id="rId15" Type="http://schemas.openxmlformats.org/officeDocument/2006/relationships/customXml" Target="../ink/ink6.xml"/><Relationship Id="rId10" Type="http://schemas.openxmlformats.org/officeDocument/2006/relationships/image" Target="../media/image11.png"/><Relationship Id="rId9" Type="http://schemas.openxmlformats.org/officeDocument/2006/relationships/customXml" Target="../ink/ink3.xml"/><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45BA4C-9B54-4496-821F-9E0985CA9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734260-EF36-4EEA-8A9E-0C9A537523A8}"/>
              </a:ext>
            </a:extLst>
          </p:cNvPr>
          <p:cNvSpPr>
            <a:spLocks noGrp="1"/>
          </p:cNvSpPr>
          <p:nvPr>
            <p:ph type="ctrTitle"/>
          </p:nvPr>
        </p:nvSpPr>
        <p:spPr>
          <a:xfrm>
            <a:off x="762000" y="743804"/>
            <a:ext cx="4102609" cy="3793482"/>
          </a:xfrm>
        </p:spPr>
        <p:txBody>
          <a:bodyPr anchor="ctr">
            <a:normAutofit/>
          </a:bodyPr>
          <a:lstStyle/>
          <a:p>
            <a:pPr algn="l"/>
            <a:r>
              <a:rPr lang="en-IN" sz="5600"/>
              <a:t>Memory Design and Testing </a:t>
            </a:r>
            <a:br>
              <a:rPr lang="en-IN" sz="5600"/>
            </a:br>
            <a:r>
              <a:rPr lang="en-IN" sz="5600"/>
              <a:t>(PVL 331)</a:t>
            </a:r>
          </a:p>
        </p:txBody>
      </p:sp>
      <p:sp>
        <p:nvSpPr>
          <p:cNvPr id="3" name="Subtitle 2">
            <a:extLst>
              <a:ext uri="{FF2B5EF4-FFF2-40B4-BE49-F238E27FC236}">
                <a16:creationId xmlns:a16="http://schemas.microsoft.com/office/drawing/2014/main" id="{A50A5E8A-BE21-478D-9022-4FEA944E5502}"/>
              </a:ext>
            </a:extLst>
          </p:cNvPr>
          <p:cNvSpPr>
            <a:spLocks noGrp="1"/>
          </p:cNvSpPr>
          <p:nvPr>
            <p:ph type="subTitle" idx="1"/>
          </p:nvPr>
        </p:nvSpPr>
        <p:spPr>
          <a:xfrm>
            <a:off x="762000" y="4691564"/>
            <a:ext cx="4102609" cy="1422631"/>
          </a:xfrm>
        </p:spPr>
        <p:txBody>
          <a:bodyPr>
            <a:normAutofit/>
          </a:bodyPr>
          <a:lstStyle/>
          <a:p>
            <a:pPr algn="l">
              <a:lnSpc>
                <a:spcPct val="95000"/>
              </a:lnSpc>
            </a:pPr>
            <a:r>
              <a:rPr lang="en-IN" sz="1900" dirty="0" err="1"/>
              <a:t>Dr.</a:t>
            </a:r>
            <a:r>
              <a:rPr lang="en-IN" sz="1900" dirty="0"/>
              <a:t> Rajneesh Sharma </a:t>
            </a:r>
          </a:p>
          <a:p>
            <a:pPr algn="l">
              <a:lnSpc>
                <a:spcPct val="95000"/>
              </a:lnSpc>
            </a:pPr>
            <a:r>
              <a:rPr lang="en-IN" sz="1900" dirty="0"/>
              <a:t>Assistant Professor </a:t>
            </a:r>
          </a:p>
          <a:p>
            <a:pPr algn="l">
              <a:lnSpc>
                <a:spcPct val="95000"/>
              </a:lnSpc>
            </a:pPr>
            <a:r>
              <a:rPr lang="en-IN" sz="1900" dirty="0"/>
              <a:t>Thapar Institute of Engineering &amp; Technology, </a:t>
            </a:r>
            <a:r>
              <a:rPr lang="en-IN" sz="1900"/>
              <a:t>Patiala </a:t>
            </a:r>
            <a:endParaRPr lang="en-IN" sz="1900" dirty="0"/>
          </a:p>
        </p:txBody>
      </p:sp>
      <p:pic>
        <p:nvPicPr>
          <p:cNvPr id="4" name="Picture 3" descr="CPU with binary numbers and blueprint">
            <a:extLst>
              <a:ext uri="{FF2B5EF4-FFF2-40B4-BE49-F238E27FC236}">
                <a16:creationId xmlns:a16="http://schemas.microsoft.com/office/drawing/2014/main" id="{629F7A6B-9A43-49C2-9640-1ACC3E046B0A}"/>
              </a:ext>
            </a:extLst>
          </p:cNvPr>
          <p:cNvPicPr>
            <a:picLocks noChangeAspect="1"/>
          </p:cNvPicPr>
          <p:nvPr/>
        </p:nvPicPr>
        <p:blipFill rotWithShape="1">
          <a:blip r:embed="rId3"/>
          <a:srcRect l="24888" r="18987"/>
          <a:stretch/>
        </p:blipFill>
        <p:spPr>
          <a:xfrm>
            <a:off x="5349241" y="10"/>
            <a:ext cx="6842759" cy="6857990"/>
          </a:xfrm>
          <a:prstGeom prst="rect">
            <a:avLst/>
          </a:prstGeom>
        </p:spPr>
      </p:pic>
    </p:spTree>
    <p:extLst>
      <p:ext uri="{BB962C8B-B14F-4D97-AF65-F5344CB8AC3E}">
        <p14:creationId xmlns:p14="http://schemas.microsoft.com/office/powerpoint/2010/main" val="749010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9899904" cy="4598417"/>
          </a:xfrm>
        </p:spPr>
        <p:txBody>
          <a:bodyPr>
            <a:normAutofit/>
          </a:bodyPr>
          <a:lstStyle/>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Basics of Semiconductor Memory</a:t>
            </a:r>
          </a:p>
          <a:p>
            <a:pPr algn="just">
              <a:lnSpc>
                <a:spcPct val="150000"/>
              </a:lnSpc>
              <a:buClr>
                <a:srgbClr val="002060"/>
              </a:buClr>
              <a:buSzPct val="175000"/>
              <a:buFont typeface="Arial" panose="020B0604020202020204" pitchFamily="34" charset="0"/>
              <a:buChar char="•"/>
            </a:pPr>
            <a:r>
              <a:rPr lang="en-IN" b="1" dirty="0">
                <a:latin typeface="Arial" panose="020B0604020202020204" pitchFamily="34" charset="0"/>
                <a:cs typeface="Arial" panose="020B0604020202020204" pitchFamily="34" charset="0"/>
              </a:rPr>
              <a:t>Internal Organization of Memory Chips</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SRAM Cell</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DRAM Cell </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Ferroelectric Memory</a:t>
            </a:r>
          </a:p>
          <a:p>
            <a:pPr algn="just">
              <a:lnSpc>
                <a:spcPct val="150000"/>
              </a:lnSpc>
              <a:buClr>
                <a:srgbClr val="002060"/>
              </a:buClr>
              <a:buSzPct val="175000"/>
              <a:buFont typeface="Arial" panose="020B0604020202020204" pitchFamily="34" charset="0"/>
              <a:buChar char="•"/>
            </a:pPr>
            <a:r>
              <a:rPr lang="en-IN" b="1" dirty="0">
                <a:solidFill>
                  <a:schemeClr val="bg2">
                    <a:lumMod val="75000"/>
                  </a:schemeClr>
                </a:solidFill>
                <a:latin typeface="Arial" panose="020B0604020202020204" pitchFamily="34" charset="0"/>
                <a:cs typeface="Arial" panose="020B0604020202020204" pitchFamily="34" charset="0"/>
              </a:rPr>
              <a:t>Flash Memory Cell</a:t>
            </a:r>
          </a:p>
        </p:txBody>
      </p:sp>
      <p:sp>
        <p:nvSpPr>
          <p:cNvPr id="9" name="Title 1">
            <a:extLst>
              <a:ext uri="{FF2B5EF4-FFF2-40B4-BE49-F238E27FC236}">
                <a16:creationId xmlns:a16="http://schemas.microsoft.com/office/drawing/2014/main" id="{D558C41F-E585-4B9A-B46E-36B235D2B262}"/>
              </a:ext>
            </a:extLst>
          </p:cNvPr>
          <p:cNvSpPr txBox="1">
            <a:spLocks/>
          </p:cNvSpPr>
          <p:nvPr/>
        </p:nvSpPr>
        <p:spPr>
          <a:xfrm>
            <a:off x="111760" y="72454"/>
            <a:ext cx="7101840" cy="686500"/>
          </a:xfrm>
          <a:prstGeom prst="rect">
            <a:avLst/>
          </a:prstGeom>
        </p:spPr>
        <p:txBody>
          <a:bodyPr vert="horz" lIns="91440" tIns="45720" rIns="91440" bIns="45720" rtlCol="0" anchor="t">
            <a:noAutofit/>
          </a:bodyPr>
          <a:lstStyle>
            <a:lvl1pPr algn="l" defTabSz="914400" rtl="0" eaLnBrk="1" latinLnBrk="0" hangingPunct="1">
              <a:lnSpc>
                <a:spcPct val="95000"/>
              </a:lnSpc>
              <a:spcBef>
                <a:spcPct val="0"/>
              </a:spcBef>
              <a:buNone/>
              <a:defRPr sz="4200" kern="1200" spc="-50" baseline="0">
                <a:solidFill>
                  <a:schemeClr val="tx1"/>
                </a:solidFill>
                <a:latin typeface="+mj-lt"/>
                <a:ea typeface="+mj-ea"/>
                <a:cs typeface="+mj-cs"/>
              </a:defRPr>
            </a:lvl1pPr>
          </a:lstStyle>
          <a:p>
            <a:pPr algn="just"/>
            <a:r>
              <a:rPr lang="en-IN" sz="3400" dirty="0">
                <a:cs typeface="Aharoni" panose="02010803020104030203" pitchFamily="2" charset="-79"/>
              </a:rPr>
              <a:t>Module 1</a:t>
            </a:r>
          </a:p>
        </p:txBody>
      </p:sp>
      <p:sp>
        <p:nvSpPr>
          <p:cNvPr id="7" name="Slide Number Placeholder 6">
            <a:extLst>
              <a:ext uri="{FF2B5EF4-FFF2-40B4-BE49-F238E27FC236}">
                <a16:creationId xmlns:a16="http://schemas.microsoft.com/office/drawing/2014/main" id="{9E266193-05BE-4ECF-99EB-2D3BDF57BA31}"/>
              </a:ext>
            </a:extLst>
          </p:cNvPr>
          <p:cNvSpPr>
            <a:spLocks noGrp="1"/>
          </p:cNvSpPr>
          <p:nvPr>
            <p:ph type="sldNum" sz="quarter" idx="12"/>
          </p:nvPr>
        </p:nvSpPr>
        <p:spPr/>
        <p:txBody>
          <a:bodyPr/>
          <a:lstStyle/>
          <a:p>
            <a:fld id="{CB1E4CB7-CB13-4810-BF18-BE31AFC64F93}" type="slidenum">
              <a:rPr lang="en-US" smtClean="0"/>
              <a:t>2</a:t>
            </a:fld>
            <a:endParaRPr lang="en-US"/>
          </a:p>
        </p:txBody>
      </p:sp>
      <p:sp>
        <p:nvSpPr>
          <p:cNvPr id="12" name="Footer Placeholder 4">
            <a:extLst>
              <a:ext uri="{FF2B5EF4-FFF2-40B4-BE49-F238E27FC236}">
                <a16:creationId xmlns:a16="http://schemas.microsoft.com/office/drawing/2014/main" id="{284DD07C-108C-46B0-A67A-1634CC13250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237982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9899904" cy="4598417"/>
          </a:xfrm>
        </p:spPr>
        <p:txBody>
          <a:bodyPr>
            <a:normAutofit/>
          </a:bodyPr>
          <a:lstStyle/>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Memory Cell Array</a:t>
            </a:r>
          </a:p>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Peripheral Circuit</a:t>
            </a:r>
          </a:p>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Input/Output Interface Circuit</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3</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graphicFrame>
        <p:nvGraphicFramePr>
          <p:cNvPr id="9" name="Object 8">
            <a:extLst>
              <a:ext uri="{FF2B5EF4-FFF2-40B4-BE49-F238E27FC236}">
                <a16:creationId xmlns:a16="http://schemas.microsoft.com/office/drawing/2014/main" id="{923590EE-8313-4B5D-944E-76A2F80D0530}"/>
              </a:ext>
            </a:extLst>
          </p:cNvPr>
          <p:cNvGraphicFramePr>
            <a:graphicFrameLocks noChangeAspect="1"/>
          </p:cNvGraphicFramePr>
          <p:nvPr>
            <p:extLst>
              <p:ext uri="{D42A27DB-BD31-4B8C-83A1-F6EECF244321}">
                <p14:modId xmlns:p14="http://schemas.microsoft.com/office/powerpoint/2010/main" val="2343160079"/>
              </p:ext>
            </p:extLst>
          </p:nvPr>
        </p:nvGraphicFramePr>
        <p:xfrm>
          <a:off x="6140450" y="1211579"/>
          <a:ext cx="5289550" cy="3879850"/>
        </p:xfrm>
        <a:graphic>
          <a:graphicData uri="http://schemas.openxmlformats.org/presentationml/2006/ole">
            <mc:AlternateContent xmlns:mc="http://schemas.openxmlformats.org/markup-compatibility/2006">
              <mc:Choice xmlns:v="urn:schemas-microsoft-com:vml" Requires="v">
                <p:oleObj spid="_x0000_s7182" r:id="rId4" imgW="6629400" imgH="5236464" progId="Unknown">
                  <p:embed/>
                </p:oleObj>
              </mc:Choice>
              <mc:Fallback>
                <p:oleObj r:id="rId4" imgW="6629400" imgH="5236464" progId="Unknown">
                  <p:embed/>
                  <p:pic>
                    <p:nvPicPr>
                      <p:cNvPr id="12" name="Object 11">
                        <a:extLst>
                          <a:ext uri="{FF2B5EF4-FFF2-40B4-BE49-F238E27FC236}">
                            <a16:creationId xmlns:a16="http://schemas.microsoft.com/office/drawing/2014/main" id="{6C9114DB-019B-4091-AB5C-C7A2DA0110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990" t="5190" r="2661" b="9117"/>
                      <a:stretch>
                        <a:fillRect/>
                      </a:stretch>
                    </p:blipFill>
                    <p:spPr bwMode="auto">
                      <a:xfrm>
                        <a:off x="6140450" y="1211579"/>
                        <a:ext cx="5289550" cy="3879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a:extLst>
              <a:ext uri="{FF2B5EF4-FFF2-40B4-BE49-F238E27FC236}">
                <a16:creationId xmlns:a16="http://schemas.microsoft.com/office/drawing/2014/main" id="{4D0201D6-271F-44F6-B432-66E086617A66}"/>
              </a:ext>
            </a:extLst>
          </p:cNvPr>
          <p:cNvSpPr txBox="1"/>
          <p:nvPr/>
        </p:nvSpPr>
        <p:spPr>
          <a:xfrm>
            <a:off x="6899368" y="5588163"/>
            <a:ext cx="3411511"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Fig. 5 Memory Chip Configuration </a:t>
            </a:r>
          </a:p>
        </p:txBody>
      </p:sp>
    </p:spTree>
    <p:extLst>
      <p:ext uri="{BB962C8B-B14F-4D97-AF65-F5344CB8AC3E}">
        <p14:creationId xmlns:p14="http://schemas.microsoft.com/office/powerpoint/2010/main" val="186144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890925"/>
            <a:ext cx="9899904" cy="4598417"/>
          </a:xfrm>
        </p:spPr>
        <p:txBody>
          <a:bodyPr>
            <a:normAutofit/>
          </a:bodyPr>
          <a:lstStyle/>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Memory Cell Array</a:t>
            </a:r>
          </a:p>
          <a:p>
            <a:pPr marL="0" indent="0" algn="just">
              <a:lnSpc>
                <a:spcPct val="150000"/>
              </a:lnSpc>
              <a:buNone/>
            </a:pPr>
            <a:r>
              <a:rPr lang="en-US" sz="2000" dirty="0">
                <a:latin typeface="Arial" panose="020B0604020202020204" pitchFamily="34" charset="0"/>
                <a:cs typeface="Arial" panose="020B0604020202020204" pitchFamily="34" charset="0"/>
              </a:rPr>
              <a:t>A memory cell array comprising a matrix of </a:t>
            </a:r>
            <a:r>
              <a:rPr lang="en-US" sz="2000" i="1" dirty="0">
                <a:latin typeface="Arial" panose="020B0604020202020204" pitchFamily="34" charset="0"/>
                <a:cs typeface="Arial" panose="020B0604020202020204" pitchFamily="34" charset="0"/>
              </a:rPr>
              <a:t>2</a:t>
            </a:r>
            <a:r>
              <a:rPr lang="en-US" sz="2000" i="1" baseline="30000" dirty="0">
                <a:latin typeface="Arial" panose="020B0604020202020204" pitchFamily="34" charset="0"/>
                <a:cs typeface="Arial" panose="020B0604020202020204" pitchFamily="34" charset="0"/>
              </a:rPr>
              <a:t>N</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rows and </a:t>
            </a:r>
            <a:r>
              <a:rPr lang="en-US" sz="2000" i="1" dirty="0">
                <a:latin typeface="Arial" panose="020B0604020202020204" pitchFamily="34" charset="0"/>
                <a:cs typeface="Arial" panose="020B0604020202020204" pitchFamily="34" charset="0"/>
              </a:rPr>
              <a:t>2</a:t>
            </a:r>
            <a:r>
              <a:rPr lang="en-US" sz="2000" i="1" baseline="30000" dirty="0">
                <a:latin typeface="Arial" panose="020B0604020202020204" pitchFamily="34" charset="0"/>
                <a:cs typeface="Arial" panose="020B0604020202020204" pitchFamily="34" charset="0"/>
              </a:rPr>
              <a:t>M</a:t>
            </a:r>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columns can store binary information of </a:t>
            </a:r>
            <a:r>
              <a:rPr lang="en-US" sz="2000" i="1" dirty="0">
                <a:latin typeface="Arial" panose="020B0604020202020204" pitchFamily="34" charset="0"/>
                <a:cs typeface="Arial" panose="020B0604020202020204" pitchFamily="34" charset="0"/>
              </a:rPr>
              <a:t>2</a:t>
            </a:r>
            <a:r>
              <a:rPr lang="en-US" sz="2000" i="1" baseline="30000" dirty="0">
                <a:latin typeface="Arial" panose="020B0604020202020204" pitchFamily="34" charset="0"/>
                <a:cs typeface="Arial" panose="020B0604020202020204" pitchFamily="34" charset="0"/>
              </a:rPr>
              <a:t>N +M </a:t>
            </a:r>
            <a:r>
              <a:rPr lang="en-US" sz="2000" dirty="0">
                <a:latin typeface="Arial" panose="020B0604020202020204" pitchFamily="34" charset="0"/>
                <a:cs typeface="Arial" panose="020B0604020202020204" pitchFamily="34" charset="0"/>
              </a:rPr>
              <a:t>bits.</a:t>
            </a:r>
          </a:p>
          <a:p>
            <a:pPr marL="0" indent="0" algn="just">
              <a:lnSpc>
                <a:spcPct val="150000"/>
              </a:lnSpc>
              <a:buNone/>
            </a:pPr>
            <a:r>
              <a:rPr lang="en-IN" sz="2000" b="1" dirty="0">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if </a:t>
            </a:r>
            <a:r>
              <a:rPr lang="en-US" sz="2000" i="1" dirty="0">
                <a:latin typeface="Arial" panose="020B0604020202020204" pitchFamily="34" charset="0"/>
                <a:cs typeface="Arial" panose="020B0604020202020204" pitchFamily="34" charset="0"/>
              </a:rPr>
              <a:t>N </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M </a:t>
            </a:r>
            <a:r>
              <a:rPr lang="en-US" sz="2000" dirty="0">
                <a:latin typeface="Arial" panose="020B0604020202020204" pitchFamily="34" charset="0"/>
                <a:cs typeface="Arial" panose="020B0604020202020204" pitchFamily="34" charset="0"/>
              </a:rPr>
              <a:t>= 20, a memory chip can store 1 Mbit of information. </a:t>
            </a:r>
          </a:p>
          <a:p>
            <a:pPr marL="0" indent="0" algn="just">
              <a:lnSpc>
                <a:spcPct val="150000"/>
              </a:lnSpc>
              <a:buNone/>
            </a:pPr>
            <a:endParaRPr lang="en-US" sz="2000" dirty="0">
              <a:latin typeface="Arial" panose="020B0604020202020204" pitchFamily="34" charset="0"/>
              <a:cs typeface="Arial" panose="020B0604020202020204" pitchFamily="34" charset="0"/>
            </a:endParaRPr>
          </a:p>
          <a:p>
            <a:pPr marL="0" indent="0" algn="just">
              <a:lnSpc>
                <a:spcPct val="150000"/>
              </a:lnSpc>
              <a:buNone/>
            </a:pPr>
            <a:r>
              <a:rPr lang="en-US" sz="2000" b="1" dirty="0">
                <a:latin typeface="Arial" panose="020B0604020202020204" pitchFamily="34" charset="0"/>
                <a:cs typeface="Arial" panose="020B0604020202020204" pitchFamily="34" charset="0"/>
              </a:rPr>
              <a:t>It can have 1D, 2D or 3D structure</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4</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pic>
        <p:nvPicPr>
          <p:cNvPr id="4" name="Picture 3">
            <a:extLst>
              <a:ext uri="{FF2B5EF4-FFF2-40B4-BE49-F238E27FC236}">
                <a16:creationId xmlns:a16="http://schemas.microsoft.com/office/drawing/2014/main" id="{0E2B3A84-F1A5-46CD-ADAF-FF398263C415}"/>
              </a:ext>
            </a:extLst>
          </p:cNvPr>
          <p:cNvPicPr>
            <a:picLocks noChangeAspect="1"/>
          </p:cNvPicPr>
          <p:nvPr/>
        </p:nvPicPr>
        <p:blipFill>
          <a:blip r:embed="rId3"/>
          <a:stretch>
            <a:fillRect/>
          </a:stretch>
        </p:blipFill>
        <p:spPr>
          <a:xfrm>
            <a:off x="8837999" y="3050820"/>
            <a:ext cx="2532673" cy="2617312"/>
          </a:xfrm>
          <a:prstGeom prst="rect">
            <a:avLst/>
          </a:prstGeom>
        </p:spPr>
      </p:pic>
      <p:pic>
        <p:nvPicPr>
          <p:cNvPr id="5" name="Picture 4">
            <a:extLst>
              <a:ext uri="{FF2B5EF4-FFF2-40B4-BE49-F238E27FC236}">
                <a16:creationId xmlns:a16="http://schemas.microsoft.com/office/drawing/2014/main" id="{1378E84F-CED1-4AB8-8800-E65FEFED4908}"/>
              </a:ext>
            </a:extLst>
          </p:cNvPr>
          <p:cNvPicPr>
            <a:picLocks noChangeAspect="1"/>
          </p:cNvPicPr>
          <p:nvPr/>
        </p:nvPicPr>
        <p:blipFill>
          <a:blip r:embed="rId4"/>
          <a:stretch>
            <a:fillRect/>
          </a:stretch>
        </p:blipFill>
        <p:spPr>
          <a:xfrm>
            <a:off x="5544355" y="3773223"/>
            <a:ext cx="2804283" cy="1282262"/>
          </a:xfrm>
          <a:prstGeom prst="rect">
            <a:avLst/>
          </a:prstGeom>
        </p:spPr>
      </p:pic>
      <p:sp>
        <p:nvSpPr>
          <p:cNvPr id="9" name="TextBox 8">
            <a:extLst>
              <a:ext uri="{FF2B5EF4-FFF2-40B4-BE49-F238E27FC236}">
                <a16:creationId xmlns:a16="http://schemas.microsoft.com/office/drawing/2014/main" id="{BCC960AA-7544-4E87-808D-5D98B0E173B9}"/>
              </a:ext>
            </a:extLst>
          </p:cNvPr>
          <p:cNvSpPr txBox="1"/>
          <p:nvPr/>
        </p:nvSpPr>
        <p:spPr>
          <a:xfrm>
            <a:off x="5925355" y="5652125"/>
            <a:ext cx="5445317" cy="369332"/>
          </a:xfrm>
          <a:prstGeom prst="rect">
            <a:avLst/>
          </a:prstGeom>
          <a:noFill/>
        </p:spPr>
        <p:txBody>
          <a:bodyPr wrap="square" rtlCol="0">
            <a:spAutoFit/>
          </a:bodyPr>
          <a:lstStyle/>
          <a:p>
            <a:pPr algn="ctr"/>
            <a:r>
              <a:rPr lang="en-IN" dirty="0">
                <a:latin typeface="Arial" panose="020B0604020202020204" pitchFamily="34" charset="0"/>
                <a:cs typeface="Arial" panose="020B0604020202020204" pitchFamily="34" charset="0"/>
              </a:rPr>
              <a:t>Fig. 4 Memory Cell arrangement (a) 1D (b) 2D. </a:t>
            </a:r>
          </a:p>
        </p:txBody>
      </p:sp>
    </p:spTree>
    <p:extLst>
      <p:ext uri="{BB962C8B-B14F-4D97-AF65-F5344CB8AC3E}">
        <p14:creationId xmlns:p14="http://schemas.microsoft.com/office/powerpoint/2010/main" val="687291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5</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pic>
        <p:nvPicPr>
          <p:cNvPr id="6" name="Picture 5">
            <a:extLst>
              <a:ext uri="{FF2B5EF4-FFF2-40B4-BE49-F238E27FC236}">
                <a16:creationId xmlns:a16="http://schemas.microsoft.com/office/drawing/2014/main" id="{6300140F-37E5-4ACF-981E-232FA598FBC1}"/>
              </a:ext>
            </a:extLst>
          </p:cNvPr>
          <p:cNvPicPr>
            <a:picLocks noChangeAspect="1"/>
          </p:cNvPicPr>
          <p:nvPr/>
        </p:nvPicPr>
        <p:blipFill>
          <a:blip r:embed="rId3"/>
          <a:stretch>
            <a:fillRect/>
          </a:stretch>
        </p:blipFill>
        <p:spPr>
          <a:xfrm>
            <a:off x="1566041" y="873448"/>
            <a:ext cx="8629322" cy="5418625"/>
          </a:xfrm>
          <a:prstGeom prst="rect">
            <a:avLst/>
          </a:prstGeom>
        </p:spPr>
      </p:pic>
      <p:sp>
        <p:nvSpPr>
          <p:cNvPr id="9" name="TextBox 8">
            <a:extLst>
              <a:ext uri="{FF2B5EF4-FFF2-40B4-BE49-F238E27FC236}">
                <a16:creationId xmlns:a16="http://schemas.microsoft.com/office/drawing/2014/main" id="{E4FE5396-DF54-461C-A505-D1F0D40727DC}"/>
              </a:ext>
            </a:extLst>
          </p:cNvPr>
          <p:cNvSpPr txBox="1"/>
          <p:nvPr/>
        </p:nvSpPr>
        <p:spPr>
          <a:xfrm>
            <a:off x="4729654" y="5129049"/>
            <a:ext cx="2165131" cy="369332"/>
          </a:xfrm>
          <a:prstGeom prst="rect">
            <a:avLst/>
          </a:prstGeom>
          <a:noFill/>
        </p:spPr>
        <p:txBody>
          <a:bodyPr wrap="square" rtlCol="0">
            <a:spAutoFit/>
          </a:bodyPr>
          <a:lstStyle/>
          <a:p>
            <a:pPr algn="ctr"/>
            <a:r>
              <a:rPr lang="en-IN" b="1" dirty="0">
                <a:latin typeface="Arial" panose="020B0604020202020204" pitchFamily="34" charset="0"/>
                <a:cs typeface="Arial" panose="020B0604020202020204" pitchFamily="34" charset="0"/>
              </a:rPr>
              <a:t>1D Structure</a:t>
            </a:r>
          </a:p>
        </p:txBody>
      </p:sp>
    </p:spTree>
    <p:extLst>
      <p:ext uri="{BB962C8B-B14F-4D97-AF65-F5344CB8AC3E}">
        <p14:creationId xmlns:p14="http://schemas.microsoft.com/office/powerpoint/2010/main" val="3904128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6</a:t>
            </a:fld>
            <a:endParaRPr lang="en-US"/>
          </a:p>
        </p:txBody>
      </p:sp>
      <p:sp>
        <p:nvSpPr>
          <p:cNvPr id="11" name="Footer Placeholder 4">
            <a:extLst>
              <a:ext uri="{FF2B5EF4-FFF2-40B4-BE49-F238E27FC236}">
                <a16:creationId xmlns:a16="http://schemas.microsoft.com/office/drawing/2014/main" id="{9DBEB70D-F2CD-4507-9088-A28E248C4F73}"/>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0" name="Rectangle 5">
            <a:extLst>
              <a:ext uri="{FF2B5EF4-FFF2-40B4-BE49-F238E27FC236}">
                <a16:creationId xmlns:a16="http://schemas.microsoft.com/office/drawing/2014/main" id="{FED5FDF3-77CC-439F-A9E9-FFE8549AB768}"/>
              </a:ext>
            </a:extLst>
          </p:cNvPr>
          <p:cNvSpPr>
            <a:spLocks noChangeArrowheads="1"/>
          </p:cNvSpPr>
          <p:nvPr/>
        </p:nvSpPr>
        <p:spPr bwMode="auto">
          <a:xfrm>
            <a:off x="283779" y="14890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TextBox 13">
            <a:extLst>
              <a:ext uri="{FF2B5EF4-FFF2-40B4-BE49-F238E27FC236}">
                <a16:creationId xmlns:a16="http://schemas.microsoft.com/office/drawing/2014/main" id="{52B6D766-18FC-4137-8543-623AB8BBCB5D}"/>
              </a:ext>
            </a:extLst>
          </p:cNvPr>
          <p:cNvSpPr txBox="1"/>
          <p:nvPr/>
        </p:nvSpPr>
        <p:spPr>
          <a:xfrm>
            <a:off x="784698" y="5261286"/>
            <a:ext cx="10645302" cy="875689"/>
          </a:xfrm>
          <a:prstGeom prst="rect">
            <a:avLst/>
          </a:prstGeom>
          <a:noFill/>
        </p:spPr>
        <p:txBody>
          <a:bodyPr wrap="square" rtlCol="0">
            <a:spAutoFit/>
          </a:bodyPr>
          <a:lstStyle/>
          <a:p>
            <a:pPr algn="just">
              <a:lnSpc>
                <a:spcPct val="150000"/>
              </a:lnSpc>
            </a:pPr>
            <a:r>
              <a:rPr lang="en-IN" dirty="0">
                <a:latin typeface="Arial" panose="020B0604020202020204" pitchFamily="34" charset="0"/>
                <a:cs typeface="Arial" panose="020B0604020202020204" pitchFamily="34" charset="0"/>
              </a:rPr>
              <a:t>The row is also </a:t>
            </a:r>
            <a:r>
              <a:rPr lang="en-US" dirty="0">
                <a:latin typeface="Arial" panose="020B0604020202020204" pitchFamily="34" charset="0"/>
                <a:cs typeface="Arial" panose="020B0604020202020204" pitchFamily="34" charset="0"/>
              </a:rPr>
              <a:t>called the X line or word line, while the column is called the Y line, bit line </a:t>
            </a:r>
            <a:r>
              <a:rPr lang="en-IN" dirty="0">
                <a:latin typeface="Arial" panose="020B0604020202020204" pitchFamily="34" charset="0"/>
                <a:cs typeface="Arial" panose="020B0604020202020204" pitchFamily="34" charset="0"/>
              </a:rPr>
              <a:t>or data line.</a:t>
            </a:r>
          </a:p>
          <a:p>
            <a:pPr algn="just">
              <a:lnSpc>
                <a:spcPct val="150000"/>
              </a:lnSpc>
            </a:pPr>
            <a:r>
              <a:rPr lang="en-US" altLang="en-US" b="1" dirty="0">
                <a:latin typeface="Arial" panose="020B0604020202020204" pitchFamily="34" charset="0"/>
                <a:cs typeface="Arial" panose="020B0604020202020204" pitchFamily="34" charset="0"/>
              </a:rPr>
              <a:t>2</a:t>
            </a:r>
            <a:r>
              <a:rPr lang="en-US" altLang="en-US" b="1" baseline="30000" dirty="0">
                <a:latin typeface="Arial" panose="020B0604020202020204" pitchFamily="34" charset="0"/>
                <a:cs typeface="Arial" panose="020B0604020202020204" pitchFamily="34" charset="0"/>
              </a:rPr>
              <a:t>N</a:t>
            </a:r>
            <a:r>
              <a:rPr lang="en-US" altLang="en-US" b="1" dirty="0">
                <a:latin typeface="Arial" panose="020B0604020202020204" pitchFamily="34" charset="0"/>
                <a:cs typeface="Arial" panose="020B0604020202020204" pitchFamily="34" charset="0"/>
              </a:rPr>
              <a:t> words of 2</a:t>
            </a:r>
            <a:r>
              <a:rPr lang="en-US" altLang="en-US" b="1" baseline="30000" dirty="0">
                <a:latin typeface="Arial" panose="020B0604020202020204" pitchFamily="34" charset="0"/>
                <a:cs typeface="Arial" panose="020B0604020202020204" pitchFamily="34" charset="0"/>
              </a:rPr>
              <a:t>M</a:t>
            </a:r>
            <a:r>
              <a:rPr lang="en-US" altLang="en-US" b="1" dirty="0">
                <a:latin typeface="Arial" panose="020B0604020202020204" pitchFamily="34" charset="0"/>
                <a:cs typeface="Arial" panose="020B0604020202020204" pitchFamily="34" charset="0"/>
              </a:rPr>
              <a:t> bits each</a:t>
            </a:r>
            <a:r>
              <a:rPr lang="en-US" altLang="en-US" dirty="0">
                <a:latin typeface="Arial" panose="020B0604020202020204" pitchFamily="34" charset="0"/>
                <a:cs typeface="Arial" panose="020B0604020202020204" pitchFamily="34" charset="0"/>
              </a:rPr>
              <a:t>.</a:t>
            </a:r>
            <a:endParaRPr lang="en-IN" dirty="0"/>
          </a:p>
        </p:txBody>
      </p:sp>
      <p:pic>
        <p:nvPicPr>
          <p:cNvPr id="3" name="Picture 2">
            <a:extLst>
              <a:ext uri="{FF2B5EF4-FFF2-40B4-BE49-F238E27FC236}">
                <a16:creationId xmlns:a16="http://schemas.microsoft.com/office/drawing/2014/main" id="{D57F3FA1-85FE-4DB8-A7A4-66467D7AADD9}"/>
              </a:ext>
            </a:extLst>
          </p:cNvPr>
          <p:cNvPicPr>
            <a:picLocks noChangeAspect="1"/>
          </p:cNvPicPr>
          <p:nvPr/>
        </p:nvPicPr>
        <p:blipFill>
          <a:blip r:embed="rId3"/>
          <a:stretch>
            <a:fillRect/>
          </a:stretch>
        </p:blipFill>
        <p:spPr>
          <a:xfrm>
            <a:off x="3193577" y="940604"/>
            <a:ext cx="4268770" cy="4140122"/>
          </a:xfrm>
          <a:prstGeom prst="rect">
            <a:avLst/>
          </a:prstGeom>
        </p:spPr>
      </p:pic>
    </p:spTree>
    <p:extLst>
      <p:ext uri="{BB962C8B-B14F-4D97-AF65-F5344CB8AC3E}">
        <p14:creationId xmlns:p14="http://schemas.microsoft.com/office/powerpoint/2010/main" val="213761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7</a:t>
            </a:fld>
            <a:endParaRPr lang="en-US"/>
          </a:p>
        </p:txBody>
      </p:sp>
      <p:sp>
        <p:nvSpPr>
          <p:cNvPr id="11" name="Footer Placeholder 4">
            <a:extLst>
              <a:ext uri="{FF2B5EF4-FFF2-40B4-BE49-F238E27FC236}">
                <a16:creationId xmlns:a16="http://schemas.microsoft.com/office/drawing/2014/main" id="{9DBEB70D-F2CD-4507-9088-A28E248C4F73}"/>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0" name="Rectangle 5">
            <a:extLst>
              <a:ext uri="{FF2B5EF4-FFF2-40B4-BE49-F238E27FC236}">
                <a16:creationId xmlns:a16="http://schemas.microsoft.com/office/drawing/2014/main" id="{FED5FDF3-77CC-439F-A9E9-FFE8549AB768}"/>
              </a:ext>
            </a:extLst>
          </p:cNvPr>
          <p:cNvSpPr>
            <a:spLocks noChangeArrowheads="1"/>
          </p:cNvSpPr>
          <p:nvPr/>
        </p:nvSpPr>
        <p:spPr bwMode="auto">
          <a:xfrm>
            <a:off x="283779" y="14890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TextBox 18">
            <a:extLst>
              <a:ext uri="{FF2B5EF4-FFF2-40B4-BE49-F238E27FC236}">
                <a16:creationId xmlns:a16="http://schemas.microsoft.com/office/drawing/2014/main" id="{6000631E-1E69-4650-8A24-1986EA89E44A}"/>
              </a:ext>
            </a:extLst>
          </p:cNvPr>
          <p:cNvSpPr txBox="1"/>
          <p:nvPr/>
        </p:nvSpPr>
        <p:spPr>
          <a:xfrm>
            <a:off x="4110649" y="4407877"/>
            <a:ext cx="3772186" cy="369332"/>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Fig. 6 Hierarchical</a:t>
            </a:r>
            <a:r>
              <a:rPr lang="en-IN" dirty="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Memory architecture</a:t>
            </a:r>
          </a:p>
        </p:txBody>
      </p:sp>
      <p:pic>
        <p:nvPicPr>
          <p:cNvPr id="15" name="Picture 14">
            <a:extLst>
              <a:ext uri="{FF2B5EF4-FFF2-40B4-BE49-F238E27FC236}">
                <a16:creationId xmlns:a16="http://schemas.microsoft.com/office/drawing/2014/main" id="{285A5F7F-D212-454C-B88C-C8165CCB0D0D}"/>
              </a:ext>
            </a:extLst>
          </p:cNvPr>
          <p:cNvPicPr>
            <a:picLocks noChangeAspect="1"/>
          </p:cNvPicPr>
          <p:nvPr/>
        </p:nvPicPr>
        <p:blipFill>
          <a:blip r:embed="rId3"/>
          <a:stretch>
            <a:fillRect/>
          </a:stretch>
        </p:blipFill>
        <p:spPr>
          <a:xfrm>
            <a:off x="2027080" y="1371205"/>
            <a:ext cx="6996711" cy="3022121"/>
          </a:xfrm>
          <a:prstGeom prst="rect">
            <a:avLst/>
          </a:prstGeom>
        </p:spPr>
      </p:pic>
      <p:sp>
        <p:nvSpPr>
          <p:cNvPr id="24" name="TextBox 23">
            <a:extLst>
              <a:ext uri="{FF2B5EF4-FFF2-40B4-BE49-F238E27FC236}">
                <a16:creationId xmlns:a16="http://schemas.microsoft.com/office/drawing/2014/main" id="{31BA9ADC-959F-4C8E-BB33-E3C63DAA3D60}"/>
              </a:ext>
            </a:extLst>
          </p:cNvPr>
          <p:cNvSpPr txBox="1"/>
          <p:nvPr/>
        </p:nvSpPr>
        <p:spPr>
          <a:xfrm>
            <a:off x="610337" y="4619110"/>
            <a:ext cx="7467109" cy="1785104"/>
          </a:xfrm>
          <a:prstGeom prst="rect">
            <a:avLst/>
          </a:prstGeom>
          <a:noFill/>
        </p:spPr>
        <p:txBody>
          <a:bodyPr wrap="none" rtlCol="0">
            <a:spAutoFit/>
          </a:bodyPr>
          <a:lstStyle/>
          <a:p>
            <a:pPr algn="just">
              <a:lnSpc>
                <a:spcPct val="150000"/>
              </a:lnSpc>
            </a:pPr>
            <a:r>
              <a:rPr lang="en-US" altLang="en-US" sz="2000" b="1" dirty="0">
                <a:solidFill>
                  <a:schemeClr val="accent4">
                    <a:lumMod val="75000"/>
                  </a:schemeClr>
                </a:solidFill>
                <a:effectLst>
                  <a:outerShdw blurRad="38100" dist="38100" dir="2700000" algn="tl">
                    <a:srgbClr val="C0C0C0"/>
                  </a:outerShdw>
                </a:effectLst>
                <a:latin typeface="Arial" panose="020B0604020202020204" pitchFamily="34" charset="0"/>
                <a:cs typeface="Arial" panose="020B0604020202020204" pitchFamily="34" charset="0"/>
              </a:rPr>
              <a:t>Advantages:</a:t>
            </a:r>
          </a:p>
          <a:p>
            <a:pPr marL="514350" indent="-514350" algn="just">
              <a:lnSpc>
                <a:spcPct val="150000"/>
              </a:lnSpc>
              <a:buAutoNum type="arabicPeriod"/>
            </a:pPr>
            <a:r>
              <a:rPr lang="en-US" altLang="en-US" sz="2000" b="1" dirty="0">
                <a:solidFill>
                  <a:schemeClr val="accent4">
                    <a:lumMod val="75000"/>
                  </a:schemeClr>
                </a:solidFill>
                <a:effectLst>
                  <a:outerShdw blurRad="38100" dist="38100" dir="2700000" algn="tl">
                    <a:srgbClr val="C0C0C0"/>
                  </a:outerShdw>
                </a:effectLst>
                <a:latin typeface="Arial" panose="020B0604020202020204" pitchFamily="34" charset="0"/>
                <a:cs typeface="Arial" panose="020B0604020202020204" pitchFamily="34" charset="0"/>
              </a:rPr>
              <a:t>Shorter wires within blocks</a:t>
            </a:r>
          </a:p>
          <a:p>
            <a:pPr marL="514350" indent="-514350" algn="just">
              <a:lnSpc>
                <a:spcPct val="150000"/>
              </a:lnSpc>
              <a:buAutoNum type="arabicPeriod"/>
            </a:pPr>
            <a:r>
              <a:rPr lang="en-US" altLang="en-US" sz="2000" b="1" dirty="0">
                <a:solidFill>
                  <a:schemeClr val="accent4">
                    <a:lumMod val="75000"/>
                  </a:schemeClr>
                </a:solidFill>
                <a:effectLst>
                  <a:outerShdw blurRad="38100" dist="38100" dir="2700000" algn="tl">
                    <a:srgbClr val="C0C0C0"/>
                  </a:outerShdw>
                </a:effectLst>
                <a:latin typeface="Arial" panose="020B0604020202020204" pitchFamily="34" charset="0"/>
                <a:cs typeface="Arial" panose="020B0604020202020204" pitchFamily="34" charset="0"/>
              </a:rPr>
              <a:t> Block address activates only 1 block =&gt; power savings</a:t>
            </a:r>
            <a:endParaRPr lang="en-US" altLang="en-US" sz="2000" i="1" dirty="0">
              <a:solidFill>
                <a:schemeClr val="accent4">
                  <a:lumMod val="75000"/>
                </a:schemeClr>
              </a:solidFill>
              <a:effectLst>
                <a:outerShdw blurRad="38100" dist="38100" dir="2700000" algn="tl">
                  <a:srgbClr val="C0C0C0"/>
                </a:outerShdw>
              </a:effectLst>
              <a:latin typeface="Arial" panose="020B0604020202020204" pitchFamily="34" charset="0"/>
              <a:cs typeface="Arial" panose="020B0604020202020204" pitchFamily="34" charset="0"/>
            </a:endParaRPr>
          </a:p>
          <a:p>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2506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8</a:t>
            </a:fld>
            <a:endParaRPr lang="en-US"/>
          </a:p>
        </p:txBody>
      </p:sp>
      <p:sp>
        <p:nvSpPr>
          <p:cNvPr id="11" name="Footer Placeholder 4">
            <a:extLst>
              <a:ext uri="{FF2B5EF4-FFF2-40B4-BE49-F238E27FC236}">
                <a16:creationId xmlns:a16="http://schemas.microsoft.com/office/drawing/2014/main" id="{9DBEB70D-F2CD-4507-9088-A28E248C4F73}"/>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
        <p:nvSpPr>
          <p:cNvPr id="10" name="Rectangle 5">
            <a:extLst>
              <a:ext uri="{FF2B5EF4-FFF2-40B4-BE49-F238E27FC236}">
                <a16:creationId xmlns:a16="http://schemas.microsoft.com/office/drawing/2014/main" id="{FED5FDF3-77CC-439F-A9E9-FFE8549AB768}"/>
              </a:ext>
            </a:extLst>
          </p:cNvPr>
          <p:cNvSpPr>
            <a:spLocks noChangeArrowheads="1"/>
          </p:cNvSpPr>
          <p:nvPr/>
        </p:nvSpPr>
        <p:spPr bwMode="auto">
          <a:xfrm>
            <a:off x="283779" y="14890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TextBox 18">
            <a:extLst>
              <a:ext uri="{FF2B5EF4-FFF2-40B4-BE49-F238E27FC236}">
                <a16:creationId xmlns:a16="http://schemas.microsoft.com/office/drawing/2014/main" id="{6000631E-1E69-4650-8A24-1986EA89E44A}"/>
              </a:ext>
            </a:extLst>
          </p:cNvPr>
          <p:cNvSpPr txBox="1"/>
          <p:nvPr/>
        </p:nvSpPr>
        <p:spPr>
          <a:xfrm>
            <a:off x="641097" y="5814687"/>
            <a:ext cx="10797892" cy="338554"/>
          </a:xfrm>
          <a:prstGeom prst="rect">
            <a:avLst/>
          </a:prstGeom>
          <a:noFill/>
        </p:spPr>
        <p:txBody>
          <a:bodyPr wrap="none" rtlCol="0">
            <a:spAutoFit/>
          </a:bodyPr>
          <a:lstStyle/>
          <a:p>
            <a:r>
              <a:rPr lang="en-IN" sz="1600" dirty="0">
                <a:latin typeface="Arial" panose="020B0604020202020204" pitchFamily="34" charset="0"/>
                <a:cs typeface="Arial" panose="020B0604020202020204" pitchFamily="34" charset="0"/>
              </a:rPr>
              <a:t>Fig. 7 (a) SRAM (b) 3D ROM Array [Source: https://www.edn.com/3d-computational-architectures-and-applications/]</a:t>
            </a:r>
          </a:p>
        </p:txBody>
      </p:sp>
      <p:pic>
        <p:nvPicPr>
          <p:cNvPr id="3" name="Picture 2">
            <a:extLst>
              <a:ext uri="{FF2B5EF4-FFF2-40B4-BE49-F238E27FC236}">
                <a16:creationId xmlns:a16="http://schemas.microsoft.com/office/drawing/2014/main" id="{1BD5C290-3BE2-46D3-802C-D2CC5E92A7B5}"/>
              </a:ext>
            </a:extLst>
          </p:cNvPr>
          <p:cNvPicPr>
            <a:picLocks noChangeAspect="1"/>
          </p:cNvPicPr>
          <p:nvPr/>
        </p:nvPicPr>
        <p:blipFill>
          <a:blip r:embed="rId3"/>
          <a:stretch>
            <a:fillRect/>
          </a:stretch>
        </p:blipFill>
        <p:spPr>
          <a:xfrm>
            <a:off x="4424855" y="929753"/>
            <a:ext cx="7005145" cy="4408360"/>
          </a:xfrm>
          <a:prstGeom prst="rect">
            <a:avLst/>
          </a:prstGeom>
        </p:spPr>
      </p:pic>
      <p:pic>
        <p:nvPicPr>
          <p:cNvPr id="4" name="Picture 3">
            <a:extLst>
              <a:ext uri="{FF2B5EF4-FFF2-40B4-BE49-F238E27FC236}">
                <a16:creationId xmlns:a16="http://schemas.microsoft.com/office/drawing/2014/main" id="{B7B8BA82-512E-45AD-8726-20CC0154796C}"/>
              </a:ext>
            </a:extLst>
          </p:cNvPr>
          <p:cNvPicPr>
            <a:picLocks noChangeAspect="1"/>
          </p:cNvPicPr>
          <p:nvPr/>
        </p:nvPicPr>
        <p:blipFill>
          <a:blip r:embed="rId4"/>
          <a:stretch>
            <a:fillRect/>
          </a:stretch>
        </p:blipFill>
        <p:spPr>
          <a:xfrm>
            <a:off x="283779" y="848802"/>
            <a:ext cx="4211145" cy="4767748"/>
          </a:xfrm>
          <a:prstGeom prst="rect">
            <a:avLst/>
          </a:prstGeom>
        </p:spPr>
      </p:pic>
    </p:spTree>
    <p:extLst>
      <p:ext uri="{BB962C8B-B14F-4D97-AF65-F5344CB8AC3E}">
        <p14:creationId xmlns:p14="http://schemas.microsoft.com/office/powerpoint/2010/main" val="244207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9899904" cy="4598417"/>
          </a:xfrm>
        </p:spPr>
        <p:txBody>
          <a:bodyPr>
            <a:normAutofit/>
          </a:bodyPr>
          <a:lstStyle/>
          <a:p>
            <a:pPr marL="514350" indent="-514350" algn="just">
              <a:lnSpc>
                <a:spcPct val="150000"/>
              </a:lnSpc>
              <a:buClr>
                <a:srgbClr val="002060"/>
              </a:buClr>
              <a:buSzPct val="100000"/>
              <a:buFont typeface="+mj-lt"/>
              <a:buAutoNum type="arabicPeriod"/>
            </a:pPr>
            <a:r>
              <a:rPr lang="en-IN" b="1" dirty="0">
                <a:solidFill>
                  <a:schemeClr val="bg2">
                    <a:lumMod val="75000"/>
                  </a:schemeClr>
                </a:solidFill>
                <a:latin typeface="Arial" panose="020B0604020202020204" pitchFamily="34" charset="0"/>
                <a:cs typeface="Arial" panose="020B0604020202020204" pitchFamily="34" charset="0"/>
              </a:rPr>
              <a:t>Memory Cell Array</a:t>
            </a:r>
          </a:p>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Peripheral Circuit</a:t>
            </a:r>
          </a:p>
          <a:p>
            <a:pPr marL="514350" indent="-514350" algn="just">
              <a:lnSpc>
                <a:spcPct val="150000"/>
              </a:lnSpc>
              <a:buClr>
                <a:srgbClr val="002060"/>
              </a:buClr>
              <a:buSzPct val="100000"/>
              <a:buFont typeface="+mj-lt"/>
              <a:buAutoNum type="arabicPeriod"/>
            </a:pPr>
            <a:r>
              <a:rPr lang="en-IN" b="1" dirty="0">
                <a:latin typeface="Arial" panose="020B0604020202020204" pitchFamily="34" charset="0"/>
                <a:cs typeface="Arial" panose="020B0604020202020204" pitchFamily="34" charset="0"/>
              </a:rPr>
              <a:t>Input/Output Interface Circuit</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9</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spTree>
    <p:extLst>
      <p:ext uri="{BB962C8B-B14F-4D97-AF65-F5344CB8AC3E}">
        <p14:creationId xmlns:p14="http://schemas.microsoft.com/office/powerpoint/2010/main" val="1484589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5455920" cy="4598417"/>
          </a:xfrm>
        </p:spPr>
        <p:txBody>
          <a:bodyPr>
            <a:normAutofit/>
          </a:bodyPr>
          <a:lstStyle/>
          <a:p>
            <a:pPr algn="just">
              <a:lnSpc>
                <a:spcPct val="150000"/>
              </a:lnSpc>
              <a:buClr>
                <a:srgbClr val="002060"/>
              </a:buClr>
              <a:buSzPct val="125000"/>
              <a:buFont typeface="Arial" panose="020B0604020202020204" pitchFamily="34" charset="0"/>
              <a:buChar char="•"/>
            </a:pPr>
            <a:r>
              <a:rPr lang="en-US" sz="2400" dirty="0">
                <a:latin typeface="Arial" panose="020B0604020202020204" pitchFamily="34" charset="0"/>
                <a:cs typeface="Arial" panose="020B0604020202020204" pitchFamily="34" charset="0"/>
              </a:rPr>
              <a:t>Peripheral Circuit </a:t>
            </a:r>
          </a:p>
          <a:p>
            <a:pPr marL="0" indent="0" algn="just">
              <a:lnSpc>
                <a:spcPct val="150000"/>
              </a:lnSpc>
              <a:buClr>
                <a:srgbClr val="002060"/>
              </a:buClr>
              <a:buSzPct val="125000"/>
              <a:buNone/>
            </a:pPr>
            <a:r>
              <a:rPr lang="en-US" sz="2000" dirty="0">
                <a:latin typeface="Arial" panose="020B0604020202020204" pitchFamily="34" charset="0"/>
                <a:cs typeface="Arial" panose="020B0604020202020204" pitchFamily="34" charset="0"/>
              </a:rPr>
              <a:t>It write data to a memory cell in the memory array under the control of the interface circuit or read data from the memory cell to the interface circuit.</a:t>
            </a:r>
          </a:p>
          <a:p>
            <a:pPr marL="0" indent="0" algn="just">
              <a:lnSpc>
                <a:spcPct val="150000"/>
              </a:lnSpc>
              <a:buClr>
                <a:srgbClr val="002060"/>
              </a:buClr>
              <a:buSzPct val="125000"/>
              <a:buNone/>
            </a:pPr>
            <a:r>
              <a:rPr lang="en-US" sz="2000" dirty="0">
                <a:latin typeface="Arial" panose="020B0604020202020204" pitchFamily="34" charset="0"/>
                <a:cs typeface="Arial" panose="020B0604020202020204" pitchFamily="34" charset="0"/>
              </a:rPr>
              <a:t>Here Row and Column decoder circuit is a peripheral circuit. It select a corresponding row and column after reading the values N and M from the address buffer or I/O interface.</a:t>
            </a:r>
            <a:endParaRPr lang="en-US" sz="2400" dirty="0">
              <a:latin typeface="Arial" panose="020B0604020202020204" pitchFamily="34" charset="0"/>
              <a:cs typeface="Arial" panose="020B0604020202020204" pitchFamily="34" charset="0"/>
            </a:endParaRPr>
          </a:p>
          <a:p>
            <a:pPr marL="0" indent="0" algn="just">
              <a:lnSpc>
                <a:spcPct val="150000"/>
              </a:lnSpc>
              <a:buNone/>
            </a:pPr>
            <a:endParaRPr lang="en-IN" sz="2400" b="1" dirty="0">
              <a:solidFill>
                <a:schemeClr val="bg2">
                  <a:lumMod val="75000"/>
                </a:schemeClr>
              </a:solidFill>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10</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graphicFrame>
        <p:nvGraphicFramePr>
          <p:cNvPr id="11" name="Object 10">
            <a:extLst>
              <a:ext uri="{FF2B5EF4-FFF2-40B4-BE49-F238E27FC236}">
                <a16:creationId xmlns:a16="http://schemas.microsoft.com/office/drawing/2014/main" id="{779F3AA7-A16B-4A57-84B9-170A7B0F1CAD}"/>
              </a:ext>
            </a:extLst>
          </p:cNvPr>
          <p:cNvGraphicFramePr>
            <a:graphicFrameLocks noChangeAspect="1"/>
          </p:cNvGraphicFramePr>
          <p:nvPr>
            <p:extLst>
              <p:ext uri="{D42A27DB-BD31-4B8C-83A1-F6EECF244321}">
                <p14:modId xmlns:p14="http://schemas.microsoft.com/office/powerpoint/2010/main" val="2180893104"/>
              </p:ext>
            </p:extLst>
          </p:nvPr>
        </p:nvGraphicFramePr>
        <p:xfrm>
          <a:off x="6140450" y="1866674"/>
          <a:ext cx="5289550" cy="3879850"/>
        </p:xfrm>
        <a:graphic>
          <a:graphicData uri="http://schemas.openxmlformats.org/presentationml/2006/ole">
            <mc:AlternateContent xmlns:mc="http://schemas.openxmlformats.org/markup-compatibility/2006">
              <mc:Choice xmlns:v="urn:schemas-microsoft-com:vml" Requires="v">
                <p:oleObj spid="_x0000_s5180" r:id="rId4" imgW="6629400" imgH="5236464" progId="Unknown">
                  <p:embed/>
                </p:oleObj>
              </mc:Choice>
              <mc:Fallback>
                <p:oleObj r:id="rId4" imgW="6629400" imgH="5236464" progId="Unknown">
                  <p:embed/>
                  <p:pic>
                    <p:nvPicPr>
                      <p:cNvPr id="12" name="Object 11">
                        <a:extLst>
                          <a:ext uri="{FF2B5EF4-FFF2-40B4-BE49-F238E27FC236}">
                            <a16:creationId xmlns:a16="http://schemas.microsoft.com/office/drawing/2014/main" id="{6C9114DB-019B-4091-AB5C-C7A2DA0110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990" t="5190" r="2661" b="9117"/>
                      <a:stretch>
                        <a:fillRect/>
                      </a:stretch>
                    </p:blipFill>
                    <p:spPr bwMode="auto">
                      <a:xfrm>
                        <a:off x="6140450" y="1866674"/>
                        <a:ext cx="5289550" cy="3879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1234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3" name="Content Placeholder 2">
            <a:extLst>
              <a:ext uri="{FF2B5EF4-FFF2-40B4-BE49-F238E27FC236}">
                <a16:creationId xmlns:a16="http://schemas.microsoft.com/office/drawing/2014/main" id="{042EC30B-5C82-4894-8C0D-2E669DC2D10C}"/>
              </a:ext>
            </a:extLst>
          </p:cNvPr>
          <p:cNvSpPr>
            <a:spLocks noGrp="1"/>
          </p:cNvSpPr>
          <p:nvPr>
            <p:ph idx="1"/>
          </p:nvPr>
        </p:nvSpPr>
        <p:spPr>
          <a:xfrm>
            <a:off x="640080" y="1595120"/>
            <a:ext cx="5455920" cy="4598417"/>
          </a:xfrm>
        </p:spPr>
        <p:txBody>
          <a:bodyPr>
            <a:normAutofit/>
          </a:bodyPr>
          <a:lstStyle/>
          <a:p>
            <a:pPr algn="just">
              <a:lnSpc>
                <a:spcPct val="150000"/>
              </a:lnSpc>
              <a:buClr>
                <a:srgbClr val="002060"/>
              </a:buClr>
              <a:buSzPct val="125000"/>
              <a:buFont typeface="Arial" panose="020B0604020202020204" pitchFamily="34" charset="0"/>
              <a:buChar char="•"/>
            </a:pPr>
            <a:r>
              <a:rPr lang="en-US" sz="2400" dirty="0">
                <a:latin typeface="Arial" panose="020B0604020202020204" pitchFamily="34" charset="0"/>
                <a:cs typeface="Arial" panose="020B0604020202020204" pitchFamily="34" charset="0"/>
              </a:rPr>
              <a:t>I/O Interface Circuit</a:t>
            </a:r>
          </a:p>
          <a:p>
            <a:pPr marL="0" indent="0" algn="just">
              <a:lnSpc>
                <a:spcPct val="150000"/>
              </a:lnSpc>
              <a:buNone/>
            </a:pPr>
            <a:r>
              <a:rPr lang="en-US" sz="2000" dirty="0">
                <a:latin typeface="Arial" panose="020B0604020202020204" pitchFamily="34" charset="0"/>
                <a:cs typeface="Arial" panose="020B0604020202020204" pitchFamily="34" charset="0"/>
              </a:rPr>
              <a:t>This converts external signals, such as addresses, docks, control signals, and data inputs, to the corresponding internal signals that activate the peripheral </a:t>
            </a:r>
            <a:r>
              <a:rPr lang="en-IN" sz="2000" dirty="0">
                <a:latin typeface="Arial" panose="020B0604020202020204" pitchFamily="34" charset="0"/>
                <a:cs typeface="Arial" panose="020B0604020202020204" pitchFamily="34" charset="0"/>
              </a:rPr>
              <a:t>circuit</a:t>
            </a:r>
            <a:r>
              <a:rPr lang="en-IN" sz="24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0" indent="0" algn="just">
              <a:lnSpc>
                <a:spcPct val="150000"/>
              </a:lnSpc>
              <a:buNone/>
            </a:pPr>
            <a:endParaRPr lang="en-IN" sz="2400" b="1" dirty="0">
              <a:solidFill>
                <a:schemeClr val="bg2">
                  <a:lumMod val="75000"/>
                </a:schemeClr>
              </a:solidFill>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11</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p:graphicFrame>
        <p:nvGraphicFramePr>
          <p:cNvPr id="11" name="Object 10">
            <a:extLst>
              <a:ext uri="{FF2B5EF4-FFF2-40B4-BE49-F238E27FC236}">
                <a16:creationId xmlns:a16="http://schemas.microsoft.com/office/drawing/2014/main" id="{779F3AA7-A16B-4A57-84B9-170A7B0F1CAD}"/>
              </a:ext>
            </a:extLst>
          </p:cNvPr>
          <p:cNvGraphicFramePr>
            <a:graphicFrameLocks noChangeAspect="1"/>
          </p:cNvGraphicFramePr>
          <p:nvPr/>
        </p:nvGraphicFramePr>
        <p:xfrm>
          <a:off x="6140450" y="1866674"/>
          <a:ext cx="5289550" cy="3879850"/>
        </p:xfrm>
        <a:graphic>
          <a:graphicData uri="http://schemas.openxmlformats.org/presentationml/2006/ole">
            <mc:AlternateContent xmlns:mc="http://schemas.openxmlformats.org/markup-compatibility/2006">
              <mc:Choice xmlns:v="urn:schemas-microsoft-com:vml" Requires="v">
                <p:oleObj spid="_x0000_s6205" r:id="rId4" imgW="6629400" imgH="5236464" progId="Unknown">
                  <p:embed/>
                </p:oleObj>
              </mc:Choice>
              <mc:Fallback>
                <p:oleObj r:id="rId4" imgW="6629400" imgH="5236464" progId="Unknown">
                  <p:embed/>
                  <p:pic>
                    <p:nvPicPr>
                      <p:cNvPr id="11" name="Object 10">
                        <a:extLst>
                          <a:ext uri="{FF2B5EF4-FFF2-40B4-BE49-F238E27FC236}">
                            <a16:creationId xmlns:a16="http://schemas.microsoft.com/office/drawing/2014/main" id="{779F3AA7-A16B-4A57-84B9-170A7B0F1C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990" t="5190" r="2661" b="9117"/>
                      <a:stretch>
                        <a:fillRect/>
                      </a:stretch>
                    </p:blipFill>
                    <p:spPr bwMode="auto">
                      <a:xfrm>
                        <a:off x="6140450" y="1866674"/>
                        <a:ext cx="5289550" cy="3879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31DB0735-2691-4C3C-8158-F48854B7B5CD}"/>
                  </a:ext>
                </a:extLst>
              </p14:cNvPr>
              <p14:cNvContentPartPr/>
              <p14:nvPr/>
            </p14:nvContentPartPr>
            <p14:xfrm>
              <a:off x="3461040" y="3159720"/>
              <a:ext cx="18720" cy="18720"/>
            </p14:xfrm>
          </p:contentPart>
        </mc:Choice>
        <mc:Fallback xmlns="">
          <p:pic>
            <p:nvPicPr>
              <p:cNvPr id="4" name="Ink 3">
                <a:extLst>
                  <a:ext uri="{FF2B5EF4-FFF2-40B4-BE49-F238E27FC236}">
                    <a16:creationId xmlns:a16="http://schemas.microsoft.com/office/drawing/2014/main" id="{31DB0735-2691-4C3C-8158-F48854B7B5CD}"/>
                  </a:ext>
                </a:extLst>
              </p:cNvPr>
              <p:cNvPicPr/>
              <p:nvPr/>
            </p:nvPicPr>
            <p:blipFill>
              <a:blip r:embed="rId7"/>
              <a:stretch>
                <a:fillRect/>
              </a:stretch>
            </p:blipFill>
            <p:spPr>
              <a:xfrm>
                <a:off x="3451680" y="3150360"/>
                <a:ext cx="37440" cy="37440"/>
              </a:xfrm>
              <a:prstGeom prst="rect">
                <a:avLst/>
              </a:prstGeom>
            </p:spPr>
          </p:pic>
        </mc:Fallback>
      </mc:AlternateContent>
    </p:spTree>
    <p:extLst>
      <p:ext uri="{BB962C8B-B14F-4D97-AF65-F5344CB8AC3E}">
        <p14:creationId xmlns:p14="http://schemas.microsoft.com/office/powerpoint/2010/main" val="2831226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84136905-015B-4510-B514-027CBA846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36CD0F97-2E5B-4E84-8544-EB24DED1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99048"/>
          </a:xfrm>
          <a:prstGeom prst="rect">
            <a:avLst/>
          </a:prstGeom>
          <a:gradFill flip="none" rotWithShape="1">
            <a:gsLst>
              <a:gs pos="10000">
                <a:schemeClr val="accent5"/>
              </a:gs>
              <a:gs pos="90000">
                <a:schemeClr val="accent1"/>
              </a:gs>
              <a:gs pos="70000">
                <a:schemeClr val="accent2"/>
              </a:gs>
              <a:gs pos="30000">
                <a:schemeClr val="accent4"/>
              </a:gs>
              <a:gs pos="50000">
                <a:schemeClr val="accent3">
                  <a:lumMod val="60000"/>
                  <a:lumOff val="40000"/>
                </a:scheme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1">
            <a:extLst>
              <a:ext uri="{FF2B5EF4-FFF2-40B4-BE49-F238E27FC236}">
                <a16:creationId xmlns:a16="http://schemas.microsoft.com/office/drawing/2014/main" id="{65CDAFE1-059B-49EF-8E73-47DED29BD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30000" cy="6105523"/>
          </a:xfrm>
          <a:custGeom>
            <a:avLst/>
            <a:gdLst>
              <a:gd name="connsiteX0" fmla="*/ 0 w 11430000"/>
              <a:gd name="connsiteY0" fmla="*/ 0 h 6105523"/>
              <a:gd name="connsiteX1" fmla="*/ 7267575 w 11430000"/>
              <a:gd name="connsiteY1" fmla="*/ 0 h 6105523"/>
              <a:gd name="connsiteX2" fmla="*/ 7267575 w 11430000"/>
              <a:gd name="connsiteY2" fmla="*/ 762000 h 6105523"/>
              <a:gd name="connsiteX3" fmla="*/ 11430000 w 11430000"/>
              <a:gd name="connsiteY3" fmla="*/ 762000 h 6105523"/>
              <a:gd name="connsiteX4" fmla="*/ 11430000 w 11430000"/>
              <a:gd name="connsiteY4" fmla="*/ 6105523 h 6105523"/>
              <a:gd name="connsiteX5" fmla="*/ 7267575 w 11430000"/>
              <a:gd name="connsiteY5" fmla="*/ 6105523 h 6105523"/>
              <a:gd name="connsiteX6" fmla="*/ 5334000 w 11430000"/>
              <a:gd name="connsiteY6" fmla="*/ 6105523 h 6105523"/>
              <a:gd name="connsiteX7" fmla="*/ 0 w 11430000"/>
              <a:gd name="connsiteY7" fmla="*/ 6105523 h 610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0" h="6105523">
                <a:moveTo>
                  <a:pt x="0" y="0"/>
                </a:moveTo>
                <a:lnTo>
                  <a:pt x="7267575" y="0"/>
                </a:lnTo>
                <a:lnTo>
                  <a:pt x="7267575" y="762000"/>
                </a:lnTo>
                <a:lnTo>
                  <a:pt x="11430000" y="762000"/>
                </a:lnTo>
                <a:lnTo>
                  <a:pt x="11430000" y="6105523"/>
                </a:lnTo>
                <a:lnTo>
                  <a:pt x="7267575" y="6105523"/>
                </a:lnTo>
                <a:lnTo>
                  <a:pt x="5334000" y="6105523"/>
                </a:lnTo>
                <a:lnTo>
                  <a:pt x="0" y="6105523"/>
                </a:lnTo>
                <a:close/>
              </a:path>
            </a:pathLst>
          </a:custGeom>
          <a:ln w="762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E8975AA-B382-4395-ABBB-80C89750D4EA}"/>
              </a:ext>
            </a:extLst>
          </p:cNvPr>
          <p:cNvSpPr>
            <a:spLocks noGrp="1"/>
          </p:cNvSpPr>
          <p:nvPr>
            <p:ph type="title"/>
          </p:nvPr>
        </p:nvSpPr>
        <p:spPr>
          <a:xfrm>
            <a:off x="111760" y="72454"/>
            <a:ext cx="7101840" cy="686500"/>
          </a:xfrm>
        </p:spPr>
        <p:txBody>
          <a:bodyPr>
            <a:noAutofit/>
          </a:bodyPr>
          <a:lstStyle/>
          <a:p>
            <a:pPr algn="just"/>
            <a:r>
              <a:rPr lang="en-IN" sz="3400" dirty="0">
                <a:cs typeface="Aharoni" panose="02010803020104030203" pitchFamily="2" charset="-79"/>
              </a:rPr>
              <a:t>Internal Organization of Memory</a:t>
            </a:r>
          </a:p>
        </p:txBody>
      </p:sp>
      <p:sp>
        <p:nvSpPr>
          <p:cNvPr id="7" name="Slide Number Placeholder 6">
            <a:extLst>
              <a:ext uri="{FF2B5EF4-FFF2-40B4-BE49-F238E27FC236}">
                <a16:creationId xmlns:a16="http://schemas.microsoft.com/office/drawing/2014/main" id="{48962052-E43B-4EC6-BB6E-64F8D5AC2ACB}"/>
              </a:ext>
            </a:extLst>
          </p:cNvPr>
          <p:cNvSpPr>
            <a:spLocks noGrp="1"/>
          </p:cNvSpPr>
          <p:nvPr>
            <p:ph type="sldNum" sz="quarter" idx="12"/>
          </p:nvPr>
        </p:nvSpPr>
        <p:spPr/>
        <p:txBody>
          <a:bodyPr/>
          <a:lstStyle/>
          <a:p>
            <a:fld id="{CB1E4CB7-CB13-4810-BF18-BE31AFC64F93}" type="slidenum">
              <a:rPr lang="en-US" smtClean="0"/>
              <a:t>12</a:t>
            </a:fld>
            <a:endParaRPr lang="en-US"/>
          </a:p>
        </p:txBody>
      </p:sp>
      <p:sp>
        <p:nvSpPr>
          <p:cNvPr id="8" name="Footer Placeholder 4">
            <a:extLst>
              <a:ext uri="{FF2B5EF4-FFF2-40B4-BE49-F238E27FC236}">
                <a16:creationId xmlns:a16="http://schemas.microsoft.com/office/drawing/2014/main" id="{FFA450A4-30E5-4C66-B7FB-878A71D8E314}"/>
              </a:ext>
            </a:extLst>
          </p:cNvPr>
          <p:cNvSpPr>
            <a:spLocks noGrp="1"/>
          </p:cNvSpPr>
          <p:nvPr>
            <p:ph type="ftr" sz="quarter" idx="11"/>
          </p:nvPr>
        </p:nvSpPr>
        <p:spPr>
          <a:xfrm>
            <a:off x="758952" y="6400800"/>
            <a:ext cx="6703394" cy="457200"/>
          </a:xfrm>
        </p:spPr>
        <p:txBody>
          <a:bodyPr/>
          <a:lstStyle/>
          <a:p>
            <a:r>
              <a:rPr lang="en-US" sz="1200" b="1" dirty="0">
                <a:latin typeface="Arial" panose="020B0604020202020204" pitchFamily="34" charset="0"/>
                <a:cs typeface="Arial" panose="020B0604020202020204" pitchFamily="34" charset="0"/>
              </a:rPr>
              <a:t>Rajneesh Sharma                                                         Memory Design and Testing (PVL331)</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1DB0735-2691-4C3C-8158-F48854B7B5CD}"/>
                  </a:ext>
                </a:extLst>
              </p14:cNvPr>
              <p14:cNvContentPartPr/>
              <p14:nvPr/>
            </p14:nvContentPartPr>
            <p14:xfrm>
              <a:off x="3461040" y="3159720"/>
              <a:ext cx="18720" cy="18720"/>
            </p14:xfrm>
          </p:contentPart>
        </mc:Choice>
        <mc:Fallback xmlns="">
          <p:pic>
            <p:nvPicPr>
              <p:cNvPr id="4" name="Ink 3">
                <a:extLst>
                  <a:ext uri="{FF2B5EF4-FFF2-40B4-BE49-F238E27FC236}">
                    <a16:creationId xmlns:a16="http://schemas.microsoft.com/office/drawing/2014/main" id="{31DB0735-2691-4C3C-8158-F48854B7B5CD}"/>
                  </a:ext>
                </a:extLst>
              </p:cNvPr>
              <p:cNvPicPr/>
              <p:nvPr/>
            </p:nvPicPr>
            <p:blipFill>
              <a:blip r:embed="rId7"/>
              <a:stretch>
                <a:fillRect/>
              </a:stretch>
            </p:blipFill>
            <p:spPr>
              <a:xfrm>
                <a:off x="3451680" y="3150360"/>
                <a:ext cx="37440" cy="37440"/>
              </a:xfrm>
              <a:prstGeom prst="rect">
                <a:avLst/>
              </a:prstGeom>
            </p:spPr>
          </p:pic>
        </mc:Fallback>
      </mc:AlternateContent>
      <p:pic>
        <p:nvPicPr>
          <p:cNvPr id="9" name="Picture 8">
            <a:extLst>
              <a:ext uri="{FF2B5EF4-FFF2-40B4-BE49-F238E27FC236}">
                <a16:creationId xmlns:a16="http://schemas.microsoft.com/office/drawing/2014/main" id="{819F0280-046C-4309-83A2-DC3E309FF433}"/>
              </a:ext>
            </a:extLst>
          </p:cNvPr>
          <p:cNvPicPr>
            <a:picLocks noChangeAspect="1"/>
          </p:cNvPicPr>
          <p:nvPr/>
        </p:nvPicPr>
        <p:blipFill>
          <a:blip r:embed="rId8"/>
          <a:stretch>
            <a:fillRect/>
          </a:stretch>
        </p:blipFill>
        <p:spPr>
          <a:xfrm>
            <a:off x="2744303" y="831408"/>
            <a:ext cx="6703394" cy="5384645"/>
          </a:xfrm>
          <a:prstGeom prst="rect">
            <a:avLst/>
          </a:prstGeom>
        </p:spPr>
      </p:pic>
      <mc:AlternateContent xmlns:mc="http://schemas.openxmlformats.org/markup-compatibility/2006">
        <mc:Choice xmlns:p14="http://schemas.microsoft.com/office/powerpoint/2010/main" Requires="p14">
          <p:contentPart p14:bwMode="auto" r:id="rId9">
            <p14:nvContentPartPr>
              <p14:cNvPr id="51" name="Ink 50">
                <a:extLst>
                  <a:ext uri="{FF2B5EF4-FFF2-40B4-BE49-F238E27FC236}">
                    <a16:creationId xmlns:a16="http://schemas.microsoft.com/office/drawing/2014/main" id="{51610188-B942-4225-AC29-72D23119A0C5}"/>
                  </a:ext>
                </a:extLst>
              </p14:cNvPr>
              <p14:cNvContentPartPr/>
              <p14:nvPr/>
            </p14:nvContentPartPr>
            <p14:xfrm>
              <a:off x="5579295" y="5681973"/>
              <a:ext cx="563400" cy="38160"/>
            </p14:xfrm>
          </p:contentPart>
        </mc:Choice>
        <mc:Fallback>
          <p:pic>
            <p:nvPicPr>
              <p:cNvPr id="51" name="Ink 50">
                <a:extLst>
                  <a:ext uri="{FF2B5EF4-FFF2-40B4-BE49-F238E27FC236}">
                    <a16:creationId xmlns:a16="http://schemas.microsoft.com/office/drawing/2014/main" id="{51610188-B942-4225-AC29-72D23119A0C5}"/>
                  </a:ext>
                </a:extLst>
              </p:cNvPr>
              <p:cNvPicPr/>
              <p:nvPr/>
            </p:nvPicPr>
            <p:blipFill>
              <a:blip r:embed="rId10"/>
              <a:stretch>
                <a:fillRect/>
              </a:stretch>
            </p:blipFill>
            <p:spPr>
              <a:xfrm>
                <a:off x="5570655" y="5672973"/>
                <a:ext cx="58104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2" name="Ink 51">
                <a:extLst>
                  <a:ext uri="{FF2B5EF4-FFF2-40B4-BE49-F238E27FC236}">
                    <a16:creationId xmlns:a16="http://schemas.microsoft.com/office/drawing/2014/main" id="{09C2EBF4-6233-4BBB-B681-9CA1D4A575EF}"/>
                  </a:ext>
                </a:extLst>
              </p14:cNvPr>
              <p14:cNvContentPartPr/>
              <p14:nvPr/>
            </p14:nvContentPartPr>
            <p14:xfrm>
              <a:off x="7573335" y="5739573"/>
              <a:ext cx="388080" cy="13680"/>
            </p14:xfrm>
          </p:contentPart>
        </mc:Choice>
        <mc:Fallback>
          <p:pic>
            <p:nvPicPr>
              <p:cNvPr id="52" name="Ink 51">
                <a:extLst>
                  <a:ext uri="{FF2B5EF4-FFF2-40B4-BE49-F238E27FC236}">
                    <a16:creationId xmlns:a16="http://schemas.microsoft.com/office/drawing/2014/main" id="{09C2EBF4-6233-4BBB-B681-9CA1D4A575EF}"/>
                  </a:ext>
                </a:extLst>
              </p:cNvPr>
              <p:cNvPicPr/>
              <p:nvPr/>
            </p:nvPicPr>
            <p:blipFill>
              <a:blip r:embed="rId12"/>
              <a:stretch>
                <a:fillRect/>
              </a:stretch>
            </p:blipFill>
            <p:spPr>
              <a:xfrm>
                <a:off x="7564335" y="5730933"/>
                <a:ext cx="4057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3" name="Ink 52">
                <a:extLst>
                  <a:ext uri="{FF2B5EF4-FFF2-40B4-BE49-F238E27FC236}">
                    <a16:creationId xmlns:a16="http://schemas.microsoft.com/office/drawing/2014/main" id="{48A7C859-4C21-4C54-BF94-22C588341A20}"/>
                  </a:ext>
                </a:extLst>
              </p14:cNvPr>
              <p14:cNvContentPartPr/>
              <p14:nvPr/>
            </p14:nvContentPartPr>
            <p14:xfrm>
              <a:off x="2904495" y="5911293"/>
              <a:ext cx="249480" cy="40320"/>
            </p14:xfrm>
          </p:contentPart>
        </mc:Choice>
        <mc:Fallback>
          <p:pic>
            <p:nvPicPr>
              <p:cNvPr id="53" name="Ink 52">
                <a:extLst>
                  <a:ext uri="{FF2B5EF4-FFF2-40B4-BE49-F238E27FC236}">
                    <a16:creationId xmlns:a16="http://schemas.microsoft.com/office/drawing/2014/main" id="{48A7C859-4C21-4C54-BF94-22C588341A20}"/>
                  </a:ext>
                </a:extLst>
              </p:cNvPr>
              <p:cNvPicPr/>
              <p:nvPr/>
            </p:nvPicPr>
            <p:blipFill>
              <a:blip r:embed="rId14"/>
              <a:stretch>
                <a:fillRect/>
              </a:stretch>
            </p:blipFill>
            <p:spPr>
              <a:xfrm>
                <a:off x="2895495" y="5902653"/>
                <a:ext cx="26712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5" name="Ink 54">
                <a:extLst>
                  <a:ext uri="{FF2B5EF4-FFF2-40B4-BE49-F238E27FC236}">
                    <a16:creationId xmlns:a16="http://schemas.microsoft.com/office/drawing/2014/main" id="{0FFAEE9E-444B-452C-8B8A-8128E67C8FA7}"/>
                  </a:ext>
                </a:extLst>
              </p14:cNvPr>
              <p14:cNvContentPartPr/>
              <p14:nvPr/>
            </p14:nvContentPartPr>
            <p14:xfrm>
              <a:off x="6039375" y="5323773"/>
              <a:ext cx="145800" cy="31320"/>
            </p14:xfrm>
          </p:contentPart>
        </mc:Choice>
        <mc:Fallback>
          <p:pic>
            <p:nvPicPr>
              <p:cNvPr id="55" name="Ink 54">
                <a:extLst>
                  <a:ext uri="{FF2B5EF4-FFF2-40B4-BE49-F238E27FC236}">
                    <a16:creationId xmlns:a16="http://schemas.microsoft.com/office/drawing/2014/main" id="{0FFAEE9E-444B-452C-8B8A-8128E67C8FA7}"/>
                  </a:ext>
                </a:extLst>
              </p:cNvPr>
              <p:cNvPicPr/>
              <p:nvPr/>
            </p:nvPicPr>
            <p:blipFill>
              <a:blip r:embed="rId16"/>
              <a:stretch>
                <a:fillRect/>
              </a:stretch>
            </p:blipFill>
            <p:spPr>
              <a:xfrm>
                <a:off x="6030375" y="5315133"/>
                <a:ext cx="16344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61" name="Ink 60">
                <a:extLst>
                  <a:ext uri="{FF2B5EF4-FFF2-40B4-BE49-F238E27FC236}">
                    <a16:creationId xmlns:a16="http://schemas.microsoft.com/office/drawing/2014/main" id="{DA30FF11-8842-4CF2-82EA-24E1EF5577D7}"/>
                  </a:ext>
                </a:extLst>
              </p14:cNvPr>
              <p14:cNvContentPartPr/>
              <p14:nvPr/>
            </p14:nvContentPartPr>
            <p14:xfrm>
              <a:off x="10048695" y="5347533"/>
              <a:ext cx="15480" cy="18000"/>
            </p14:xfrm>
          </p:contentPart>
        </mc:Choice>
        <mc:Fallback>
          <p:pic>
            <p:nvPicPr>
              <p:cNvPr id="61" name="Ink 60">
                <a:extLst>
                  <a:ext uri="{FF2B5EF4-FFF2-40B4-BE49-F238E27FC236}">
                    <a16:creationId xmlns:a16="http://schemas.microsoft.com/office/drawing/2014/main" id="{DA30FF11-8842-4CF2-82EA-24E1EF5577D7}"/>
                  </a:ext>
                </a:extLst>
              </p:cNvPr>
              <p:cNvPicPr/>
              <p:nvPr/>
            </p:nvPicPr>
            <p:blipFill>
              <a:blip r:embed="rId18"/>
              <a:stretch>
                <a:fillRect/>
              </a:stretch>
            </p:blipFill>
            <p:spPr>
              <a:xfrm>
                <a:off x="10040055" y="5338893"/>
                <a:ext cx="33120" cy="35640"/>
              </a:xfrm>
              <a:prstGeom prst="rect">
                <a:avLst/>
              </a:prstGeom>
            </p:spPr>
          </p:pic>
        </mc:Fallback>
      </mc:AlternateContent>
    </p:spTree>
    <p:extLst>
      <p:ext uri="{BB962C8B-B14F-4D97-AF65-F5344CB8AC3E}">
        <p14:creationId xmlns:p14="http://schemas.microsoft.com/office/powerpoint/2010/main" val="2464917684"/>
      </p:ext>
    </p:extLst>
  </p:cSld>
  <p:clrMapOvr>
    <a:masterClrMapping/>
  </p:clrMapOvr>
</p:sld>
</file>

<file path=ppt/theme/theme1.xml><?xml version="1.0" encoding="utf-8"?>
<a:theme xmlns:a="http://schemas.openxmlformats.org/drawingml/2006/main" name="PrismaticVTI">
  <a:themeElements>
    <a:clrScheme name="AnalogousFromDarkSeedLeftStep">
      <a:dk1>
        <a:srgbClr val="000000"/>
      </a:dk1>
      <a:lt1>
        <a:srgbClr val="FFFFFF"/>
      </a:lt1>
      <a:dk2>
        <a:srgbClr val="1C2031"/>
      </a:dk2>
      <a:lt2>
        <a:srgbClr val="F0F3F1"/>
      </a:lt2>
      <a:accent1>
        <a:srgbClr val="DD3397"/>
      </a:accent1>
      <a:accent2>
        <a:srgbClr val="CA21CB"/>
      </a:accent2>
      <a:accent3>
        <a:srgbClr val="9533DD"/>
      </a:accent3>
      <a:accent4>
        <a:srgbClr val="4A31CF"/>
      </a:accent4>
      <a:accent5>
        <a:srgbClr val="335FDD"/>
      </a:accent5>
      <a:accent6>
        <a:srgbClr val="2194CB"/>
      </a:accent6>
      <a:hlink>
        <a:srgbClr val="3F4BBF"/>
      </a:hlink>
      <a:folHlink>
        <a:srgbClr val="7F7F7F"/>
      </a:folHlink>
    </a:clrScheme>
    <a:fontScheme name="Custom 166">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ismaticVTI" id="{DA44D624-A564-4DE8-8446-0CD5C485C979}" vid="{8B2B1550-B69C-4156-BAEC-B2E559F94B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32822</TotalTime>
  <Words>1627</Words>
  <Application>Microsoft Office PowerPoint</Application>
  <PresentationFormat>Widescreen</PresentationFormat>
  <Paragraphs>99</Paragraphs>
  <Slides>12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Aharoni</vt:lpstr>
      <vt:lpstr>Arial</vt:lpstr>
      <vt:lpstr>Avenir Next LT Pro</vt:lpstr>
      <vt:lpstr>Calibri</vt:lpstr>
      <vt:lpstr>PrismaticVTI</vt:lpstr>
      <vt:lpstr>Unknown</vt:lpstr>
      <vt:lpstr>Memory Design and Testing  (PVL 331)</vt:lpstr>
      <vt:lpstr>PowerPoint Presentation</vt:lpstr>
      <vt:lpstr>Internal Organization of Memory</vt:lpstr>
      <vt:lpstr>Internal Organization of Memory</vt:lpstr>
      <vt:lpstr>Internal Organization of Memory</vt:lpstr>
      <vt:lpstr>Internal Organization of Memory</vt:lpstr>
      <vt:lpstr>Internal Organization of Memory</vt:lpstr>
      <vt:lpstr>Internal Organization of Memory</vt:lpstr>
      <vt:lpstr>Internal Organization of Memory</vt:lpstr>
      <vt:lpstr>Internal Organization of Memory</vt:lpstr>
      <vt:lpstr>Internal Organization of Memory</vt:lpstr>
      <vt:lpstr>Internal Organization of 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Design and Testing  (PVL 331)</dc:title>
  <dc:creator>rajneesh rajneesh</dc:creator>
  <cp:lastModifiedBy>Rajneesh Sharma</cp:lastModifiedBy>
  <cp:revision>124</cp:revision>
  <dcterms:created xsi:type="dcterms:W3CDTF">2021-02-04T08:02:34Z</dcterms:created>
  <dcterms:modified xsi:type="dcterms:W3CDTF">2021-03-05T06:39:47Z</dcterms:modified>
</cp:coreProperties>
</file>