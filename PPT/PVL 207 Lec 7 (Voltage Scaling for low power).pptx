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86" r:id="rId3"/>
    <p:sldId id="287" r:id="rId4"/>
    <p:sldId id="289" r:id="rId5"/>
    <p:sldId id="264" r:id="rId6"/>
    <p:sldId id="288" r:id="rId7"/>
    <p:sldId id="290" r:id="rId8"/>
    <p:sldId id="266" r:id="rId9"/>
    <p:sldId id="291" r:id="rId10"/>
    <p:sldId id="292" r:id="rId11"/>
    <p:sldId id="265" r:id="rId12"/>
    <p:sldId id="267" r:id="rId13"/>
    <p:sldId id="268" r:id="rId14"/>
    <p:sldId id="293" r:id="rId15"/>
    <p:sldId id="269" r:id="rId16"/>
    <p:sldId id="270" r:id="rId17"/>
    <p:sldId id="294" r:id="rId18"/>
    <p:sldId id="295" r:id="rId19"/>
    <p:sldId id="296" r:id="rId20"/>
    <p:sldId id="297" r:id="rId21"/>
    <p:sldId id="299" r:id="rId22"/>
    <p:sldId id="273" r:id="rId23"/>
    <p:sldId id="274" r:id="rId24"/>
    <p:sldId id="271" r:id="rId25"/>
    <p:sldId id="275" r:id="rId26"/>
    <p:sldId id="300" r:id="rId27"/>
    <p:sldId id="301" r:id="rId28"/>
    <p:sldId id="302" r:id="rId29"/>
    <p:sldId id="303" r:id="rId30"/>
    <p:sldId id="276" r:id="rId31"/>
    <p:sldId id="277" r:id="rId32"/>
    <p:sldId id="278" r:id="rId33"/>
    <p:sldId id="280" r:id="rId34"/>
    <p:sldId id="279" r:id="rId35"/>
    <p:sldId id="281" r:id="rId36"/>
    <p:sldId id="282" r:id="rId37"/>
    <p:sldId id="283" r:id="rId38"/>
    <p:sldId id="284" r:id="rId39"/>
    <p:sldId id="285" r:id="rId40"/>
    <p:sldId id="305" r:id="rId41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39" autoAdjust="0"/>
    <p:restoredTop sz="94660"/>
  </p:normalViewPr>
  <p:slideViewPr>
    <p:cSldViewPr>
      <p:cViewPr varScale="1">
        <p:scale>
          <a:sx n="62" d="100"/>
          <a:sy n="62" d="100"/>
        </p:scale>
        <p:origin x="-1408" y="-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607-Lect1-2013.pdf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Low Power System Design</a:t>
            </a:r>
            <a:br>
              <a:rPr lang="en-US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(PVL 207)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447800"/>
            <a:ext cx="8229600" cy="4572000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Device feature size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Voltage scaling Approaches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Challenges in Voltage Scaling Approaches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Architectural Level Approaches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Parallelism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Pipelining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Architectural level transformation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533400"/>
            <a:ext cx="7924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Supply Voltage Scaling for Low Power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8077200" cy="7159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1447800"/>
            <a:ext cx="5448300" cy="94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95600" y="838200"/>
            <a:ext cx="3228975" cy="70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95400" y="3048000"/>
            <a:ext cx="6800850" cy="302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1524000" y="6248400"/>
            <a:ext cx="6019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Contribution of Various Sources of Power Dissipation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895600" y="2590800"/>
            <a:ext cx="2819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leakage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dd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leakage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4638"/>
            <a:ext cx="81534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History of device size scaling for CMOS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2362200"/>
            <a:ext cx="79248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839200" cy="563562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Different Approaches for Supply Voltage Scaling</a:t>
            </a:r>
            <a:endParaRPr lang="en-US" sz="3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8229600" cy="5943600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Static Voltage Scaling: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Different blocks or subsystems are  given different fixed voltages.</a:t>
            </a:r>
          </a:p>
          <a:p>
            <a:pPr algn="just">
              <a:lnSpc>
                <a:spcPct val="120000"/>
              </a:lnSpc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Multilevel Voltage scaling (MVS):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This is an extension of SVS where the supply voltage is switched between two or few fixed voltages.</a:t>
            </a:r>
          </a:p>
          <a:p>
            <a:pPr algn="just">
              <a:lnSpc>
                <a:spcPct val="120000"/>
              </a:lnSpc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Dynamic Voltage and Frequency Scaling (DVFS):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This is an extension of MVS where a large number of voltage levels are dynamically applied for different workloads.</a:t>
            </a:r>
          </a:p>
          <a:p>
            <a:pPr algn="just">
              <a:lnSpc>
                <a:spcPct val="120000"/>
              </a:lnSpc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Adaptive Voltage Scaling (AVS):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This is an extension of the DVFS where a control loop is used to adjust voltage and frequency for changing workload.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5635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Challenges of Supply Voltage Reduction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143000"/>
            <a:ext cx="8458200" cy="4876800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factor of two reduction in supply voltage yields a factor of four decrease in energy.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Theoretical lower limit of supply voltage for CMOS circuit is 0.2V.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As supply voltage is lowered delay increases leading to dramatic reduction in performance.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Objective of voltage scaling is to scale Supply Voltage without compromise in performance.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Challenges….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447800"/>
            <a:ext cx="8229600" cy="45720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Power supply reduction helps digital circuits for power consumption but hurts analog voltage swing which should not be reduced. </a:t>
            </a:r>
          </a:p>
          <a:p>
            <a:pPr algn="just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Inherent transistor voltage gain decreases with reduced size technology, this implies larger number of stages to compensate the overall voltage gain. 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Threshold voltages do not reduce linearly with size of technology, making the design with low VDD harder for analog circuits 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  <a:hlinkClick r:id="rId2" action="ppaction://hlinkfile"/>
              </a:rPr>
              <a:t>Technology forecast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2438400"/>
            <a:ext cx="680085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838200" y="5638800"/>
            <a:ext cx="7696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a)</a:t>
            </a:r>
            <a:r>
              <a:rPr lang="en-US" b="1" dirty="0" smtClean="0"/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Variation of normalized energy with respect to supply voltage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b) variation of delay with respect to supply voltage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09800" y="1143000"/>
            <a:ext cx="4133850" cy="139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504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Challenges in Supply Voltage Scaling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2286000"/>
            <a:ext cx="8763000" cy="373380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Architectural Level Approaches for Voltage Scaling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868362"/>
          </a:xfrm>
        </p:spPr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Parallelism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447800"/>
            <a:ext cx="8305800" cy="4572000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Parallel processing can be important technique for reducing power consumption in CMOS circuits.</a:t>
            </a:r>
          </a:p>
          <a:p>
            <a:pPr algn="just">
              <a:buFont typeface="Wingdings" pitchFamily="2" charset="2"/>
              <a:buChar char="Ø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Key approach is to trade area for power while maintaining the same throughput.</a:t>
            </a:r>
          </a:p>
          <a:p>
            <a:pPr algn="just">
              <a:buFont typeface="Wingdings" pitchFamily="2" charset="2"/>
              <a:buChar char="Ø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 simple terms, if the supply voltage is reduced by half, the power is reduced by one-fourth and performance is lowered by half.</a:t>
            </a:r>
          </a:p>
          <a:p>
            <a:pPr algn="just">
              <a:buFont typeface="Wingdings" pitchFamily="2" charset="2"/>
              <a:buChar char="Ø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loss in performance can be compensated by parallel processing.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838200"/>
            <a:ext cx="7772400" cy="792162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Parallelism for Low Power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0" y="1600200"/>
            <a:ext cx="4124325" cy="78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0" y="2362200"/>
            <a:ext cx="5143500" cy="3667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3657600" y="5867400"/>
            <a:ext cx="3429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itchFamily="18" charset="0"/>
                <a:ea typeface="+mj-ea"/>
                <a:cs typeface="Times New Roman" pitchFamily="18" charset="0"/>
              </a:rPr>
              <a:t>A 16 bit Adder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7543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Architectural Level Approaches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457200"/>
            <a:ext cx="5918111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381000" y="5486400"/>
            <a:ext cx="10503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ea typeface="+mj-ea"/>
                <a:cs typeface="Times New Roman" pitchFamily="18" charset="0"/>
              </a:rPr>
              <a:t>Parallel architecture of the 16-bit adder. MUX multiplexer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1.pn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685800" y="609600"/>
            <a:ext cx="8153400" cy="2286000"/>
          </a:xfrm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71800" y="2971800"/>
            <a:ext cx="23812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05200" y="3657600"/>
            <a:ext cx="1495425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14600" y="4191000"/>
            <a:ext cx="3781425" cy="196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2667000"/>
            <a:ext cx="7772400" cy="3352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5400" b="1" dirty="0" smtClean="0">
                <a:latin typeface="Times New Roman" pitchFamily="18" charset="0"/>
                <a:cs typeface="Times New Roman" pitchFamily="18" charset="0"/>
              </a:rPr>
              <a:t>Multi core for low power</a:t>
            </a:r>
            <a:endParaRPr lang="en-US" sz="5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914400"/>
            <a:ext cx="76962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1905000" y="6248400"/>
            <a:ext cx="655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ea typeface="+mj-ea"/>
                <a:cs typeface="Times New Roman" pitchFamily="18" charset="0"/>
              </a:rPr>
              <a:t>A four-core multiplier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4800"/>
            <a:ext cx="48778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>
                <a:latin typeface="Times New Roman" pitchFamily="18" charset="0"/>
                <a:ea typeface="+mj-ea"/>
                <a:cs typeface="Times New Roman" pitchFamily="18" charset="0"/>
              </a:rPr>
              <a:t>Multi-Core for Low Power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2.pn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609600" y="1905000"/>
            <a:ext cx="8305800" cy="2140917"/>
          </a:xfrm>
        </p:spPr>
      </p:pic>
      <p:sp>
        <p:nvSpPr>
          <p:cNvPr id="3" name="TextBox 2"/>
          <p:cNvSpPr txBox="1"/>
          <p:nvPr/>
        </p:nvSpPr>
        <p:spPr>
          <a:xfrm>
            <a:off x="457200" y="304800"/>
            <a:ext cx="41872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Multi-core for Low Power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1000" y="914400"/>
            <a:ext cx="811953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Important Issue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Increase in overhead, Limit on the supply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voltage, Increase in leakage current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8600" y="4495800"/>
            <a:ext cx="891794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This is the basis of the present day multi-core commercial processors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introduced by Intel, AMD and other Processor manufacturers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Thread level parallelism is explained in multi-core architectures to increase throughput of the processors.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828800"/>
            <a:ext cx="8305800" cy="419100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Pipelining for Low Power</a:t>
            </a:r>
          </a:p>
          <a:p>
            <a:pPr algn="ctr"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Voltage scaling through optimal transistor sizing</a:t>
            </a:r>
          </a:p>
          <a:p>
            <a:pPr algn="ctr"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Voltage scaling using high level transformation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533400"/>
            <a:ext cx="24080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Pipelining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8077200" cy="792162"/>
          </a:xfrm>
        </p:spPr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Basic Concept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447800"/>
            <a:ext cx="8305800" cy="45720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 smtClean="0"/>
              <a:t>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What is pipelining?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is an implementation technique where multiple tasks are performed in an overlapped manner.</a:t>
            </a:r>
          </a:p>
          <a:p>
            <a:pPr>
              <a:buNone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Where can it be implemented?</a:t>
            </a:r>
          </a:p>
          <a:p>
            <a:pPr algn="just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It can be implemented where a task can be divided into two or more subtasks which can be performed independently.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Pipeline Implementation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3200400"/>
          </a:xfrm>
        </p:spPr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How it is implemented?</a:t>
            </a: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Different subtasks are performed by different hardware blocks known as stages.</a:t>
            </a:r>
          </a:p>
          <a:p>
            <a:pPr>
              <a:buFont typeface="Wingdings" pitchFamily="2" charset="2"/>
              <a:buChar char="Ø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result produced by each stage is temporarily buffered in latches and then passed on to the next stage.</a:t>
            </a: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 descr="Screenshot_20180202-075607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90600" y="4800600"/>
            <a:ext cx="7342858" cy="165714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shot_20180202-075632.pn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685800" y="838200"/>
            <a:ext cx="7772400" cy="5410200"/>
          </a:xfr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Pipeline Performance parameters 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Clock period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Frequency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Speedup: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nk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/k+(n-1)</a:t>
            </a:r>
          </a:p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Throughput: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Number of tasks that can be completed per unit time.  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533400"/>
          </a:xfrm>
        </p:spPr>
        <p:txBody>
          <a:bodyPr>
            <a:normAutofit fontScale="90000"/>
          </a:bodyPr>
          <a:lstStyle/>
          <a:p>
            <a:r>
              <a:rPr lang="en-US" sz="3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Pipelining for Low Power</a:t>
            </a:r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838200"/>
            <a:ext cx="75438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1524000" y="4876800"/>
            <a:ext cx="5491888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900" b="1" dirty="0" smtClean="0">
                <a:latin typeface="Times New Roman" pitchFamily="18" charset="0"/>
                <a:ea typeface="+mj-ea"/>
                <a:cs typeface="Times New Roman" pitchFamily="18" charset="0"/>
              </a:rPr>
              <a:t>Pipelined realization 16-bit adder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28800" y="5562600"/>
            <a:ext cx="5657850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752600"/>
            <a:ext cx="8305800" cy="27218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4638"/>
            <a:ext cx="8153400" cy="563562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Combining Parallelism with Pipelining</a:t>
            </a:r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1447800"/>
            <a:ext cx="80772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685800" y="6172200"/>
            <a:ext cx="8478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ea typeface="+mj-ea"/>
                <a:cs typeface="Times New Roman" pitchFamily="18" charset="0"/>
              </a:rPr>
              <a:t>Parallel-pipelined realization of 16-bit adder. MUX multiplexer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9" name="Picture 3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43200" y="381000"/>
            <a:ext cx="33623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0" y="1143000"/>
            <a:ext cx="3924300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9600" y="3048000"/>
            <a:ext cx="8258175" cy="176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2590800"/>
            <a:ext cx="7772400" cy="342900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 Optimal Transistor Sizing for Low Power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838200"/>
            <a:ext cx="72390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381000" y="228600"/>
            <a:ext cx="47900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Inversion Coefficient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05000" y="5105400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IC  </a:t>
            </a:r>
            <a:endParaRPr lang="en-US" dirty="0"/>
          </a:p>
        </p:txBody>
      </p:sp>
      <p:pic>
        <p:nvPicPr>
          <p:cNvPr id="7" name="Picture 6" descr="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86000" y="4876800"/>
            <a:ext cx="4495800" cy="1447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3400" y="3733801"/>
            <a:ext cx="83393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= Technology current which is fixed for a particular technology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0.64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uA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for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nMOS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and 0.135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uA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for PMOS (0.18 um Technology)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52400"/>
            <a:ext cx="8305800" cy="640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838200"/>
            <a:ext cx="8686800" cy="556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76200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Multilevel Voltage Scaling</a:t>
            </a:r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990600"/>
            <a:ext cx="5473105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1371600" y="5867400"/>
            <a:ext cx="67583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atin typeface="Times New Roman" pitchFamily="18" charset="0"/>
                <a:ea typeface="+mj-ea"/>
                <a:cs typeface="Times New Roman" pitchFamily="18" charset="0"/>
              </a:rPr>
              <a:t>Clustered voltage scaling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524000"/>
            <a:ext cx="8077200" cy="39286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609600"/>
          </a:xfrm>
        </p:spPr>
        <p:txBody>
          <a:bodyPr>
            <a:normAutofit fontScale="90000"/>
          </a:bodyPr>
          <a:lstStyle/>
          <a:p>
            <a:r>
              <a:rPr lang="en-US" sz="3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Dynamic Voltage and Frequency Scaling</a:t>
            </a:r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990600"/>
            <a:ext cx="77724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5715000"/>
            <a:ext cx="3819525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1828800"/>
            <a:ext cx="6756316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2600" y="228600"/>
            <a:ext cx="4038600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2209800"/>
            <a:ext cx="7772400" cy="2783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563562"/>
          </a:xfrm>
        </p:spPr>
        <p:txBody>
          <a:bodyPr>
            <a:normAutofit fontScale="90000"/>
          </a:bodyPr>
          <a:lstStyle/>
          <a:p>
            <a:r>
              <a:rPr lang="en-US" sz="29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DVFS with Varying Work Load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600200"/>
            <a:ext cx="7772400" cy="4419600"/>
          </a:xfrm>
        </p:spPr>
        <p:txBody>
          <a:bodyPr/>
          <a:lstStyle/>
          <a:p>
            <a:r>
              <a:rPr lang="pt-BR" dirty="0" smtClean="0">
                <a:latin typeface="Times New Roman" pitchFamily="18" charset="0"/>
                <a:cs typeface="Times New Roman" pitchFamily="18" charset="0"/>
              </a:rPr>
              <a:t>Variable voltage processor </a:t>
            </a:r>
            <a:r>
              <a:rPr lang="pt-BR" i="1" dirty="0" smtClean="0">
                <a:latin typeface="Times New Roman" pitchFamily="18" charset="0"/>
                <a:cs typeface="Times New Roman" pitchFamily="18" charset="0"/>
              </a:rPr>
              <a:t>μ( r)</a:t>
            </a:r>
          </a:p>
          <a:p>
            <a:endParaRPr lang="pt-BR" i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Variable voltage generator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V( r)</a:t>
            </a:r>
          </a:p>
          <a:p>
            <a:endParaRPr lang="en-US" i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Variable frequency generator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f( r)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8077200" cy="5635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Variable Voltage Processor </a:t>
            </a:r>
            <a:r>
              <a:rPr lang="el-GR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μ(</a:t>
            </a:r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r)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Frequency change in steps of 33 MHz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Voltage change in steps of 25 mV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Up to 200 frequency/voltage change per second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371600"/>
            <a:ext cx="83820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676400"/>
            <a:ext cx="82296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8077200" cy="639762"/>
          </a:xfrm>
        </p:spPr>
        <p:txBody>
          <a:bodyPr>
            <a:normAutofit fontScale="90000"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Variable Voltage Generator V(r)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  <a:endParaRPr lang="en-IN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err="1">
                <a:latin typeface="Times New Roman" pitchFamily="18" charset="0"/>
                <a:cs typeface="Times New Roman" pitchFamily="18" charset="0"/>
              </a:rPr>
              <a:t>Ajit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Pal, “Low power VLSI Circuits and Systems” Springer, 2015.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64624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14831</TotalTime>
  <Words>700</Words>
  <Application>Microsoft Office PowerPoint</Application>
  <PresentationFormat>On-screen Show (4:3)</PresentationFormat>
  <Paragraphs>124</Paragraphs>
  <Slides>40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1" baseType="lpstr">
      <vt:lpstr>Equity</vt:lpstr>
      <vt:lpstr>Low Power System Design (PVL 207)</vt:lpstr>
      <vt:lpstr>PowerPoint Presentation</vt:lpstr>
      <vt:lpstr>Introduction</vt:lpstr>
      <vt:lpstr>History of device size scaling for CMOS</vt:lpstr>
      <vt:lpstr>Different Approaches for Supply Voltage Scaling</vt:lpstr>
      <vt:lpstr>Challenges of Supply Voltage Reduction</vt:lpstr>
      <vt:lpstr>Challenges….</vt:lpstr>
      <vt:lpstr>PowerPoint Presentation</vt:lpstr>
      <vt:lpstr>PowerPoint Presentation</vt:lpstr>
      <vt:lpstr>Parallelism</vt:lpstr>
      <vt:lpstr>Parallelism for Low Power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Basic Concept</vt:lpstr>
      <vt:lpstr>Pipeline Implementation</vt:lpstr>
      <vt:lpstr>PowerPoint Presentation</vt:lpstr>
      <vt:lpstr>Pipeline Performance parameters </vt:lpstr>
      <vt:lpstr>Pipelining for Low Power</vt:lpstr>
      <vt:lpstr>PowerPoint Presentation</vt:lpstr>
      <vt:lpstr>Combining Parallelism with Pipelining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Multilevel Voltage Scaling</vt:lpstr>
      <vt:lpstr>PowerPoint Presentation</vt:lpstr>
      <vt:lpstr>Dynamic Voltage and Frequency Scaling</vt:lpstr>
      <vt:lpstr>PowerPoint Presentation</vt:lpstr>
      <vt:lpstr>PowerPoint Presentation</vt:lpstr>
      <vt:lpstr>DVFS with Varying Work Load</vt:lpstr>
      <vt:lpstr>Variable Voltage Processor μ(r)</vt:lpstr>
      <vt:lpstr>PowerPoint Presentation</vt:lpstr>
      <vt:lpstr>PowerPoint Presentation</vt:lpstr>
      <vt:lpstr>Variable Voltage Generator V(r)</vt:lpstr>
      <vt:lpstr>References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Shireesh</dc:creator>
  <cp:lastModifiedBy>Lenovo</cp:lastModifiedBy>
  <cp:revision>95</cp:revision>
  <dcterms:created xsi:type="dcterms:W3CDTF">2006-08-16T00:00:00Z</dcterms:created>
  <dcterms:modified xsi:type="dcterms:W3CDTF">2023-01-27T12:15:52Z</dcterms:modified>
</cp:coreProperties>
</file>